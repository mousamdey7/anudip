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5"/>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9" r:id="rId41"/>
    <p:sldId id="297" r:id="rId42"/>
    <p:sldId id="298"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E2AE11-ABD8-4F4B-9055-617DDD6CE9C8}" v="78" dt="2026-07-27T06:45:39.3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a Dey" userId="02a73a2d382345c1" providerId="LiveId" clId="{F3B85651-CD69-4B9D-8E9B-C7D65433B488}"/>
    <pc:docChg chg="undo custSel addSld delSld modSld">
      <pc:chgData name="Sima Dey" userId="02a73a2d382345c1" providerId="LiveId" clId="{F3B85651-CD69-4B9D-8E9B-C7D65433B488}" dt="2026-07-27T06:47:05.337" v="1453" actId="478"/>
      <pc:docMkLst>
        <pc:docMk/>
      </pc:docMkLst>
      <pc:sldChg chg="addSp modSp new mod">
        <pc:chgData name="Sima Dey" userId="02a73a2d382345c1" providerId="LiveId" clId="{F3B85651-CD69-4B9D-8E9B-C7D65433B488}" dt="2026-07-25T14:15:40.082" v="8" actId="1076"/>
        <pc:sldMkLst>
          <pc:docMk/>
          <pc:sldMk cId="1000321440" sldId="281"/>
        </pc:sldMkLst>
        <pc:spChg chg="mod">
          <ac:chgData name="Sima Dey" userId="02a73a2d382345c1" providerId="LiveId" clId="{F3B85651-CD69-4B9D-8E9B-C7D65433B488}" dt="2026-07-25T14:14:06.789" v="3"/>
          <ac:spMkLst>
            <pc:docMk/>
            <pc:sldMk cId="1000321440" sldId="281"/>
            <ac:spMk id="2" creationId="{1B59A46D-09E5-3362-321D-6ABDCA1C98FA}"/>
          </ac:spMkLst>
        </pc:spChg>
        <pc:spChg chg="add mod">
          <ac:chgData name="Sima Dey" userId="02a73a2d382345c1" providerId="LiveId" clId="{F3B85651-CD69-4B9D-8E9B-C7D65433B488}" dt="2026-07-25T14:15:40.082" v="8" actId="1076"/>
          <ac:spMkLst>
            <pc:docMk/>
            <pc:sldMk cId="1000321440" sldId="281"/>
            <ac:spMk id="4" creationId="{50563DC4-F60C-B9A3-E186-B1AEE5C5CE0C}"/>
          </ac:spMkLst>
        </pc:spChg>
      </pc:sldChg>
      <pc:sldChg chg="addSp modSp new mod">
        <pc:chgData name="Sima Dey" userId="02a73a2d382345c1" providerId="LiveId" clId="{F3B85651-CD69-4B9D-8E9B-C7D65433B488}" dt="2026-07-25T14:20:05.093" v="33"/>
        <pc:sldMkLst>
          <pc:docMk/>
          <pc:sldMk cId="1631729472" sldId="282"/>
        </pc:sldMkLst>
        <pc:spChg chg="mod">
          <ac:chgData name="Sima Dey" userId="02a73a2d382345c1" providerId="LiveId" clId="{F3B85651-CD69-4B9D-8E9B-C7D65433B488}" dt="2026-07-25T14:20:05.093" v="33"/>
          <ac:spMkLst>
            <pc:docMk/>
            <pc:sldMk cId="1631729472" sldId="282"/>
            <ac:spMk id="2" creationId="{A6EB53AF-EC97-9F24-47CE-EFB1F935A8A8}"/>
          </ac:spMkLst>
        </pc:spChg>
        <pc:spChg chg="add mod">
          <ac:chgData name="Sima Dey" userId="02a73a2d382345c1" providerId="LiveId" clId="{F3B85651-CD69-4B9D-8E9B-C7D65433B488}" dt="2026-07-25T14:19:42.753" v="32" actId="1076"/>
          <ac:spMkLst>
            <pc:docMk/>
            <pc:sldMk cId="1631729472" sldId="282"/>
            <ac:spMk id="4" creationId="{BD032C26-F712-D712-C5B8-34F7D34BE86F}"/>
          </ac:spMkLst>
        </pc:spChg>
      </pc:sldChg>
      <pc:sldChg chg="addSp delSp modSp new mod">
        <pc:chgData name="Sima Dey" userId="02a73a2d382345c1" providerId="LiveId" clId="{F3B85651-CD69-4B9D-8E9B-C7D65433B488}" dt="2026-07-25T14:35:33.706" v="45" actId="1076"/>
        <pc:sldMkLst>
          <pc:docMk/>
          <pc:sldMk cId="2142488877" sldId="283"/>
        </pc:sldMkLst>
        <pc:spChg chg="add mod">
          <ac:chgData name="Sima Dey" userId="02a73a2d382345c1" providerId="LiveId" clId="{F3B85651-CD69-4B9D-8E9B-C7D65433B488}" dt="2026-07-25T14:34:26.623" v="37" actId="1076"/>
          <ac:spMkLst>
            <pc:docMk/>
            <pc:sldMk cId="2142488877" sldId="283"/>
            <ac:spMk id="4" creationId="{553EFE20-59E7-445D-8949-F6433ED579E7}"/>
          </ac:spMkLst>
        </pc:spChg>
        <pc:spChg chg="add mod">
          <ac:chgData name="Sima Dey" userId="02a73a2d382345c1" providerId="LiveId" clId="{F3B85651-CD69-4B9D-8E9B-C7D65433B488}" dt="2026-07-25T14:35:17.068" v="42"/>
          <ac:spMkLst>
            <pc:docMk/>
            <pc:sldMk cId="2142488877" sldId="283"/>
            <ac:spMk id="6" creationId="{CEFE9BA6-AED3-E2EC-1E4A-EF949B986308}"/>
          </ac:spMkLst>
        </pc:spChg>
        <pc:spChg chg="add mod">
          <ac:chgData name="Sima Dey" userId="02a73a2d382345c1" providerId="LiveId" clId="{F3B85651-CD69-4B9D-8E9B-C7D65433B488}" dt="2026-07-25T14:35:33.706" v="45" actId="1076"/>
          <ac:spMkLst>
            <pc:docMk/>
            <pc:sldMk cId="2142488877" sldId="283"/>
            <ac:spMk id="8" creationId="{317D9F9F-17EF-1FE6-7681-7849ED6417B1}"/>
          </ac:spMkLst>
        </pc:spChg>
      </pc:sldChg>
      <pc:sldChg chg="addSp delSp modSp new mod">
        <pc:chgData name="Sima Dey" userId="02a73a2d382345c1" providerId="LiveId" clId="{F3B85651-CD69-4B9D-8E9B-C7D65433B488}" dt="2026-07-25T14:37:57.892" v="63" actId="1076"/>
        <pc:sldMkLst>
          <pc:docMk/>
          <pc:sldMk cId="170127374" sldId="284"/>
        </pc:sldMkLst>
        <pc:spChg chg="add mod">
          <ac:chgData name="Sima Dey" userId="02a73a2d382345c1" providerId="LiveId" clId="{F3B85651-CD69-4B9D-8E9B-C7D65433B488}" dt="2026-07-25T14:36:16.143" v="52" actId="1076"/>
          <ac:spMkLst>
            <pc:docMk/>
            <pc:sldMk cId="170127374" sldId="284"/>
            <ac:spMk id="4" creationId="{B399DC09-5219-2376-6D81-92B7244FCC3A}"/>
          </ac:spMkLst>
        </pc:spChg>
        <pc:spChg chg="add mod">
          <ac:chgData name="Sima Dey" userId="02a73a2d382345c1" providerId="LiveId" clId="{F3B85651-CD69-4B9D-8E9B-C7D65433B488}" dt="2026-07-25T14:37:37.356" v="60" actId="1076"/>
          <ac:spMkLst>
            <pc:docMk/>
            <pc:sldMk cId="170127374" sldId="284"/>
            <ac:spMk id="6" creationId="{C119E672-17D3-18FF-6D8C-91775174C4A3}"/>
          </ac:spMkLst>
        </pc:spChg>
        <pc:spChg chg="add mod">
          <ac:chgData name="Sima Dey" userId="02a73a2d382345c1" providerId="LiveId" clId="{F3B85651-CD69-4B9D-8E9B-C7D65433B488}" dt="2026-07-25T14:37:57.892" v="63" actId="1076"/>
          <ac:spMkLst>
            <pc:docMk/>
            <pc:sldMk cId="170127374" sldId="284"/>
            <ac:spMk id="8" creationId="{AA48A734-FA39-1F3D-96C5-00461EF1D2EC}"/>
          </ac:spMkLst>
        </pc:spChg>
      </pc:sldChg>
      <pc:sldChg chg="addSp modSp new mod">
        <pc:chgData name="Sima Dey" userId="02a73a2d382345c1" providerId="LiveId" clId="{F3B85651-CD69-4B9D-8E9B-C7D65433B488}" dt="2026-07-25T14:39:51.484" v="78" actId="1076"/>
        <pc:sldMkLst>
          <pc:docMk/>
          <pc:sldMk cId="3736692163" sldId="285"/>
        </pc:sldMkLst>
        <pc:spChg chg="mod">
          <ac:chgData name="Sima Dey" userId="02a73a2d382345c1" providerId="LiveId" clId="{F3B85651-CD69-4B9D-8E9B-C7D65433B488}" dt="2026-07-25T14:38:34.134" v="65"/>
          <ac:spMkLst>
            <pc:docMk/>
            <pc:sldMk cId="3736692163" sldId="285"/>
            <ac:spMk id="2" creationId="{A9BB9ADE-3930-27C1-2DFB-09B314252163}"/>
          </ac:spMkLst>
        </pc:spChg>
        <pc:spChg chg="add mod">
          <ac:chgData name="Sima Dey" userId="02a73a2d382345c1" providerId="LiveId" clId="{F3B85651-CD69-4B9D-8E9B-C7D65433B488}" dt="2026-07-25T14:39:51.484" v="78" actId="1076"/>
          <ac:spMkLst>
            <pc:docMk/>
            <pc:sldMk cId="3736692163" sldId="285"/>
            <ac:spMk id="4" creationId="{44FE343D-6607-4015-D023-18F05377BF41}"/>
          </ac:spMkLst>
        </pc:spChg>
      </pc:sldChg>
      <pc:sldChg chg="addSp modSp new mod">
        <pc:chgData name="Sima Dey" userId="02a73a2d382345c1" providerId="LiveId" clId="{F3B85651-CD69-4B9D-8E9B-C7D65433B488}" dt="2026-07-25T14:40:56.689" v="85" actId="20577"/>
        <pc:sldMkLst>
          <pc:docMk/>
          <pc:sldMk cId="3288709138" sldId="286"/>
        </pc:sldMkLst>
        <pc:spChg chg="mod">
          <ac:chgData name="Sima Dey" userId="02a73a2d382345c1" providerId="LiveId" clId="{F3B85651-CD69-4B9D-8E9B-C7D65433B488}" dt="2026-07-25T14:40:18.799" v="80"/>
          <ac:spMkLst>
            <pc:docMk/>
            <pc:sldMk cId="3288709138" sldId="286"/>
            <ac:spMk id="2" creationId="{8B0A6738-8910-FF74-15A4-EB98AF514AAD}"/>
          </ac:spMkLst>
        </pc:spChg>
        <pc:spChg chg="add mod">
          <ac:chgData name="Sima Dey" userId="02a73a2d382345c1" providerId="LiveId" clId="{F3B85651-CD69-4B9D-8E9B-C7D65433B488}" dt="2026-07-25T14:40:56.689" v="85" actId="20577"/>
          <ac:spMkLst>
            <pc:docMk/>
            <pc:sldMk cId="3288709138" sldId="286"/>
            <ac:spMk id="3" creationId="{605125EC-8333-73D3-1AE2-8B49C22ED94D}"/>
          </ac:spMkLst>
        </pc:spChg>
      </pc:sldChg>
      <pc:sldChg chg="addSp modSp new mod">
        <pc:chgData name="Sima Dey" userId="02a73a2d382345c1" providerId="LiveId" clId="{F3B85651-CD69-4B9D-8E9B-C7D65433B488}" dt="2026-07-25T14:42:46.044" v="96" actId="113"/>
        <pc:sldMkLst>
          <pc:docMk/>
          <pc:sldMk cId="2151833259" sldId="287"/>
        </pc:sldMkLst>
        <pc:spChg chg="mod">
          <ac:chgData name="Sima Dey" userId="02a73a2d382345c1" providerId="LiveId" clId="{F3B85651-CD69-4B9D-8E9B-C7D65433B488}" dt="2026-07-25T14:41:28.061" v="87"/>
          <ac:spMkLst>
            <pc:docMk/>
            <pc:sldMk cId="2151833259" sldId="287"/>
            <ac:spMk id="2" creationId="{5557D0AF-A885-EE2F-9574-3B5ED9F05BEA}"/>
          </ac:spMkLst>
        </pc:spChg>
        <pc:spChg chg="add mod">
          <ac:chgData name="Sima Dey" userId="02a73a2d382345c1" providerId="LiveId" clId="{F3B85651-CD69-4B9D-8E9B-C7D65433B488}" dt="2026-07-25T14:42:46.044" v="96" actId="113"/>
          <ac:spMkLst>
            <pc:docMk/>
            <pc:sldMk cId="2151833259" sldId="287"/>
            <ac:spMk id="4" creationId="{F4259BCB-8014-23E8-8445-DD83ED5AEAB4}"/>
          </ac:spMkLst>
        </pc:spChg>
      </pc:sldChg>
      <pc:sldChg chg="addSp delSp modSp new mod">
        <pc:chgData name="Sima Dey" userId="02a73a2d382345c1" providerId="LiveId" clId="{F3B85651-CD69-4B9D-8E9B-C7D65433B488}" dt="2026-07-25T14:49:21.444" v="137"/>
        <pc:sldMkLst>
          <pc:docMk/>
          <pc:sldMk cId="1761815487" sldId="288"/>
        </pc:sldMkLst>
        <pc:spChg chg="mod">
          <ac:chgData name="Sima Dey" userId="02a73a2d382345c1" providerId="LiveId" clId="{F3B85651-CD69-4B9D-8E9B-C7D65433B488}" dt="2026-07-25T14:43:45.889" v="113" actId="1076"/>
          <ac:spMkLst>
            <pc:docMk/>
            <pc:sldMk cId="1761815487" sldId="288"/>
            <ac:spMk id="2" creationId="{4A837DEB-4BC1-9C60-9311-449D300506E3}"/>
          </ac:spMkLst>
        </pc:spChg>
        <pc:graphicFrameChg chg="add mod">
          <ac:chgData name="Sima Dey" userId="02a73a2d382345c1" providerId="LiveId" clId="{F3B85651-CD69-4B9D-8E9B-C7D65433B488}" dt="2026-07-25T14:49:21.444" v="137"/>
          <ac:graphicFrameMkLst>
            <pc:docMk/>
            <pc:sldMk cId="1761815487" sldId="288"/>
            <ac:graphicFrameMk id="6" creationId="{632F8838-E513-6625-E1E0-DE730394D2F0}"/>
          </ac:graphicFrameMkLst>
        </pc:graphicFrameChg>
      </pc:sldChg>
      <pc:sldChg chg="addSp modSp new mod">
        <pc:chgData name="Sima Dey" userId="02a73a2d382345c1" providerId="LiveId" clId="{F3B85651-CD69-4B9D-8E9B-C7D65433B488}" dt="2026-07-25T14:49:39.116" v="138"/>
        <pc:sldMkLst>
          <pc:docMk/>
          <pc:sldMk cId="3129573224" sldId="289"/>
        </pc:sldMkLst>
        <pc:spChg chg="mod">
          <ac:chgData name="Sima Dey" userId="02a73a2d382345c1" providerId="LiveId" clId="{F3B85651-CD69-4B9D-8E9B-C7D65433B488}" dt="2026-07-25T14:49:39.116" v="138"/>
          <ac:spMkLst>
            <pc:docMk/>
            <pc:sldMk cId="3129573224" sldId="289"/>
            <ac:spMk id="2" creationId="{0C76A8AD-950B-CD23-EE76-DD4B2E325763}"/>
          </ac:spMkLst>
        </pc:spChg>
        <pc:graphicFrameChg chg="add mod">
          <ac:chgData name="Sima Dey" userId="02a73a2d382345c1" providerId="LiveId" clId="{F3B85651-CD69-4B9D-8E9B-C7D65433B488}" dt="2026-07-25T14:49:05.241" v="136"/>
          <ac:graphicFrameMkLst>
            <pc:docMk/>
            <pc:sldMk cId="3129573224" sldId="289"/>
            <ac:graphicFrameMk id="4" creationId="{069F5509-90B7-EAE1-BF8A-64B64A31EB91}"/>
          </ac:graphicFrameMkLst>
        </pc:graphicFrameChg>
      </pc:sldChg>
      <pc:sldChg chg="addSp modSp new mod">
        <pc:chgData name="Sima Dey" userId="02a73a2d382345c1" providerId="LiveId" clId="{F3B85651-CD69-4B9D-8E9B-C7D65433B488}" dt="2026-07-25T14:51:47.102" v="155" actId="1076"/>
        <pc:sldMkLst>
          <pc:docMk/>
          <pc:sldMk cId="663890690" sldId="290"/>
        </pc:sldMkLst>
        <pc:spChg chg="mod">
          <ac:chgData name="Sima Dey" userId="02a73a2d382345c1" providerId="LiveId" clId="{F3B85651-CD69-4B9D-8E9B-C7D65433B488}" dt="2026-07-25T14:50:51.500" v="149" actId="20577"/>
          <ac:spMkLst>
            <pc:docMk/>
            <pc:sldMk cId="663890690" sldId="290"/>
            <ac:spMk id="2" creationId="{2FB8C105-B82B-7C6C-75DE-129A27621E8E}"/>
          </ac:spMkLst>
        </pc:spChg>
        <pc:graphicFrameChg chg="add mod modGraphic">
          <ac:chgData name="Sima Dey" userId="02a73a2d382345c1" providerId="LiveId" clId="{F3B85651-CD69-4B9D-8E9B-C7D65433B488}" dt="2026-07-25T14:51:47.102" v="155" actId="1076"/>
          <ac:graphicFrameMkLst>
            <pc:docMk/>
            <pc:sldMk cId="663890690" sldId="290"/>
            <ac:graphicFrameMk id="3" creationId="{ACC63BA9-AF5A-5793-902E-6367AF16CE67}"/>
          </ac:graphicFrameMkLst>
        </pc:graphicFrameChg>
      </pc:sldChg>
      <pc:sldChg chg="addSp modSp new mod">
        <pc:chgData name="Sima Dey" userId="02a73a2d382345c1" providerId="LiveId" clId="{F3B85651-CD69-4B9D-8E9B-C7D65433B488}" dt="2026-07-25T14:55:59.031" v="179" actId="20577"/>
        <pc:sldMkLst>
          <pc:docMk/>
          <pc:sldMk cId="2634873406" sldId="291"/>
        </pc:sldMkLst>
        <pc:spChg chg="mod">
          <ac:chgData name="Sima Dey" userId="02a73a2d382345c1" providerId="LiveId" clId="{F3B85651-CD69-4B9D-8E9B-C7D65433B488}" dt="2026-07-25T14:52:39.463" v="158" actId="27636"/>
          <ac:spMkLst>
            <pc:docMk/>
            <pc:sldMk cId="2634873406" sldId="291"/>
            <ac:spMk id="2" creationId="{82EEA3A3-1BF2-E964-1530-A61E918993F9}"/>
          </ac:spMkLst>
        </pc:spChg>
        <pc:spChg chg="add mod">
          <ac:chgData name="Sima Dey" userId="02a73a2d382345c1" providerId="LiveId" clId="{F3B85651-CD69-4B9D-8E9B-C7D65433B488}" dt="2026-07-25T14:53:37.773" v="165" actId="1076"/>
          <ac:spMkLst>
            <pc:docMk/>
            <pc:sldMk cId="2634873406" sldId="291"/>
            <ac:spMk id="4" creationId="{BDC81CCA-F007-D38C-1BCA-339823DC56E4}"/>
          </ac:spMkLst>
        </pc:spChg>
        <pc:spChg chg="add mod">
          <ac:chgData name="Sima Dey" userId="02a73a2d382345c1" providerId="LiveId" clId="{F3B85651-CD69-4B9D-8E9B-C7D65433B488}" dt="2026-07-25T14:55:59.031" v="179" actId="20577"/>
          <ac:spMkLst>
            <pc:docMk/>
            <pc:sldMk cId="2634873406" sldId="291"/>
            <ac:spMk id="7" creationId="{3779C408-C8B5-1413-5569-4D2A57CF8144}"/>
          </ac:spMkLst>
        </pc:spChg>
      </pc:sldChg>
      <pc:sldChg chg="addSp modSp new mod">
        <pc:chgData name="Sima Dey" userId="02a73a2d382345c1" providerId="LiveId" clId="{F3B85651-CD69-4B9D-8E9B-C7D65433B488}" dt="2026-07-25T14:58:48.685" v="192" actId="1076"/>
        <pc:sldMkLst>
          <pc:docMk/>
          <pc:sldMk cId="2471275160" sldId="292"/>
        </pc:sldMkLst>
        <pc:spChg chg="mod">
          <ac:chgData name="Sima Dey" userId="02a73a2d382345c1" providerId="LiveId" clId="{F3B85651-CD69-4B9D-8E9B-C7D65433B488}" dt="2026-07-25T14:57:22.655" v="183" actId="20577"/>
          <ac:spMkLst>
            <pc:docMk/>
            <pc:sldMk cId="2471275160" sldId="292"/>
            <ac:spMk id="2" creationId="{BAB9E279-C475-D429-8372-C02B6EE9523F}"/>
          </ac:spMkLst>
        </pc:spChg>
        <pc:spChg chg="add mod">
          <ac:chgData name="Sima Dey" userId="02a73a2d382345c1" providerId="LiveId" clId="{F3B85651-CD69-4B9D-8E9B-C7D65433B488}" dt="2026-07-25T14:58:48.685" v="192" actId="1076"/>
          <ac:spMkLst>
            <pc:docMk/>
            <pc:sldMk cId="2471275160" sldId="292"/>
            <ac:spMk id="4" creationId="{2D60E09C-03E0-21C6-2F5A-693272AB3162}"/>
          </ac:spMkLst>
        </pc:spChg>
      </pc:sldChg>
      <pc:sldChg chg="addSp delSp modSp new mod">
        <pc:chgData name="Sima Dey" userId="02a73a2d382345c1" providerId="LiveId" clId="{F3B85651-CD69-4B9D-8E9B-C7D65433B488}" dt="2026-07-25T15:00:21.385" v="201" actId="1076"/>
        <pc:sldMkLst>
          <pc:docMk/>
          <pc:sldMk cId="444579290" sldId="293"/>
        </pc:sldMkLst>
        <pc:spChg chg="mod">
          <ac:chgData name="Sima Dey" userId="02a73a2d382345c1" providerId="LiveId" clId="{F3B85651-CD69-4B9D-8E9B-C7D65433B488}" dt="2026-07-25T14:59:33.602" v="194"/>
          <ac:spMkLst>
            <pc:docMk/>
            <pc:sldMk cId="444579290" sldId="293"/>
            <ac:spMk id="2" creationId="{CC609FAD-F79D-9CE5-2339-8113121EEE80}"/>
          </ac:spMkLst>
        </pc:spChg>
        <pc:spChg chg="add mod">
          <ac:chgData name="Sima Dey" userId="02a73a2d382345c1" providerId="LiveId" clId="{F3B85651-CD69-4B9D-8E9B-C7D65433B488}" dt="2026-07-25T15:00:21.385" v="201" actId="1076"/>
          <ac:spMkLst>
            <pc:docMk/>
            <pc:sldMk cId="444579290" sldId="293"/>
            <ac:spMk id="6" creationId="{C43B3DBD-781C-E035-DAA8-B9D7BBE462CD}"/>
          </ac:spMkLst>
        </pc:spChg>
      </pc:sldChg>
      <pc:sldChg chg="addSp modSp new mod">
        <pc:chgData name="Sima Dey" userId="02a73a2d382345c1" providerId="LiveId" clId="{F3B85651-CD69-4B9D-8E9B-C7D65433B488}" dt="2026-07-25T15:02:32.322" v="210" actId="20577"/>
        <pc:sldMkLst>
          <pc:docMk/>
          <pc:sldMk cId="3911082855" sldId="294"/>
        </pc:sldMkLst>
        <pc:spChg chg="mod">
          <ac:chgData name="Sima Dey" userId="02a73a2d382345c1" providerId="LiveId" clId="{F3B85651-CD69-4B9D-8E9B-C7D65433B488}" dt="2026-07-25T15:02:14.623" v="208" actId="27636"/>
          <ac:spMkLst>
            <pc:docMk/>
            <pc:sldMk cId="3911082855" sldId="294"/>
            <ac:spMk id="2" creationId="{5F830F76-7E9F-2690-332F-F746BDAAD6F9}"/>
          </ac:spMkLst>
        </pc:spChg>
        <pc:spChg chg="add mod">
          <ac:chgData name="Sima Dey" userId="02a73a2d382345c1" providerId="LiveId" clId="{F3B85651-CD69-4B9D-8E9B-C7D65433B488}" dt="2026-07-25T15:02:32.322" v="210" actId="20577"/>
          <ac:spMkLst>
            <pc:docMk/>
            <pc:sldMk cId="3911082855" sldId="294"/>
            <ac:spMk id="4" creationId="{EAB4BC4B-818E-B0A3-228E-7A8A59163EE7}"/>
          </ac:spMkLst>
        </pc:spChg>
      </pc:sldChg>
      <pc:sldChg chg="addSp delSp modSp new mod">
        <pc:chgData name="Sima Dey" userId="02a73a2d382345c1" providerId="LiveId" clId="{F3B85651-CD69-4B9D-8E9B-C7D65433B488}" dt="2026-07-25T15:04:19.267" v="221" actId="14100"/>
        <pc:sldMkLst>
          <pc:docMk/>
          <pc:sldMk cId="3692252506" sldId="295"/>
        </pc:sldMkLst>
        <pc:spChg chg="mod">
          <ac:chgData name="Sima Dey" userId="02a73a2d382345c1" providerId="LiveId" clId="{F3B85651-CD69-4B9D-8E9B-C7D65433B488}" dt="2026-07-25T15:03:29.309" v="214"/>
          <ac:spMkLst>
            <pc:docMk/>
            <pc:sldMk cId="3692252506" sldId="295"/>
            <ac:spMk id="2" creationId="{60BACE80-BFC8-F44A-63AD-6DB6291EED6E}"/>
          </ac:spMkLst>
        </pc:spChg>
        <pc:spChg chg="add mod">
          <ac:chgData name="Sima Dey" userId="02a73a2d382345c1" providerId="LiveId" clId="{F3B85651-CD69-4B9D-8E9B-C7D65433B488}" dt="2026-07-25T15:04:19.267" v="221" actId="14100"/>
          <ac:spMkLst>
            <pc:docMk/>
            <pc:sldMk cId="3692252506" sldId="295"/>
            <ac:spMk id="6" creationId="{D8217D80-7B43-226B-0D1C-BE66DD506E43}"/>
          </ac:spMkLst>
        </pc:spChg>
      </pc:sldChg>
      <pc:sldChg chg="addSp modSp new mod">
        <pc:chgData name="Sima Dey" userId="02a73a2d382345c1" providerId="LiveId" clId="{F3B85651-CD69-4B9D-8E9B-C7D65433B488}" dt="2026-07-25T15:06:45.581" v="234" actId="20577"/>
        <pc:sldMkLst>
          <pc:docMk/>
          <pc:sldMk cId="3474263628" sldId="296"/>
        </pc:sldMkLst>
        <pc:spChg chg="mod">
          <ac:chgData name="Sima Dey" userId="02a73a2d382345c1" providerId="LiveId" clId="{F3B85651-CD69-4B9D-8E9B-C7D65433B488}" dt="2026-07-25T15:06:45.581" v="234" actId="20577"/>
          <ac:spMkLst>
            <pc:docMk/>
            <pc:sldMk cId="3474263628" sldId="296"/>
            <ac:spMk id="2" creationId="{1BEE259B-C816-6032-3436-714E324A49B0}"/>
          </ac:spMkLst>
        </pc:spChg>
        <pc:spChg chg="add mod">
          <ac:chgData name="Sima Dey" userId="02a73a2d382345c1" providerId="LiveId" clId="{F3B85651-CD69-4B9D-8E9B-C7D65433B488}" dt="2026-07-25T15:06:40.148" v="228" actId="14100"/>
          <ac:spMkLst>
            <pc:docMk/>
            <pc:sldMk cId="3474263628" sldId="296"/>
            <ac:spMk id="4" creationId="{FD618611-18E7-F458-2130-D643206BE897}"/>
          </ac:spMkLst>
        </pc:spChg>
      </pc:sldChg>
      <pc:sldChg chg="addSp modSp new mod">
        <pc:chgData name="Sima Dey" userId="02a73a2d382345c1" providerId="LiveId" clId="{F3B85651-CD69-4B9D-8E9B-C7D65433B488}" dt="2026-07-25T15:12:56.901" v="334" actId="20577"/>
        <pc:sldMkLst>
          <pc:docMk/>
          <pc:sldMk cId="3957906019" sldId="297"/>
        </pc:sldMkLst>
        <pc:spChg chg="mod">
          <ac:chgData name="Sima Dey" userId="02a73a2d382345c1" providerId="LiveId" clId="{F3B85651-CD69-4B9D-8E9B-C7D65433B488}" dt="2026-07-25T15:12:56.901" v="334" actId="20577"/>
          <ac:spMkLst>
            <pc:docMk/>
            <pc:sldMk cId="3957906019" sldId="297"/>
            <ac:spMk id="2" creationId="{C098625E-F87C-83D0-5BCE-3CC73680CC20}"/>
          </ac:spMkLst>
        </pc:spChg>
        <pc:spChg chg="add mod">
          <ac:chgData name="Sima Dey" userId="02a73a2d382345c1" providerId="LiveId" clId="{F3B85651-CD69-4B9D-8E9B-C7D65433B488}" dt="2026-07-25T15:11:13.018" v="317" actId="1076"/>
          <ac:spMkLst>
            <pc:docMk/>
            <pc:sldMk cId="3957906019" sldId="297"/>
            <ac:spMk id="4" creationId="{05087D77-8101-D904-CC17-614A6C85458E}"/>
          </ac:spMkLst>
        </pc:spChg>
        <pc:spChg chg="add mod">
          <ac:chgData name="Sima Dey" userId="02a73a2d382345c1" providerId="LiveId" clId="{F3B85651-CD69-4B9D-8E9B-C7D65433B488}" dt="2026-07-25T15:10:46.067" v="308" actId="20577"/>
          <ac:spMkLst>
            <pc:docMk/>
            <pc:sldMk cId="3957906019" sldId="297"/>
            <ac:spMk id="6" creationId="{1CB62B87-C871-8C36-EEFA-94A7A9D14A1F}"/>
          </ac:spMkLst>
        </pc:spChg>
      </pc:sldChg>
      <pc:sldChg chg="addSp delSp modSp new mod">
        <pc:chgData name="Sima Dey" userId="02a73a2d382345c1" providerId="LiveId" clId="{F3B85651-CD69-4B9D-8E9B-C7D65433B488}" dt="2026-07-25T15:12:48.286" v="333" actId="20577"/>
        <pc:sldMkLst>
          <pc:docMk/>
          <pc:sldMk cId="1617351734" sldId="298"/>
        </pc:sldMkLst>
        <pc:spChg chg="add mod">
          <ac:chgData name="Sima Dey" userId="02a73a2d382345c1" providerId="LiveId" clId="{F3B85651-CD69-4B9D-8E9B-C7D65433B488}" dt="2026-07-25T15:12:48.286" v="333" actId="20577"/>
          <ac:spMkLst>
            <pc:docMk/>
            <pc:sldMk cId="1617351734" sldId="298"/>
            <ac:spMk id="3" creationId="{21973E7E-0D32-C73F-8BB8-BAEC9529940B}"/>
          </ac:spMkLst>
        </pc:spChg>
        <pc:spChg chg="add mod">
          <ac:chgData name="Sima Dey" userId="02a73a2d382345c1" providerId="LiveId" clId="{F3B85651-CD69-4B9D-8E9B-C7D65433B488}" dt="2026-07-25T15:12:02.057" v="326" actId="14100"/>
          <ac:spMkLst>
            <pc:docMk/>
            <pc:sldMk cId="1617351734" sldId="298"/>
            <ac:spMk id="5" creationId="{13B975AA-8470-1B20-7A5E-2FA73D02366E}"/>
          </ac:spMkLst>
        </pc:spChg>
        <pc:spChg chg="add mod">
          <ac:chgData name="Sima Dey" userId="02a73a2d382345c1" providerId="LiveId" clId="{F3B85651-CD69-4B9D-8E9B-C7D65433B488}" dt="2026-07-25T15:12:20.578" v="328" actId="1076"/>
          <ac:spMkLst>
            <pc:docMk/>
            <pc:sldMk cId="1617351734" sldId="298"/>
            <ac:spMk id="7" creationId="{E201C7FA-E765-E963-30E5-198F8D3F6394}"/>
          </ac:spMkLst>
        </pc:spChg>
      </pc:sldChg>
      <pc:sldChg chg="addSp delSp modSp new mod">
        <pc:chgData name="Sima Dey" userId="02a73a2d382345c1" providerId="LiveId" clId="{F3B85651-CD69-4B9D-8E9B-C7D65433B488}" dt="2026-07-25T15:15:38.409" v="368"/>
        <pc:sldMkLst>
          <pc:docMk/>
          <pc:sldMk cId="3671576368" sldId="299"/>
        </pc:sldMkLst>
        <pc:spChg chg="mod">
          <ac:chgData name="Sima Dey" userId="02a73a2d382345c1" providerId="LiveId" clId="{F3B85651-CD69-4B9D-8E9B-C7D65433B488}" dt="2026-07-25T15:13:49.305" v="361" actId="20577"/>
          <ac:spMkLst>
            <pc:docMk/>
            <pc:sldMk cId="3671576368" sldId="299"/>
            <ac:spMk id="2" creationId="{CAC7088F-D3CB-601D-CC5B-905461D22B81}"/>
          </ac:spMkLst>
        </pc:spChg>
        <pc:graphicFrameChg chg="add mod">
          <ac:chgData name="Sima Dey" userId="02a73a2d382345c1" providerId="LiveId" clId="{F3B85651-CD69-4B9D-8E9B-C7D65433B488}" dt="2026-07-25T15:15:38.409" v="368"/>
          <ac:graphicFrameMkLst>
            <pc:docMk/>
            <pc:sldMk cId="3671576368" sldId="299"/>
            <ac:graphicFrameMk id="5" creationId="{5787AE33-1771-D0A6-910A-463624502C77}"/>
          </ac:graphicFrameMkLst>
        </pc:graphicFrameChg>
      </pc:sldChg>
      <pc:sldChg chg="addSp modSp new mod">
        <pc:chgData name="Sima Dey" userId="02a73a2d382345c1" providerId="LiveId" clId="{F3B85651-CD69-4B9D-8E9B-C7D65433B488}" dt="2026-07-25T15:14:50.526" v="366"/>
        <pc:sldMkLst>
          <pc:docMk/>
          <pc:sldMk cId="3792739676" sldId="300"/>
        </pc:sldMkLst>
        <pc:spChg chg="mod">
          <ac:chgData name="Sima Dey" userId="02a73a2d382345c1" providerId="LiveId" clId="{F3B85651-CD69-4B9D-8E9B-C7D65433B488}" dt="2026-07-25T15:14:12.042" v="363"/>
          <ac:spMkLst>
            <pc:docMk/>
            <pc:sldMk cId="3792739676" sldId="300"/>
            <ac:spMk id="2" creationId="{389611ED-9AF1-607F-F451-13BE95C5CD8C}"/>
          </ac:spMkLst>
        </pc:spChg>
        <pc:graphicFrameChg chg="add mod">
          <ac:chgData name="Sima Dey" userId="02a73a2d382345c1" providerId="LiveId" clId="{F3B85651-CD69-4B9D-8E9B-C7D65433B488}" dt="2026-07-25T15:14:50.526" v="366"/>
          <ac:graphicFrameMkLst>
            <pc:docMk/>
            <pc:sldMk cId="3792739676" sldId="300"/>
            <ac:graphicFrameMk id="3" creationId="{F0AE113C-98DB-924B-09EC-515394B7DCF2}"/>
          </ac:graphicFrameMkLst>
        </pc:graphicFrameChg>
      </pc:sldChg>
      <pc:sldChg chg="addSp modSp new mod">
        <pc:chgData name="Sima Dey" userId="02a73a2d382345c1" providerId="LiveId" clId="{F3B85651-CD69-4B9D-8E9B-C7D65433B488}" dt="2026-07-25T15:24:02.758" v="480" actId="20577"/>
        <pc:sldMkLst>
          <pc:docMk/>
          <pc:sldMk cId="2831327286" sldId="301"/>
        </pc:sldMkLst>
        <pc:spChg chg="mod">
          <ac:chgData name="Sima Dey" userId="02a73a2d382345c1" providerId="LiveId" clId="{F3B85651-CD69-4B9D-8E9B-C7D65433B488}" dt="2026-07-25T15:19:06.303" v="394" actId="20577"/>
          <ac:spMkLst>
            <pc:docMk/>
            <pc:sldMk cId="2831327286" sldId="301"/>
            <ac:spMk id="2" creationId="{5EE03C8D-7E83-882C-D4D4-E3EA3E428368}"/>
          </ac:spMkLst>
        </pc:spChg>
        <pc:spChg chg="add mod">
          <ac:chgData name="Sima Dey" userId="02a73a2d382345c1" providerId="LiveId" clId="{F3B85651-CD69-4B9D-8E9B-C7D65433B488}" dt="2026-07-25T15:24:02.758" v="480" actId="20577"/>
          <ac:spMkLst>
            <pc:docMk/>
            <pc:sldMk cId="2831327286" sldId="301"/>
            <ac:spMk id="4" creationId="{F0343BCC-C632-6BFB-85CF-D7FE129D8447}"/>
          </ac:spMkLst>
        </pc:spChg>
      </pc:sldChg>
      <pc:sldChg chg="addSp delSp modSp new mod">
        <pc:chgData name="Sima Dey" userId="02a73a2d382345c1" providerId="LiveId" clId="{F3B85651-CD69-4B9D-8E9B-C7D65433B488}" dt="2026-07-25T15:23:54.763" v="479" actId="20577"/>
        <pc:sldMkLst>
          <pc:docMk/>
          <pc:sldMk cId="492194899" sldId="302"/>
        </pc:sldMkLst>
        <pc:spChg chg="add mod">
          <ac:chgData name="Sima Dey" userId="02a73a2d382345c1" providerId="LiveId" clId="{F3B85651-CD69-4B9D-8E9B-C7D65433B488}" dt="2026-07-25T15:22:09.682" v="442" actId="1076"/>
          <ac:spMkLst>
            <pc:docMk/>
            <pc:sldMk cId="492194899" sldId="302"/>
            <ac:spMk id="3" creationId="{396E15F2-AB74-44BF-4594-C5AF64928B15}"/>
          </ac:spMkLst>
        </pc:spChg>
        <pc:spChg chg="add mod">
          <ac:chgData name="Sima Dey" userId="02a73a2d382345c1" providerId="LiveId" clId="{F3B85651-CD69-4B9D-8E9B-C7D65433B488}" dt="2026-07-25T15:23:29.614" v="473" actId="1076"/>
          <ac:spMkLst>
            <pc:docMk/>
            <pc:sldMk cId="492194899" sldId="302"/>
            <ac:spMk id="5" creationId="{80BB398F-F4F9-467F-1398-B5C7FF70EA82}"/>
          </ac:spMkLst>
        </pc:spChg>
        <pc:spChg chg="add mod">
          <ac:chgData name="Sima Dey" userId="02a73a2d382345c1" providerId="LiveId" clId="{F3B85651-CD69-4B9D-8E9B-C7D65433B488}" dt="2026-07-25T15:23:54.763" v="479" actId="20577"/>
          <ac:spMkLst>
            <pc:docMk/>
            <pc:sldMk cId="492194899" sldId="302"/>
            <ac:spMk id="7" creationId="{3FE6EEA1-E071-2294-CBA4-8435337C84F3}"/>
          </ac:spMkLst>
        </pc:spChg>
      </pc:sldChg>
      <pc:sldChg chg="addSp modSp new mod">
        <pc:chgData name="Sima Dey" userId="02a73a2d382345c1" providerId="LiveId" clId="{F3B85651-CD69-4B9D-8E9B-C7D65433B488}" dt="2026-07-25T15:26:03.006" v="539" actId="20577"/>
        <pc:sldMkLst>
          <pc:docMk/>
          <pc:sldMk cId="2826570359" sldId="303"/>
        </pc:sldMkLst>
        <pc:spChg chg="mod">
          <ac:chgData name="Sima Dey" userId="02a73a2d382345c1" providerId="LiveId" clId="{F3B85651-CD69-4B9D-8E9B-C7D65433B488}" dt="2026-07-25T15:26:03.006" v="539" actId="20577"/>
          <ac:spMkLst>
            <pc:docMk/>
            <pc:sldMk cId="2826570359" sldId="303"/>
            <ac:spMk id="2" creationId="{DF477683-33A6-D864-A8ED-0937570AEA7B}"/>
          </ac:spMkLst>
        </pc:spChg>
        <pc:graphicFrameChg chg="add mod">
          <ac:chgData name="Sima Dey" userId="02a73a2d382345c1" providerId="LiveId" clId="{F3B85651-CD69-4B9D-8E9B-C7D65433B488}" dt="2026-07-25T15:24:58.856" v="483"/>
          <ac:graphicFrameMkLst>
            <pc:docMk/>
            <pc:sldMk cId="2826570359" sldId="303"/>
            <ac:graphicFrameMk id="3" creationId="{C675908C-E3FD-F8B0-9F0E-49BC8E03F122}"/>
          </ac:graphicFrameMkLst>
        </pc:graphicFrameChg>
      </pc:sldChg>
      <pc:sldChg chg="addSp modSp new mod">
        <pc:chgData name="Sima Dey" userId="02a73a2d382345c1" providerId="LiveId" clId="{F3B85651-CD69-4B9D-8E9B-C7D65433B488}" dt="2026-07-26T07:39:06.006" v="624" actId="1076"/>
        <pc:sldMkLst>
          <pc:docMk/>
          <pc:sldMk cId="4232815009" sldId="304"/>
        </pc:sldMkLst>
        <pc:spChg chg="mod">
          <ac:chgData name="Sima Dey" userId="02a73a2d382345c1" providerId="LiveId" clId="{F3B85651-CD69-4B9D-8E9B-C7D65433B488}" dt="2026-07-26T07:29:15.022" v="541"/>
          <ac:spMkLst>
            <pc:docMk/>
            <pc:sldMk cId="4232815009" sldId="304"/>
            <ac:spMk id="2" creationId="{49ED7915-51FD-9325-E222-E92ECB801B81}"/>
          </ac:spMkLst>
        </pc:spChg>
        <pc:spChg chg="add mod">
          <ac:chgData name="Sima Dey" userId="02a73a2d382345c1" providerId="LiveId" clId="{F3B85651-CD69-4B9D-8E9B-C7D65433B488}" dt="2026-07-26T07:37:00.778" v="595" actId="1076"/>
          <ac:spMkLst>
            <pc:docMk/>
            <pc:sldMk cId="4232815009" sldId="304"/>
            <ac:spMk id="4" creationId="{06848EE2-E29F-997D-6122-B4C2C99A944D}"/>
          </ac:spMkLst>
        </pc:spChg>
        <pc:spChg chg="add mod">
          <ac:chgData name="Sima Dey" userId="02a73a2d382345c1" providerId="LiveId" clId="{F3B85651-CD69-4B9D-8E9B-C7D65433B488}" dt="2026-07-26T07:38:59.656" v="623" actId="20577"/>
          <ac:spMkLst>
            <pc:docMk/>
            <pc:sldMk cId="4232815009" sldId="304"/>
            <ac:spMk id="6" creationId="{9D16A5E3-9567-CEF1-9E37-125DFDF4B8D3}"/>
          </ac:spMkLst>
        </pc:spChg>
        <pc:spChg chg="add mod">
          <ac:chgData name="Sima Dey" userId="02a73a2d382345c1" providerId="LiveId" clId="{F3B85651-CD69-4B9D-8E9B-C7D65433B488}" dt="2026-07-26T07:36:34.713" v="592" actId="1076"/>
          <ac:spMkLst>
            <pc:docMk/>
            <pc:sldMk cId="4232815009" sldId="304"/>
            <ac:spMk id="8" creationId="{A19E37FD-584A-F6EB-32A8-30F5273EFD32}"/>
          </ac:spMkLst>
        </pc:spChg>
        <pc:spChg chg="add mod">
          <ac:chgData name="Sima Dey" userId="02a73a2d382345c1" providerId="LiveId" clId="{F3B85651-CD69-4B9D-8E9B-C7D65433B488}" dt="2026-07-26T07:39:06.006" v="624" actId="1076"/>
          <ac:spMkLst>
            <pc:docMk/>
            <pc:sldMk cId="4232815009" sldId="304"/>
            <ac:spMk id="10" creationId="{E7BEB464-1DE6-F36A-7F83-768966A67FB4}"/>
          </ac:spMkLst>
        </pc:spChg>
      </pc:sldChg>
      <pc:sldChg chg="addSp delSp modSp new mod">
        <pc:chgData name="Sima Dey" userId="02a73a2d382345c1" providerId="LiveId" clId="{F3B85651-CD69-4B9D-8E9B-C7D65433B488}" dt="2026-07-26T07:44:59.259" v="674" actId="1076"/>
        <pc:sldMkLst>
          <pc:docMk/>
          <pc:sldMk cId="2623652390" sldId="305"/>
        </pc:sldMkLst>
        <pc:spChg chg="mod">
          <ac:chgData name="Sima Dey" userId="02a73a2d382345c1" providerId="LiveId" clId="{F3B85651-CD69-4B9D-8E9B-C7D65433B488}" dt="2026-07-26T07:34:01.127" v="571" actId="20577"/>
          <ac:spMkLst>
            <pc:docMk/>
            <pc:sldMk cId="2623652390" sldId="305"/>
            <ac:spMk id="2" creationId="{DB3B1046-25D6-EF1E-2E32-19F567EEB0BB}"/>
          </ac:spMkLst>
        </pc:spChg>
        <pc:spChg chg="add del mod">
          <ac:chgData name="Sima Dey" userId="02a73a2d382345c1" providerId="LiveId" clId="{F3B85651-CD69-4B9D-8E9B-C7D65433B488}" dt="2026-07-26T07:39:20.522" v="625" actId="478"/>
          <ac:spMkLst>
            <pc:docMk/>
            <pc:sldMk cId="2623652390" sldId="305"/>
            <ac:spMk id="4" creationId="{C81E5E2D-602F-0CDF-18AC-33B10E7F1874}"/>
          </ac:spMkLst>
        </pc:spChg>
        <pc:spChg chg="add mod">
          <ac:chgData name="Sima Dey" userId="02a73a2d382345c1" providerId="LiveId" clId="{F3B85651-CD69-4B9D-8E9B-C7D65433B488}" dt="2026-07-26T07:44:24.871" v="666" actId="20577"/>
          <ac:spMkLst>
            <pc:docMk/>
            <pc:sldMk cId="2623652390" sldId="305"/>
            <ac:spMk id="6" creationId="{D0E70420-022A-244A-92BD-784D787EF668}"/>
          </ac:spMkLst>
        </pc:spChg>
        <pc:spChg chg="add mod">
          <ac:chgData name="Sima Dey" userId="02a73a2d382345c1" providerId="LiveId" clId="{F3B85651-CD69-4B9D-8E9B-C7D65433B488}" dt="2026-07-26T07:44:59.259" v="674" actId="1076"/>
          <ac:spMkLst>
            <pc:docMk/>
            <pc:sldMk cId="2623652390" sldId="305"/>
            <ac:spMk id="8" creationId="{BEDCD71E-79AC-3805-D9ED-5FEE758EF7FB}"/>
          </ac:spMkLst>
        </pc:spChg>
      </pc:sldChg>
      <pc:sldChg chg="addSp delSp modSp new mod">
        <pc:chgData name="Sima Dey" userId="02a73a2d382345c1" providerId="LiveId" clId="{F3B85651-CD69-4B9D-8E9B-C7D65433B488}" dt="2026-07-26T07:53:43.483" v="735" actId="1076"/>
        <pc:sldMkLst>
          <pc:docMk/>
          <pc:sldMk cId="2082089601" sldId="306"/>
        </pc:sldMkLst>
        <pc:spChg chg="mod">
          <ac:chgData name="Sima Dey" userId="02a73a2d382345c1" providerId="LiveId" clId="{F3B85651-CD69-4B9D-8E9B-C7D65433B488}" dt="2026-07-26T07:49:50.961" v="707" actId="20577"/>
          <ac:spMkLst>
            <pc:docMk/>
            <pc:sldMk cId="2082089601" sldId="306"/>
            <ac:spMk id="2" creationId="{B533C01C-DC48-2211-324C-B5D2A25C5AEC}"/>
          </ac:spMkLst>
        </pc:spChg>
        <pc:spChg chg="add mod">
          <ac:chgData name="Sima Dey" userId="02a73a2d382345c1" providerId="LiveId" clId="{F3B85651-CD69-4B9D-8E9B-C7D65433B488}" dt="2026-07-26T07:51:32.241" v="720" actId="1076"/>
          <ac:spMkLst>
            <pc:docMk/>
            <pc:sldMk cId="2082089601" sldId="306"/>
            <ac:spMk id="6" creationId="{348481B4-FD0F-6B5B-889E-1FA4F0F2753C}"/>
          </ac:spMkLst>
        </pc:spChg>
        <pc:spChg chg="add del mod">
          <ac:chgData name="Sima Dey" userId="02a73a2d382345c1" providerId="LiveId" clId="{F3B85651-CD69-4B9D-8E9B-C7D65433B488}" dt="2026-07-26T07:53:17.475" v="730" actId="478"/>
          <ac:spMkLst>
            <pc:docMk/>
            <pc:sldMk cId="2082089601" sldId="306"/>
            <ac:spMk id="8" creationId="{18C9F9A5-AC10-6F11-B23D-56E2590F5DE2}"/>
          </ac:spMkLst>
        </pc:spChg>
        <pc:spChg chg="add del mod">
          <ac:chgData name="Sima Dey" userId="02a73a2d382345c1" providerId="LiveId" clId="{F3B85651-CD69-4B9D-8E9B-C7D65433B488}" dt="2026-07-26T07:53:14.275" v="729" actId="478"/>
          <ac:spMkLst>
            <pc:docMk/>
            <pc:sldMk cId="2082089601" sldId="306"/>
            <ac:spMk id="10" creationId="{0AEA5702-5F7A-80DA-37BE-2D2206F3E00A}"/>
          </ac:spMkLst>
        </pc:spChg>
        <pc:spChg chg="add mod">
          <ac:chgData name="Sima Dey" userId="02a73a2d382345c1" providerId="LiveId" clId="{F3B85651-CD69-4B9D-8E9B-C7D65433B488}" dt="2026-07-26T07:53:43.483" v="735" actId="1076"/>
          <ac:spMkLst>
            <pc:docMk/>
            <pc:sldMk cId="2082089601" sldId="306"/>
            <ac:spMk id="12" creationId="{EC32B9E7-E1C3-C594-3618-D3796A9ADC13}"/>
          </ac:spMkLst>
        </pc:spChg>
        <pc:picChg chg="add mod">
          <ac:chgData name="Sima Dey" userId="02a73a2d382345c1" providerId="LiveId" clId="{F3B85651-CD69-4B9D-8E9B-C7D65433B488}" dt="2026-07-26T07:53:37.181" v="734" actId="14100"/>
          <ac:picMkLst>
            <pc:docMk/>
            <pc:sldMk cId="2082089601" sldId="306"/>
            <ac:picMk id="4" creationId="{B3CA4FF5-8209-8CAD-A83F-487E97B9F697}"/>
          </ac:picMkLst>
        </pc:picChg>
      </pc:sldChg>
      <pc:sldChg chg="addSp modSp new mod">
        <pc:chgData name="Sima Dey" userId="02a73a2d382345c1" providerId="LiveId" clId="{F3B85651-CD69-4B9D-8E9B-C7D65433B488}" dt="2026-07-26T08:00:20.577" v="757" actId="255"/>
        <pc:sldMkLst>
          <pc:docMk/>
          <pc:sldMk cId="1833907706" sldId="307"/>
        </pc:sldMkLst>
        <pc:spChg chg="mod">
          <ac:chgData name="Sima Dey" userId="02a73a2d382345c1" providerId="LiveId" clId="{F3B85651-CD69-4B9D-8E9B-C7D65433B488}" dt="2026-07-26T07:58:25.494" v="738"/>
          <ac:spMkLst>
            <pc:docMk/>
            <pc:sldMk cId="1833907706" sldId="307"/>
            <ac:spMk id="2" creationId="{7AC61685-A5A9-65F5-2037-9C03550C7EFD}"/>
          </ac:spMkLst>
        </pc:spChg>
        <pc:spChg chg="add mod">
          <ac:chgData name="Sima Dey" userId="02a73a2d382345c1" providerId="LiveId" clId="{F3B85651-CD69-4B9D-8E9B-C7D65433B488}" dt="2026-07-26T08:00:20.577" v="757" actId="255"/>
          <ac:spMkLst>
            <pc:docMk/>
            <pc:sldMk cId="1833907706" sldId="307"/>
            <ac:spMk id="4" creationId="{9CB6B814-0F09-71FF-23D0-DF50CDF88F91}"/>
          </ac:spMkLst>
        </pc:spChg>
      </pc:sldChg>
      <pc:sldChg chg="addSp modSp new mod">
        <pc:chgData name="Sima Dey" userId="02a73a2d382345c1" providerId="LiveId" clId="{F3B85651-CD69-4B9D-8E9B-C7D65433B488}" dt="2026-07-26T08:02:22.553" v="844" actId="255"/>
        <pc:sldMkLst>
          <pc:docMk/>
          <pc:sldMk cId="3234408444" sldId="308"/>
        </pc:sldMkLst>
        <pc:spChg chg="mod">
          <ac:chgData name="Sima Dey" userId="02a73a2d382345c1" providerId="LiveId" clId="{F3B85651-CD69-4B9D-8E9B-C7D65433B488}" dt="2026-07-26T08:01:08.155" v="835" actId="20577"/>
          <ac:spMkLst>
            <pc:docMk/>
            <pc:sldMk cId="3234408444" sldId="308"/>
            <ac:spMk id="2" creationId="{D445F921-A66C-F536-167A-E5FCBDB1EC8A}"/>
          </ac:spMkLst>
        </pc:spChg>
        <pc:spChg chg="add mod">
          <ac:chgData name="Sima Dey" userId="02a73a2d382345c1" providerId="LiveId" clId="{F3B85651-CD69-4B9D-8E9B-C7D65433B488}" dt="2026-07-26T08:01:47.971" v="839" actId="1076"/>
          <ac:spMkLst>
            <pc:docMk/>
            <pc:sldMk cId="3234408444" sldId="308"/>
            <ac:spMk id="4" creationId="{B52AFF8E-EA52-33E1-DEB5-9BE1FF1D09DD}"/>
          </ac:spMkLst>
        </pc:spChg>
        <pc:spChg chg="add mod">
          <ac:chgData name="Sima Dey" userId="02a73a2d382345c1" providerId="LiveId" clId="{F3B85651-CD69-4B9D-8E9B-C7D65433B488}" dt="2026-07-26T08:02:22.553" v="844" actId="255"/>
          <ac:spMkLst>
            <pc:docMk/>
            <pc:sldMk cId="3234408444" sldId="308"/>
            <ac:spMk id="6" creationId="{4D42F15E-41F1-B311-070E-8A75F9E6AB92}"/>
          </ac:spMkLst>
        </pc:spChg>
      </pc:sldChg>
      <pc:sldChg chg="addSp modSp new mod">
        <pc:chgData name="Sima Dey" userId="02a73a2d382345c1" providerId="LiveId" clId="{F3B85651-CD69-4B9D-8E9B-C7D65433B488}" dt="2026-07-26T08:04:15.088" v="857" actId="1076"/>
        <pc:sldMkLst>
          <pc:docMk/>
          <pc:sldMk cId="1253562115" sldId="309"/>
        </pc:sldMkLst>
        <pc:spChg chg="mod">
          <ac:chgData name="Sima Dey" userId="02a73a2d382345c1" providerId="LiveId" clId="{F3B85651-CD69-4B9D-8E9B-C7D65433B488}" dt="2026-07-26T08:02:59.655" v="846"/>
          <ac:spMkLst>
            <pc:docMk/>
            <pc:sldMk cId="1253562115" sldId="309"/>
            <ac:spMk id="2" creationId="{71B73BC5-C33C-182E-6725-32E3706C4F2B}"/>
          </ac:spMkLst>
        </pc:spChg>
        <pc:spChg chg="add mod">
          <ac:chgData name="Sima Dey" userId="02a73a2d382345c1" providerId="LiveId" clId="{F3B85651-CD69-4B9D-8E9B-C7D65433B488}" dt="2026-07-26T08:04:15.088" v="857" actId="1076"/>
          <ac:spMkLst>
            <pc:docMk/>
            <pc:sldMk cId="1253562115" sldId="309"/>
            <ac:spMk id="4" creationId="{55B6CB65-4577-D080-D1F0-FE2134A2AA6C}"/>
          </ac:spMkLst>
        </pc:spChg>
      </pc:sldChg>
      <pc:sldChg chg="addSp modSp new mod">
        <pc:chgData name="Sima Dey" userId="02a73a2d382345c1" providerId="LiveId" clId="{F3B85651-CD69-4B9D-8E9B-C7D65433B488}" dt="2026-07-26T08:10:26.840" v="930" actId="1076"/>
        <pc:sldMkLst>
          <pc:docMk/>
          <pc:sldMk cId="1712061050" sldId="310"/>
        </pc:sldMkLst>
        <pc:spChg chg="mod">
          <ac:chgData name="Sima Dey" userId="02a73a2d382345c1" providerId="LiveId" clId="{F3B85651-CD69-4B9D-8E9B-C7D65433B488}" dt="2026-07-26T08:07:14.481" v="859"/>
          <ac:spMkLst>
            <pc:docMk/>
            <pc:sldMk cId="1712061050" sldId="310"/>
            <ac:spMk id="2" creationId="{7487B11A-75D7-448E-F244-FEC8838DB900}"/>
          </ac:spMkLst>
        </pc:spChg>
        <pc:spChg chg="add mod">
          <ac:chgData name="Sima Dey" userId="02a73a2d382345c1" providerId="LiveId" clId="{F3B85651-CD69-4B9D-8E9B-C7D65433B488}" dt="2026-07-26T08:10:26.840" v="930" actId="1076"/>
          <ac:spMkLst>
            <pc:docMk/>
            <pc:sldMk cId="1712061050" sldId="310"/>
            <ac:spMk id="4" creationId="{45D4E2DA-8D3D-23EE-A0F8-F70B15D875F7}"/>
          </ac:spMkLst>
        </pc:spChg>
        <pc:spChg chg="add mod">
          <ac:chgData name="Sima Dey" userId="02a73a2d382345c1" providerId="LiveId" clId="{F3B85651-CD69-4B9D-8E9B-C7D65433B488}" dt="2026-07-26T08:09:45.859" v="921" actId="1076"/>
          <ac:spMkLst>
            <pc:docMk/>
            <pc:sldMk cId="1712061050" sldId="310"/>
            <ac:spMk id="6" creationId="{91ED92B5-1543-9AD4-DEC7-B96F7564217A}"/>
          </ac:spMkLst>
        </pc:spChg>
      </pc:sldChg>
      <pc:sldChg chg="addSp modSp new mod">
        <pc:chgData name="Sima Dey" userId="02a73a2d382345c1" providerId="LiveId" clId="{F3B85651-CD69-4B9D-8E9B-C7D65433B488}" dt="2026-07-26T08:12:23.874" v="980" actId="1076"/>
        <pc:sldMkLst>
          <pc:docMk/>
          <pc:sldMk cId="3966647046" sldId="311"/>
        </pc:sldMkLst>
        <pc:spChg chg="mod">
          <ac:chgData name="Sima Dey" userId="02a73a2d382345c1" providerId="LiveId" clId="{F3B85651-CD69-4B9D-8E9B-C7D65433B488}" dt="2026-07-26T08:10:58.239" v="966" actId="20577"/>
          <ac:spMkLst>
            <pc:docMk/>
            <pc:sldMk cId="3966647046" sldId="311"/>
            <ac:spMk id="2" creationId="{E2887E37-A58A-9894-2A49-255F57539F0D}"/>
          </ac:spMkLst>
        </pc:spChg>
        <pc:spChg chg="add mod">
          <ac:chgData name="Sima Dey" userId="02a73a2d382345c1" providerId="LiveId" clId="{F3B85651-CD69-4B9D-8E9B-C7D65433B488}" dt="2026-07-26T08:12:23.874" v="980" actId="1076"/>
          <ac:spMkLst>
            <pc:docMk/>
            <pc:sldMk cId="3966647046" sldId="311"/>
            <ac:spMk id="4" creationId="{19ED03BD-F088-1ECB-868E-EB0FD4E19C8E}"/>
          </ac:spMkLst>
        </pc:spChg>
      </pc:sldChg>
      <pc:sldChg chg="addSp delSp modSp new mod">
        <pc:chgData name="Sima Dey" userId="02a73a2d382345c1" providerId="LiveId" clId="{F3B85651-CD69-4B9D-8E9B-C7D65433B488}" dt="2026-07-26T08:19:23.391" v="1004"/>
        <pc:sldMkLst>
          <pc:docMk/>
          <pc:sldMk cId="936006073" sldId="312"/>
        </pc:sldMkLst>
        <pc:spChg chg="mod">
          <ac:chgData name="Sima Dey" userId="02a73a2d382345c1" providerId="LiveId" clId="{F3B85651-CD69-4B9D-8E9B-C7D65433B488}" dt="2026-07-26T08:15:57.933" v="982"/>
          <ac:spMkLst>
            <pc:docMk/>
            <pc:sldMk cId="936006073" sldId="312"/>
            <ac:spMk id="2" creationId="{1010BB89-23E4-96CD-143E-BC6CCBAE1C50}"/>
          </ac:spMkLst>
        </pc:spChg>
        <pc:graphicFrameChg chg="add del mod modGraphic">
          <ac:chgData name="Sima Dey" userId="02a73a2d382345c1" providerId="LiveId" clId="{F3B85651-CD69-4B9D-8E9B-C7D65433B488}" dt="2026-07-26T08:19:23.391" v="1004"/>
          <ac:graphicFrameMkLst>
            <pc:docMk/>
            <pc:sldMk cId="936006073" sldId="312"/>
            <ac:graphicFrameMk id="3" creationId="{A16573EE-3257-FCB6-59CD-56D097FEF709}"/>
          </ac:graphicFrameMkLst>
        </pc:graphicFrameChg>
      </pc:sldChg>
      <pc:sldChg chg="addSp modSp new mod">
        <pc:chgData name="Sima Dey" userId="02a73a2d382345c1" providerId="LiveId" clId="{F3B85651-CD69-4B9D-8E9B-C7D65433B488}" dt="2026-07-26T08:22:41.221" v="1073" actId="20577"/>
        <pc:sldMkLst>
          <pc:docMk/>
          <pc:sldMk cId="1120032281" sldId="313"/>
        </pc:sldMkLst>
        <pc:spChg chg="mod">
          <ac:chgData name="Sima Dey" userId="02a73a2d382345c1" providerId="LiveId" clId="{F3B85651-CD69-4B9D-8E9B-C7D65433B488}" dt="2026-07-26T08:22:41.221" v="1073" actId="20577"/>
          <ac:spMkLst>
            <pc:docMk/>
            <pc:sldMk cId="1120032281" sldId="313"/>
            <ac:spMk id="2" creationId="{3DE37CB6-8ECC-A443-3867-B3AD4ECF710E}"/>
          </ac:spMkLst>
        </pc:spChg>
        <pc:spChg chg="add mod">
          <ac:chgData name="Sima Dey" userId="02a73a2d382345c1" providerId="LiveId" clId="{F3B85651-CD69-4B9D-8E9B-C7D65433B488}" dt="2026-07-26T08:21:41.847" v="1014" actId="1076"/>
          <ac:spMkLst>
            <pc:docMk/>
            <pc:sldMk cId="1120032281" sldId="313"/>
            <ac:spMk id="4" creationId="{58593841-FCC8-9EF3-78E7-26A94855D7B1}"/>
          </ac:spMkLst>
        </pc:spChg>
        <pc:spChg chg="add mod">
          <ac:chgData name="Sima Dey" userId="02a73a2d382345c1" providerId="LiveId" clId="{F3B85651-CD69-4B9D-8E9B-C7D65433B488}" dt="2026-07-26T08:21:17.185" v="1012" actId="14100"/>
          <ac:spMkLst>
            <pc:docMk/>
            <pc:sldMk cId="1120032281" sldId="313"/>
            <ac:spMk id="6" creationId="{CFE10BA8-AFF4-07C5-7D81-27D4683F5D00}"/>
          </ac:spMkLst>
        </pc:spChg>
      </pc:sldChg>
      <pc:sldChg chg="addSp modSp new mod">
        <pc:chgData name="Sima Dey" userId="02a73a2d382345c1" providerId="LiveId" clId="{F3B85651-CD69-4B9D-8E9B-C7D65433B488}" dt="2026-07-26T08:26:33.653" v="1107" actId="255"/>
        <pc:sldMkLst>
          <pc:docMk/>
          <pc:sldMk cId="268765051" sldId="314"/>
        </pc:sldMkLst>
        <pc:spChg chg="mod">
          <ac:chgData name="Sima Dey" userId="02a73a2d382345c1" providerId="LiveId" clId="{F3B85651-CD69-4B9D-8E9B-C7D65433B488}" dt="2026-07-26T08:26:00.791" v="1104" actId="20577"/>
          <ac:spMkLst>
            <pc:docMk/>
            <pc:sldMk cId="268765051" sldId="314"/>
            <ac:spMk id="2" creationId="{3901845D-6667-2088-8AEC-711A78D7C3D1}"/>
          </ac:spMkLst>
        </pc:spChg>
        <pc:spChg chg="add mod">
          <ac:chgData name="Sima Dey" userId="02a73a2d382345c1" providerId="LiveId" clId="{F3B85651-CD69-4B9D-8E9B-C7D65433B488}" dt="2026-07-26T08:26:33.653" v="1107" actId="255"/>
          <ac:spMkLst>
            <pc:docMk/>
            <pc:sldMk cId="268765051" sldId="314"/>
            <ac:spMk id="4" creationId="{14D36E1C-F284-EA34-D092-927CB48C9DB1}"/>
          </ac:spMkLst>
        </pc:spChg>
      </pc:sldChg>
      <pc:sldChg chg="addSp modSp new mod">
        <pc:chgData name="Sima Dey" userId="02a73a2d382345c1" providerId="LiveId" clId="{F3B85651-CD69-4B9D-8E9B-C7D65433B488}" dt="2026-07-26T08:27:55.213" v="1171" actId="255"/>
        <pc:sldMkLst>
          <pc:docMk/>
          <pc:sldMk cId="2289703191" sldId="315"/>
        </pc:sldMkLst>
        <pc:spChg chg="mod">
          <ac:chgData name="Sima Dey" userId="02a73a2d382345c1" providerId="LiveId" clId="{F3B85651-CD69-4B9D-8E9B-C7D65433B488}" dt="2026-07-26T08:27:11.352" v="1166" actId="20577"/>
          <ac:spMkLst>
            <pc:docMk/>
            <pc:sldMk cId="2289703191" sldId="315"/>
            <ac:spMk id="2" creationId="{44A289CB-5AB6-EF61-4217-9828AE4B5FBF}"/>
          </ac:spMkLst>
        </pc:spChg>
        <pc:spChg chg="add mod">
          <ac:chgData name="Sima Dey" userId="02a73a2d382345c1" providerId="LiveId" clId="{F3B85651-CD69-4B9D-8E9B-C7D65433B488}" dt="2026-07-26T08:27:55.213" v="1171" actId="255"/>
          <ac:spMkLst>
            <pc:docMk/>
            <pc:sldMk cId="2289703191" sldId="315"/>
            <ac:spMk id="4" creationId="{FE66027A-5CC1-EA3B-C90F-BBDE564199AB}"/>
          </ac:spMkLst>
        </pc:spChg>
      </pc:sldChg>
      <pc:sldChg chg="addSp modSp new mod">
        <pc:chgData name="Sima Dey" userId="02a73a2d382345c1" providerId="LiveId" clId="{F3B85651-CD69-4B9D-8E9B-C7D65433B488}" dt="2026-07-27T06:14:43.104" v="1189"/>
        <pc:sldMkLst>
          <pc:docMk/>
          <pc:sldMk cId="1473312007" sldId="316"/>
        </pc:sldMkLst>
        <pc:spChg chg="mod">
          <ac:chgData name="Sima Dey" userId="02a73a2d382345c1" providerId="LiveId" clId="{F3B85651-CD69-4B9D-8E9B-C7D65433B488}" dt="2026-07-27T06:14:43.104" v="1189"/>
          <ac:spMkLst>
            <pc:docMk/>
            <pc:sldMk cId="1473312007" sldId="316"/>
            <ac:spMk id="2" creationId="{6F3E3C56-1DAF-6571-F670-AE54602B406C}"/>
          </ac:spMkLst>
        </pc:spChg>
        <pc:spChg chg="add mod">
          <ac:chgData name="Sima Dey" userId="02a73a2d382345c1" providerId="LiveId" clId="{F3B85651-CD69-4B9D-8E9B-C7D65433B488}" dt="2026-07-27T06:13:01.248" v="1187" actId="1076"/>
          <ac:spMkLst>
            <pc:docMk/>
            <pc:sldMk cId="1473312007" sldId="316"/>
            <ac:spMk id="4" creationId="{24D72161-FF4F-BE8E-F24A-8F7113769284}"/>
          </ac:spMkLst>
        </pc:spChg>
      </pc:sldChg>
      <pc:sldChg chg="new del">
        <pc:chgData name="Sima Dey" userId="02a73a2d382345c1" providerId="LiveId" clId="{F3B85651-CD69-4B9D-8E9B-C7D65433B488}" dt="2026-07-27T06:11:36.356" v="1174" actId="680"/>
        <pc:sldMkLst>
          <pc:docMk/>
          <pc:sldMk cId="67782019" sldId="317"/>
        </pc:sldMkLst>
      </pc:sldChg>
      <pc:sldChg chg="addSp modSp new mod">
        <pc:chgData name="Sima Dey" userId="02a73a2d382345c1" providerId="LiveId" clId="{F3B85651-CD69-4B9D-8E9B-C7D65433B488}" dt="2026-07-27T06:21:33.334" v="1240" actId="20577"/>
        <pc:sldMkLst>
          <pc:docMk/>
          <pc:sldMk cId="281014576" sldId="317"/>
        </pc:sldMkLst>
        <pc:spChg chg="mod">
          <ac:chgData name="Sima Dey" userId="02a73a2d382345c1" providerId="LiveId" clId="{F3B85651-CD69-4B9D-8E9B-C7D65433B488}" dt="2026-07-27T06:17:43.532" v="1226" actId="20577"/>
          <ac:spMkLst>
            <pc:docMk/>
            <pc:sldMk cId="281014576" sldId="317"/>
            <ac:spMk id="2" creationId="{31AA7CD0-CC71-9BAD-071F-385CA565EBD9}"/>
          </ac:spMkLst>
        </pc:spChg>
        <pc:spChg chg="add mod">
          <ac:chgData name="Sima Dey" userId="02a73a2d382345c1" providerId="LiveId" clId="{F3B85651-CD69-4B9D-8E9B-C7D65433B488}" dt="2026-07-27T06:21:33.334" v="1240" actId="20577"/>
          <ac:spMkLst>
            <pc:docMk/>
            <pc:sldMk cId="281014576" sldId="317"/>
            <ac:spMk id="4" creationId="{DEEE571F-3177-E7BF-B7A2-4EBAC93DB549}"/>
          </ac:spMkLst>
        </pc:spChg>
      </pc:sldChg>
      <pc:sldChg chg="addSp modSp new mod">
        <pc:chgData name="Sima Dey" userId="02a73a2d382345c1" providerId="LiveId" clId="{F3B85651-CD69-4B9D-8E9B-C7D65433B488}" dt="2026-07-27T06:24:22.128" v="1261" actId="20577"/>
        <pc:sldMkLst>
          <pc:docMk/>
          <pc:sldMk cId="2320120503" sldId="318"/>
        </pc:sldMkLst>
        <pc:spChg chg="mod">
          <ac:chgData name="Sima Dey" userId="02a73a2d382345c1" providerId="LiveId" clId="{F3B85651-CD69-4B9D-8E9B-C7D65433B488}" dt="2026-07-27T06:22:49.044" v="1247"/>
          <ac:spMkLst>
            <pc:docMk/>
            <pc:sldMk cId="2320120503" sldId="318"/>
            <ac:spMk id="2" creationId="{E70DD5B1-D42B-54EE-AAA9-61B33AD8E643}"/>
          </ac:spMkLst>
        </pc:spChg>
        <pc:spChg chg="add mod">
          <ac:chgData name="Sima Dey" userId="02a73a2d382345c1" providerId="LiveId" clId="{F3B85651-CD69-4B9D-8E9B-C7D65433B488}" dt="2026-07-27T06:24:22.128" v="1261" actId="20577"/>
          <ac:spMkLst>
            <pc:docMk/>
            <pc:sldMk cId="2320120503" sldId="318"/>
            <ac:spMk id="4" creationId="{9B17572C-662D-1929-0BA5-E4818351DE76}"/>
          </ac:spMkLst>
        </pc:spChg>
      </pc:sldChg>
      <pc:sldChg chg="addSp modSp new mod">
        <pc:chgData name="Sima Dey" userId="02a73a2d382345c1" providerId="LiveId" clId="{F3B85651-CD69-4B9D-8E9B-C7D65433B488}" dt="2026-07-27T06:25:49.577" v="1273" actId="20577"/>
        <pc:sldMkLst>
          <pc:docMk/>
          <pc:sldMk cId="2397710404" sldId="319"/>
        </pc:sldMkLst>
        <pc:spChg chg="mod">
          <ac:chgData name="Sima Dey" userId="02a73a2d382345c1" providerId="LiveId" clId="{F3B85651-CD69-4B9D-8E9B-C7D65433B488}" dt="2026-07-27T06:25:27.451" v="1267"/>
          <ac:spMkLst>
            <pc:docMk/>
            <pc:sldMk cId="2397710404" sldId="319"/>
            <ac:spMk id="2" creationId="{434B4262-73CB-12E4-9736-AFCE787CA7FD}"/>
          </ac:spMkLst>
        </pc:spChg>
        <pc:spChg chg="add mod">
          <ac:chgData name="Sima Dey" userId="02a73a2d382345c1" providerId="LiveId" clId="{F3B85651-CD69-4B9D-8E9B-C7D65433B488}" dt="2026-07-27T06:25:49.577" v="1273" actId="20577"/>
          <ac:spMkLst>
            <pc:docMk/>
            <pc:sldMk cId="2397710404" sldId="319"/>
            <ac:spMk id="4" creationId="{4BE97C93-FCAE-B502-083A-37179287E831}"/>
          </ac:spMkLst>
        </pc:spChg>
      </pc:sldChg>
      <pc:sldChg chg="addSp modSp new mod">
        <pc:chgData name="Sima Dey" userId="02a73a2d382345c1" providerId="LiveId" clId="{F3B85651-CD69-4B9D-8E9B-C7D65433B488}" dt="2026-07-27T06:29:41.525" v="1285" actId="14100"/>
        <pc:sldMkLst>
          <pc:docMk/>
          <pc:sldMk cId="3831920982" sldId="320"/>
        </pc:sldMkLst>
        <pc:spChg chg="mod">
          <ac:chgData name="Sima Dey" userId="02a73a2d382345c1" providerId="LiveId" clId="{F3B85651-CD69-4B9D-8E9B-C7D65433B488}" dt="2026-07-27T06:28:54.578" v="1279"/>
          <ac:spMkLst>
            <pc:docMk/>
            <pc:sldMk cId="3831920982" sldId="320"/>
            <ac:spMk id="2" creationId="{351405A3-8484-50CE-0B42-F4378FC69588}"/>
          </ac:spMkLst>
        </pc:spChg>
        <pc:spChg chg="add mod">
          <ac:chgData name="Sima Dey" userId="02a73a2d382345c1" providerId="LiveId" clId="{F3B85651-CD69-4B9D-8E9B-C7D65433B488}" dt="2026-07-27T06:29:41.525" v="1285" actId="14100"/>
          <ac:spMkLst>
            <pc:docMk/>
            <pc:sldMk cId="3831920982" sldId="320"/>
            <ac:spMk id="4" creationId="{3A7ADFB1-DC97-3331-1D54-0E72BAC1992E}"/>
          </ac:spMkLst>
        </pc:spChg>
      </pc:sldChg>
      <pc:sldChg chg="addSp modSp new mod">
        <pc:chgData name="Sima Dey" userId="02a73a2d382345c1" providerId="LiveId" clId="{F3B85651-CD69-4B9D-8E9B-C7D65433B488}" dt="2026-07-27T06:31:52.649" v="1328" actId="20577"/>
        <pc:sldMkLst>
          <pc:docMk/>
          <pc:sldMk cId="2752789384" sldId="321"/>
        </pc:sldMkLst>
        <pc:spChg chg="mod">
          <ac:chgData name="Sima Dey" userId="02a73a2d382345c1" providerId="LiveId" clId="{F3B85651-CD69-4B9D-8E9B-C7D65433B488}" dt="2026-07-27T06:31:52.649" v="1328" actId="20577"/>
          <ac:spMkLst>
            <pc:docMk/>
            <pc:sldMk cId="2752789384" sldId="321"/>
            <ac:spMk id="2" creationId="{6FF6E8A9-8DB3-ADB3-4BF0-65AF0383AA09}"/>
          </ac:spMkLst>
        </pc:spChg>
        <pc:spChg chg="add mod">
          <ac:chgData name="Sima Dey" userId="02a73a2d382345c1" providerId="LiveId" clId="{F3B85651-CD69-4B9D-8E9B-C7D65433B488}" dt="2026-07-27T06:31:13.213" v="1293" actId="1076"/>
          <ac:spMkLst>
            <pc:docMk/>
            <pc:sldMk cId="2752789384" sldId="321"/>
            <ac:spMk id="4" creationId="{601ED4C4-A6AB-2E70-2A17-B58AA76DE4E4}"/>
          </ac:spMkLst>
        </pc:spChg>
      </pc:sldChg>
      <pc:sldChg chg="addSp modSp new mod">
        <pc:chgData name="Sima Dey" userId="02a73a2d382345c1" providerId="LiveId" clId="{F3B85651-CD69-4B9D-8E9B-C7D65433B488}" dt="2026-07-27T06:32:51.736" v="1336" actId="20577"/>
        <pc:sldMkLst>
          <pc:docMk/>
          <pc:sldMk cId="2368337423" sldId="322"/>
        </pc:sldMkLst>
        <pc:spChg chg="mod">
          <ac:chgData name="Sima Dey" userId="02a73a2d382345c1" providerId="LiveId" clId="{F3B85651-CD69-4B9D-8E9B-C7D65433B488}" dt="2026-07-27T06:32:27.624" v="1331"/>
          <ac:spMkLst>
            <pc:docMk/>
            <pc:sldMk cId="2368337423" sldId="322"/>
            <ac:spMk id="2" creationId="{6768A1B8-F463-69EB-7FDA-DD932EBDCAA7}"/>
          </ac:spMkLst>
        </pc:spChg>
        <pc:spChg chg="add mod">
          <ac:chgData name="Sima Dey" userId="02a73a2d382345c1" providerId="LiveId" clId="{F3B85651-CD69-4B9D-8E9B-C7D65433B488}" dt="2026-07-27T06:32:51.736" v="1336" actId="20577"/>
          <ac:spMkLst>
            <pc:docMk/>
            <pc:sldMk cId="2368337423" sldId="322"/>
            <ac:spMk id="4" creationId="{8B534CB4-0168-825D-F18F-BC54A72EA0D0}"/>
          </ac:spMkLst>
        </pc:spChg>
      </pc:sldChg>
      <pc:sldChg chg="addSp modSp new mod">
        <pc:chgData name="Sima Dey" userId="02a73a2d382345c1" providerId="LiveId" clId="{F3B85651-CD69-4B9D-8E9B-C7D65433B488}" dt="2026-07-27T06:34:32.811" v="1344" actId="1076"/>
        <pc:sldMkLst>
          <pc:docMk/>
          <pc:sldMk cId="3311945317" sldId="323"/>
        </pc:sldMkLst>
        <pc:spChg chg="mod">
          <ac:chgData name="Sima Dey" userId="02a73a2d382345c1" providerId="LiveId" clId="{F3B85651-CD69-4B9D-8E9B-C7D65433B488}" dt="2026-07-27T06:33:53.508" v="1338"/>
          <ac:spMkLst>
            <pc:docMk/>
            <pc:sldMk cId="3311945317" sldId="323"/>
            <ac:spMk id="2" creationId="{AF37FE9B-FFEC-4A55-B489-2CD1FA9AAC68}"/>
          </ac:spMkLst>
        </pc:spChg>
        <pc:spChg chg="add mod">
          <ac:chgData name="Sima Dey" userId="02a73a2d382345c1" providerId="LiveId" clId="{F3B85651-CD69-4B9D-8E9B-C7D65433B488}" dt="2026-07-27T06:34:32.811" v="1344" actId="1076"/>
          <ac:spMkLst>
            <pc:docMk/>
            <pc:sldMk cId="3311945317" sldId="323"/>
            <ac:spMk id="4" creationId="{681F632E-244D-5FA0-F9DA-903A60655A9C}"/>
          </ac:spMkLst>
        </pc:spChg>
      </pc:sldChg>
      <pc:sldChg chg="addSp modSp new mod">
        <pc:chgData name="Sima Dey" userId="02a73a2d382345c1" providerId="LiveId" clId="{F3B85651-CD69-4B9D-8E9B-C7D65433B488}" dt="2026-07-27T06:35:56.703" v="1356" actId="20577"/>
        <pc:sldMkLst>
          <pc:docMk/>
          <pc:sldMk cId="1180465123" sldId="324"/>
        </pc:sldMkLst>
        <pc:spChg chg="mod">
          <ac:chgData name="Sima Dey" userId="02a73a2d382345c1" providerId="LiveId" clId="{F3B85651-CD69-4B9D-8E9B-C7D65433B488}" dt="2026-07-27T06:35:09.435" v="1349"/>
          <ac:spMkLst>
            <pc:docMk/>
            <pc:sldMk cId="1180465123" sldId="324"/>
            <ac:spMk id="2" creationId="{CB87FB51-7191-5C09-1EE7-8F15FF897567}"/>
          </ac:spMkLst>
        </pc:spChg>
        <pc:spChg chg="add mod">
          <ac:chgData name="Sima Dey" userId="02a73a2d382345c1" providerId="LiveId" clId="{F3B85651-CD69-4B9D-8E9B-C7D65433B488}" dt="2026-07-27T06:35:56.703" v="1356" actId="20577"/>
          <ac:spMkLst>
            <pc:docMk/>
            <pc:sldMk cId="1180465123" sldId="324"/>
            <ac:spMk id="4" creationId="{5ADAFE64-FDC2-73C6-9979-DF57FF8F6A5A}"/>
          </ac:spMkLst>
        </pc:spChg>
      </pc:sldChg>
      <pc:sldChg chg="addSp modSp new mod">
        <pc:chgData name="Sima Dey" userId="02a73a2d382345c1" providerId="LiveId" clId="{F3B85651-CD69-4B9D-8E9B-C7D65433B488}" dt="2026-07-27T06:40:24.432" v="1365" actId="5793"/>
        <pc:sldMkLst>
          <pc:docMk/>
          <pc:sldMk cId="711045555" sldId="325"/>
        </pc:sldMkLst>
        <pc:spChg chg="mod">
          <ac:chgData name="Sima Dey" userId="02a73a2d382345c1" providerId="LiveId" clId="{F3B85651-CD69-4B9D-8E9B-C7D65433B488}" dt="2026-07-27T06:39:56.923" v="1359"/>
          <ac:spMkLst>
            <pc:docMk/>
            <pc:sldMk cId="711045555" sldId="325"/>
            <ac:spMk id="2" creationId="{B6FBD769-978F-A26E-D350-8067A287D289}"/>
          </ac:spMkLst>
        </pc:spChg>
        <pc:spChg chg="add mod">
          <ac:chgData name="Sima Dey" userId="02a73a2d382345c1" providerId="LiveId" clId="{F3B85651-CD69-4B9D-8E9B-C7D65433B488}" dt="2026-07-27T06:40:24.432" v="1365" actId="5793"/>
          <ac:spMkLst>
            <pc:docMk/>
            <pc:sldMk cId="711045555" sldId="325"/>
            <ac:spMk id="4" creationId="{DA068A50-9AD7-0F0A-1956-5C2837C7B7CC}"/>
          </ac:spMkLst>
        </pc:spChg>
      </pc:sldChg>
      <pc:sldChg chg="addSp modSp new mod">
        <pc:chgData name="Sima Dey" userId="02a73a2d382345c1" providerId="LiveId" clId="{F3B85651-CD69-4B9D-8E9B-C7D65433B488}" dt="2026-07-27T06:42:29.177" v="1388" actId="14100"/>
        <pc:sldMkLst>
          <pc:docMk/>
          <pc:sldMk cId="2905066702" sldId="326"/>
        </pc:sldMkLst>
        <pc:spChg chg="mod">
          <ac:chgData name="Sima Dey" userId="02a73a2d382345c1" providerId="LiveId" clId="{F3B85651-CD69-4B9D-8E9B-C7D65433B488}" dt="2026-07-27T06:41:53.147" v="1381"/>
          <ac:spMkLst>
            <pc:docMk/>
            <pc:sldMk cId="2905066702" sldId="326"/>
            <ac:spMk id="2" creationId="{4F6A5BCB-F60F-4AD9-A7E4-AB3D5DA616F2}"/>
          </ac:spMkLst>
        </pc:spChg>
        <pc:spChg chg="add mod">
          <ac:chgData name="Sima Dey" userId="02a73a2d382345c1" providerId="LiveId" clId="{F3B85651-CD69-4B9D-8E9B-C7D65433B488}" dt="2026-07-27T06:42:29.177" v="1388" actId="14100"/>
          <ac:spMkLst>
            <pc:docMk/>
            <pc:sldMk cId="2905066702" sldId="326"/>
            <ac:spMk id="4" creationId="{BD543CB8-B8F5-CF76-237D-EAE45C9C3D36}"/>
          </ac:spMkLst>
        </pc:spChg>
      </pc:sldChg>
      <pc:sldChg chg="addSp modSp new mod">
        <pc:chgData name="Sima Dey" userId="02a73a2d382345c1" providerId="LiveId" clId="{F3B85651-CD69-4B9D-8E9B-C7D65433B488}" dt="2026-07-27T06:43:43.884" v="1397" actId="1076"/>
        <pc:sldMkLst>
          <pc:docMk/>
          <pc:sldMk cId="1363859721" sldId="327"/>
        </pc:sldMkLst>
        <pc:spChg chg="mod">
          <ac:chgData name="Sima Dey" userId="02a73a2d382345c1" providerId="LiveId" clId="{F3B85651-CD69-4B9D-8E9B-C7D65433B488}" dt="2026-07-27T06:42:50.876" v="1390"/>
          <ac:spMkLst>
            <pc:docMk/>
            <pc:sldMk cId="1363859721" sldId="327"/>
            <ac:spMk id="2" creationId="{D51DA2B7-0B52-0B07-9429-525A3A9E45B4}"/>
          </ac:spMkLst>
        </pc:spChg>
        <pc:spChg chg="add mod">
          <ac:chgData name="Sima Dey" userId="02a73a2d382345c1" providerId="LiveId" clId="{F3B85651-CD69-4B9D-8E9B-C7D65433B488}" dt="2026-07-27T06:43:43.884" v="1397" actId="1076"/>
          <ac:spMkLst>
            <pc:docMk/>
            <pc:sldMk cId="1363859721" sldId="327"/>
            <ac:spMk id="4" creationId="{4243BD55-76B8-E6CD-689C-A9AADF72CA5F}"/>
          </ac:spMkLst>
        </pc:spChg>
      </pc:sldChg>
      <pc:sldChg chg="addSp modSp new mod">
        <pc:chgData name="Sima Dey" userId="02a73a2d382345c1" providerId="LiveId" clId="{F3B85651-CD69-4B9D-8E9B-C7D65433B488}" dt="2026-07-27T06:44:52.178" v="1408" actId="1076"/>
        <pc:sldMkLst>
          <pc:docMk/>
          <pc:sldMk cId="1094119048" sldId="328"/>
        </pc:sldMkLst>
        <pc:spChg chg="mod">
          <ac:chgData name="Sima Dey" userId="02a73a2d382345c1" providerId="LiveId" clId="{F3B85651-CD69-4B9D-8E9B-C7D65433B488}" dt="2026-07-27T06:44:24.377" v="1403"/>
          <ac:spMkLst>
            <pc:docMk/>
            <pc:sldMk cId="1094119048" sldId="328"/>
            <ac:spMk id="2" creationId="{479DC11D-3F8B-C39A-0301-F6B469E6E9A9}"/>
          </ac:spMkLst>
        </pc:spChg>
        <pc:spChg chg="add mod">
          <ac:chgData name="Sima Dey" userId="02a73a2d382345c1" providerId="LiveId" clId="{F3B85651-CD69-4B9D-8E9B-C7D65433B488}" dt="2026-07-27T06:44:52.178" v="1408" actId="1076"/>
          <ac:spMkLst>
            <pc:docMk/>
            <pc:sldMk cId="1094119048" sldId="328"/>
            <ac:spMk id="4" creationId="{494EC2EA-B5C7-C07A-1A0D-1F27B63EC314}"/>
          </ac:spMkLst>
        </pc:spChg>
      </pc:sldChg>
      <pc:sldChg chg="addSp modSp new">
        <pc:chgData name="Sima Dey" userId="02a73a2d382345c1" providerId="LiveId" clId="{F3B85651-CD69-4B9D-8E9B-C7D65433B488}" dt="2026-07-27T06:45:39.315" v="1413"/>
        <pc:sldMkLst>
          <pc:docMk/>
          <pc:sldMk cId="2543627372" sldId="329"/>
        </pc:sldMkLst>
        <pc:spChg chg="mod">
          <ac:chgData name="Sima Dey" userId="02a73a2d382345c1" providerId="LiveId" clId="{F3B85651-CD69-4B9D-8E9B-C7D65433B488}" dt="2026-07-27T06:45:13.400" v="1410"/>
          <ac:spMkLst>
            <pc:docMk/>
            <pc:sldMk cId="2543627372" sldId="329"/>
            <ac:spMk id="2" creationId="{C1759BE2-C48B-F098-9612-DD53942FDDB9}"/>
          </ac:spMkLst>
        </pc:spChg>
        <pc:graphicFrameChg chg="add mod">
          <ac:chgData name="Sima Dey" userId="02a73a2d382345c1" providerId="LiveId" clId="{F3B85651-CD69-4B9D-8E9B-C7D65433B488}" dt="2026-07-27T06:45:39.315" v="1413"/>
          <ac:graphicFrameMkLst>
            <pc:docMk/>
            <pc:sldMk cId="2543627372" sldId="329"/>
            <ac:graphicFrameMk id="3" creationId="{8E0CE3E4-5B48-9F61-A196-01EC9848B9DC}"/>
          </ac:graphicFrameMkLst>
        </pc:graphicFrameChg>
      </pc:sldChg>
      <pc:sldChg chg="delSp modSp new mod">
        <pc:chgData name="Sima Dey" userId="02a73a2d382345c1" providerId="LiveId" clId="{F3B85651-CD69-4B9D-8E9B-C7D65433B488}" dt="2026-07-27T06:47:05.337" v="1453" actId="478"/>
        <pc:sldMkLst>
          <pc:docMk/>
          <pc:sldMk cId="1023679696" sldId="330"/>
        </pc:sldMkLst>
        <pc:spChg chg="mod">
          <ac:chgData name="Sima Dey" userId="02a73a2d382345c1" providerId="LiveId" clId="{F3B85651-CD69-4B9D-8E9B-C7D65433B488}" dt="2026-07-27T06:46:54.516" v="1452" actId="122"/>
          <ac:spMkLst>
            <pc:docMk/>
            <pc:sldMk cId="1023679696" sldId="330"/>
            <ac:spMk id="2" creationId="{FD28A3C0-DB12-AFC9-E56F-C87967D2A8DF}"/>
          </ac:spMkLst>
        </pc:spChg>
        <pc:spChg chg="del">
          <ac:chgData name="Sima Dey" userId="02a73a2d382345c1" providerId="LiveId" clId="{F3B85651-CD69-4B9D-8E9B-C7D65433B488}" dt="2026-07-27T06:47:05.337" v="1453" actId="478"/>
          <ac:spMkLst>
            <pc:docMk/>
            <pc:sldMk cId="1023679696" sldId="330"/>
            <ac:spMk id="3" creationId="{BF2E095D-2365-8248-7278-D97B4AF3B114}"/>
          </ac:spMkLst>
        </pc:spChg>
      </pc:sldChg>
      <pc:sldChg chg="new del">
        <pc:chgData name="Sima Dey" userId="02a73a2d382345c1" providerId="LiveId" clId="{F3B85651-CD69-4B9D-8E9B-C7D65433B488}" dt="2026-07-27T06:45:53.024" v="1417" actId="680"/>
        <pc:sldMkLst>
          <pc:docMk/>
          <pc:sldMk cId="3302088597" sldId="330"/>
        </pc:sldMkLst>
      </pc:sldChg>
      <pc:sldChg chg="new del">
        <pc:chgData name="Sima Dey" userId="02a73a2d382345c1" providerId="LiveId" clId="{F3B85651-CD69-4B9D-8E9B-C7D65433B488}" dt="2026-07-27T06:45:48.039" v="1415" actId="680"/>
        <pc:sldMkLst>
          <pc:docMk/>
          <pc:sldMk cId="3399018623" sldId="33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85AAFF-4CE3-432E-9BE3-9CEF041624CF}" type="datetimeFigureOut">
              <a:rPr lang="en-IN" smtClean="0"/>
              <a:t>27-07-2026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37DCA2-7EC2-45BB-B8FB-ECCFD15C1580}" type="slidenum">
              <a:rPr lang="en-IN" smtClean="0"/>
              <a:t>‹#›</a:t>
            </a:fld>
            <a:endParaRPr lang="en-IN"/>
          </a:p>
        </p:txBody>
      </p:sp>
    </p:spTree>
    <p:extLst>
      <p:ext uri="{BB962C8B-B14F-4D97-AF65-F5344CB8AC3E}">
        <p14:creationId xmlns:p14="http://schemas.microsoft.com/office/powerpoint/2010/main" val="582580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F37DCA2-7EC2-45BB-B8FB-ECCFD15C1580}" type="slidenum">
              <a:rPr lang="en-IN" smtClean="0"/>
              <a:t>17</a:t>
            </a:fld>
            <a:endParaRPr lang="en-IN"/>
          </a:p>
        </p:txBody>
      </p:sp>
    </p:spTree>
    <p:extLst>
      <p:ext uri="{BB962C8B-B14F-4D97-AF65-F5344CB8AC3E}">
        <p14:creationId xmlns:p14="http://schemas.microsoft.com/office/powerpoint/2010/main" val="644612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F37DCA2-7EC2-45BB-B8FB-ECCFD15C1580}" type="slidenum">
              <a:rPr lang="en-IN" smtClean="0"/>
              <a:t>41</a:t>
            </a:fld>
            <a:endParaRPr lang="en-IN"/>
          </a:p>
        </p:txBody>
      </p:sp>
    </p:spTree>
    <p:extLst>
      <p:ext uri="{BB962C8B-B14F-4D97-AF65-F5344CB8AC3E}">
        <p14:creationId xmlns:p14="http://schemas.microsoft.com/office/powerpoint/2010/main" val="36832732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7/27/2026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7/27/2026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7/27/2026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7/27/2026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7/27/2026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7/27/2026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7/27/2026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7/27/2026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7/27/2026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7/27/2026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7/27/2026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7/27/2026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7/27/2026</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7/27/2026</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88186-C340-6F9D-E134-8CCE53622A55}"/>
              </a:ext>
            </a:extLst>
          </p:cNvPr>
          <p:cNvSpPr>
            <a:spLocks noGrp="1"/>
          </p:cNvSpPr>
          <p:nvPr>
            <p:ph type="ctrTitle"/>
          </p:nvPr>
        </p:nvSpPr>
        <p:spPr>
          <a:xfrm>
            <a:off x="118872" y="2742465"/>
            <a:ext cx="8851392" cy="1373070"/>
          </a:xfrm>
        </p:spPr>
        <p:txBody>
          <a:bodyPr/>
          <a:lstStyle/>
          <a:p>
            <a:r>
              <a:rPr lang="en-US" dirty="0"/>
              <a:t>INFORMATION TECHNOLOGY</a:t>
            </a:r>
            <a:endParaRPr lang="en-IN" dirty="0"/>
          </a:p>
        </p:txBody>
      </p:sp>
      <p:sp>
        <p:nvSpPr>
          <p:cNvPr id="3" name="Subtitle 2">
            <a:extLst>
              <a:ext uri="{FF2B5EF4-FFF2-40B4-BE49-F238E27FC236}">
                <a16:creationId xmlns:a16="http://schemas.microsoft.com/office/drawing/2014/main" id="{AEA7EFFB-5F36-3661-56C2-9728D046EFDE}"/>
              </a:ext>
            </a:extLst>
          </p:cNvPr>
          <p:cNvSpPr>
            <a:spLocks noGrp="1"/>
          </p:cNvSpPr>
          <p:nvPr>
            <p:ph type="subTitle" idx="1"/>
          </p:nvPr>
        </p:nvSpPr>
        <p:spPr/>
        <p:txBody>
          <a:bodyPr/>
          <a:lstStyle/>
          <a:p>
            <a:r>
              <a:rPr lang="en-US" dirty="0"/>
              <a:t>Presented By: Mousam Dey</a:t>
            </a:r>
            <a:endParaRPr lang="en-IN" dirty="0"/>
          </a:p>
        </p:txBody>
      </p:sp>
    </p:spTree>
    <p:extLst>
      <p:ext uri="{BB962C8B-B14F-4D97-AF65-F5344CB8AC3E}">
        <p14:creationId xmlns:p14="http://schemas.microsoft.com/office/powerpoint/2010/main" val="1583875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7F003-42C5-813F-570B-9D53AD05E598}"/>
              </a:ext>
            </a:extLst>
          </p:cNvPr>
          <p:cNvSpPr>
            <a:spLocks noGrp="1"/>
          </p:cNvSpPr>
          <p:nvPr>
            <p:ph type="title"/>
          </p:nvPr>
        </p:nvSpPr>
        <p:spPr>
          <a:xfrm>
            <a:off x="241409" y="533772"/>
            <a:ext cx="9613861" cy="1080938"/>
          </a:xfrm>
        </p:spPr>
        <p:txBody>
          <a:bodyPr/>
          <a:lstStyle/>
          <a:p>
            <a:r>
              <a:rPr lang="en-IN" dirty="0"/>
              <a:t>What is Information Technology?</a:t>
            </a:r>
          </a:p>
        </p:txBody>
      </p:sp>
      <p:sp>
        <p:nvSpPr>
          <p:cNvPr id="6" name="TextBox 5">
            <a:extLst>
              <a:ext uri="{FF2B5EF4-FFF2-40B4-BE49-F238E27FC236}">
                <a16:creationId xmlns:a16="http://schemas.microsoft.com/office/drawing/2014/main" id="{EDA7500F-7BDA-8E95-77AE-C0D2988EC32A}"/>
              </a:ext>
            </a:extLst>
          </p:cNvPr>
          <p:cNvSpPr txBox="1"/>
          <p:nvPr/>
        </p:nvSpPr>
        <p:spPr>
          <a:xfrm>
            <a:off x="418258" y="2095994"/>
            <a:ext cx="8675370" cy="1569660"/>
          </a:xfrm>
          <a:prstGeom prst="rect">
            <a:avLst/>
          </a:prstGeom>
          <a:noFill/>
        </p:spPr>
        <p:txBody>
          <a:bodyPr wrap="square">
            <a:spAutoFit/>
          </a:bodyPr>
          <a:lstStyle/>
          <a:p>
            <a:pPr>
              <a:buNone/>
            </a:pPr>
            <a:r>
              <a:rPr lang="en-IN" sz="2400" dirty="0"/>
              <a:t>Information Technology (IT) refers to the use of computers, software, databases, communication networks, and digital technologies to collect, process, store, secure, and exchange information.</a:t>
            </a:r>
          </a:p>
        </p:txBody>
      </p:sp>
      <p:sp>
        <p:nvSpPr>
          <p:cNvPr id="8" name="TextBox 7">
            <a:extLst>
              <a:ext uri="{FF2B5EF4-FFF2-40B4-BE49-F238E27FC236}">
                <a16:creationId xmlns:a16="http://schemas.microsoft.com/office/drawing/2014/main" id="{2A6B346E-3C2D-4C85-F713-0F023BBA2B73}"/>
              </a:ext>
            </a:extLst>
          </p:cNvPr>
          <p:cNvSpPr txBox="1"/>
          <p:nvPr/>
        </p:nvSpPr>
        <p:spPr>
          <a:xfrm>
            <a:off x="419421" y="3896966"/>
            <a:ext cx="5775158" cy="2308324"/>
          </a:xfrm>
          <a:prstGeom prst="rect">
            <a:avLst/>
          </a:prstGeom>
          <a:noFill/>
        </p:spPr>
        <p:txBody>
          <a:bodyPr wrap="square">
            <a:spAutoFit/>
          </a:bodyPr>
          <a:lstStyle/>
          <a:p>
            <a:pPr>
              <a:buNone/>
            </a:pPr>
            <a:r>
              <a:rPr lang="en-IN" sz="2400" b="1" dirty="0"/>
              <a:t>Key Functions</a:t>
            </a:r>
          </a:p>
          <a:p>
            <a:pPr>
              <a:buFont typeface="Arial" panose="020B0604020202020204" pitchFamily="34" charset="0"/>
              <a:buChar char="•"/>
            </a:pPr>
            <a:r>
              <a:rPr lang="en-IN" sz="2400" dirty="0"/>
              <a:t>Data Storage </a:t>
            </a:r>
          </a:p>
          <a:p>
            <a:pPr>
              <a:buFont typeface="Arial" panose="020B0604020202020204" pitchFamily="34" charset="0"/>
              <a:buChar char="•"/>
            </a:pPr>
            <a:r>
              <a:rPr lang="en-IN" sz="2400" dirty="0"/>
              <a:t>Data Processing </a:t>
            </a:r>
          </a:p>
          <a:p>
            <a:pPr>
              <a:buFont typeface="Arial" panose="020B0604020202020204" pitchFamily="34" charset="0"/>
              <a:buChar char="•"/>
            </a:pPr>
            <a:r>
              <a:rPr lang="en-IN" sz="2400" dirty="0"/>
              <a:t>Communication </a:t>
            </a:r>
          </a:p>
          <a:p>
            <a:pPr>
              <a:buFont typeface="Arial" panose="020B0604020202020204" pitchFamily="34" charset="0"/>
              <a:buChar char="•"/>
            </a:pPr>
            <a:r>
              <a:rPr lang="en-IN" sz="2400" dirty="0"/>
              <a:t>Automation </a:t>
            </a:r>
          </a:p>
          <a:p>
            <a:pPr>
              <a:buFont typeface="Arial" panose="020B0604020202020204" pitchFamily="34" charset="0"/>
              <a:buChar char="•"/>
            </a:pPr>
            <a:r>
              <a:rPr lang="en-IN" sz="2400" dirty="0"/>
              <a:t>Security</a:t>
            </a:r>
          </a:p>
        </p:txBody>
      </p:sp>
    </p:spTree>
    <p:extLst>
      <p:ext uri="{BB962C8B-B14F-4D97-AF65-F5344CB8AC3E}">
        <p14:creationId xmlns:p14="http://schemas.microsoft.com/office/powerpoint/2010/main" val="2306871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504CB-E94C-8645-63C4-9ED0C83F7EC5}"/>
              </a:ext>
            </a:extLst>
          </p:cNvPr>
          <p:cNvSpPr>
            <a:spLocks noGrp="1"/>
          </p:cNvSpPr>
          <p:nvPr>
            <p:ph type="title"/>
          </p:nvPr>
        </p:nvSpPr>
        <p:spPr/>
        <p:txBody>
          <a:bodyPr/>
          <a:lstStyle/>
          <a:p>
            <a:r>
              <a:rPr lang="en-US" dirty="0"/>
              <a:t>INFORMATION TECHNOLOGY VS COMPUTER SCEINCE</a:t>
            </a:r>
            <a:endParaRPr lang="en-IN" dirty="0"/>
          </a:p>
        </p:txBody>
      </p:sp>
      <p:graphicFrame>
        <p:nvGraphicFramePr>
          <p:cNvPr id="11" name="Table 10">
            <a:extLst>
              <a:ext uri="{FF2B5EF4-FFF2-40B4-BE49-F238E27FC236}">
                <a16:creationId xmlns:a16="http://schemas.microsoft.com/office/drawing/2014/main" id="{59F8A81D-E52C-788E-A407-C6864E4D4B16}"/>
              </a:ext>
            </a:extLst>
          </p:cNvPr>
          <p:cNvGraphicFramePr>
            <a:graphicFrameLocks noGrp="1"/>
          </p:cNvGraphicFramePr>
          <p:nvPr>
            <p:extLst>
              <p:ext uri="{D42A27DB-BD31-4B8C-83A1-F6EECF244321}">
                <p14:modId xmlns:p14="http://schemas.microsoft.com/office/powerpoint/2010/main" val="1171850521"/>
              </p:ext>
            </p:extLst>
          </p:nvPr>
        </p:nvGraphicFramePr>
        <p:xfrm>
          <a:off x="914400" y="1997741"/>
          <a:ext cx="9780833" cy="4107031"/>
        </p:xfrm>
        <a:graphic>
          <a:graphicData uri="http://schemas.openxmlformats.org/drawingml/2006/table">
            <a:tbl>
              <a:tblPr/>
              <a:tblGrid>
                <a:gridCol w="4973883">
                  <a:extLst>
                    <a:ext uri="{9D8B030D-6E8A-4147-A177-3AD203B41FA5}">
                      <a16:colId xmlns:a16="http://schemas.microsoft.com/office/drawing/2014/main" val="4002897293"/>
                    </a:ext>
                  </a:extLst>
                </a:gridCol>
                <a:gridCol w="4806950">
                  <a:extLst>
                    <a:ext uri="{9D8B030D-6E8A-4147-A177-3AD203B41FA5}">
                      <a16:colId xmlns:a16="http://schemas.microsoft.com/office/drawing/2014/main" val="549494987"/>
                    </a:ext>
                  </a:extLst>
                </a:gridCol>
              </a:tblGrid>
              <a:tr h="834190">
                <a:tc>
                  <a:txBody>
                    <a:bodyPr/>
                    <a:lstStyle/>
                    <a:p>
                      <a:pPr>
                        <a:buNone/>
                      </a:pPr>
                      <a:r>
                        <a:rPr lang="en-IN" sz="2700" dirty="0"/>
                        <a:t>Information Technology</a:t>
                      </a:r>
                    </a:p>
                  </a:txBody>
                  <a:tcPr anchor="ctr">
                    <a:lnL>
                      <a:noFill/>
                    </a:lnL>
                    <a:lnR>
                      <a:noFill/>
                    </a:lnR>
                    <a:lnT>
                      <a:noFill/>
                    </a:lnT>
                    <a:lnB>
                      <a:noFill/>
                    </a:lnB>
                    <a:noFill/>
                  </a:tcPr>
                </a:tc>
                <a:tc>
                  <a:txBody>
                    <a:bodyPr/>
                    <a:lstStyle/>
                    <a:p>
                      <a:pPr>
                        <a:buNone/>
                      </a:pPr>
                      <a:r>
                        <a:rPr lang="en-IN" sz="2700" dirty="0"/>
                        <a:t>Computer Science</a:t>
                      </a:r>
                    </a:p>
                  </a:txBody>
                  <a:tcPr anchor="ctr">
                    <a:lnL>
                      <a:noFill/>
                    </a:lnL>
                    <a:lnR>
                      <a:noFill/>
                    </a:lnR>
                    <a:lnT>
                      <a:noFill/>
                    </a:lnT>
                    <a:lnB>
                      <a:noFill/>
                    </a:lnB>
                    <a:noFill/>
                  </a:tcPr>
                </a:tc>
                <a:extLst>
                  <a:ext uri="{0D108BD9-81ED-4DB2-BD59-A6C34878D82A}">
                    <a16:rowId xmlns:a16="http://schemas.microsoft.com/office/drawing/2014/main" val="2794188402"/>
                  </a:ext>
                </a:extLst>
              </a:tr>
              <a:tr h="904245">
                <a:tc>
                  <a:txBody>
                    <a:bodyPr/>
                    <a:lstStyle/>
                    <a:p>
                      <a:pPr>
                        <a:buNone/>
                      </a:pPr>
                      <a:r>
                        <a:rPr lang="en-IN" sz="2400" dirty="0"/>
                        <a:t>Focuses on implementing technology</a:t>
                      </a:r>
                    </a:p>
                  </a:txBody>
                  <a:tcPr anchor="ctr">
                    <a:lnL>
                      <a:noFill/>
                    </a:lnL>
                    <a:lnR>
                      <a:noFill/>
                    </a:lnR>
                    <a:lnT>
                      <a:noFill/>
                    </a:lnT>
                    <a:lnB>
                      <a:noFill/>
                    </a:lnB>
                    <a:noFill/>
                  </a:tcPr>
                </a:tc>
                <a:tc>
                  <a:txBody>
                    <a:bodyPr/>
                    <a:lstStyle/>
                    <a:p>
                      <a:pPr>
                        <a:buNone/>
                      </a:pPr>
                      <a:r>
                        <a:rPr lang="en-IN" sz="2400" dirty="0"/>
                        <a:t>Focuses on creating technology</a:t>
                      </a:r>
                    </a:p>
                  </a:txBody>
                  <a:tcPr anchor="ctr">
                    <a:lnL>
                      <a:noFill/>
                    </a:lnL>
                    <a:lnR>
                      <a:noFill/>
                    </a:lnR>
                    <a:lnT>
                      <a:noFill/>
                    </a:lnT>
                    <a:lnB>
                      <a:noFill/>
                    </a:lnB>
                    <a:noFill/>
                  </a:tcPr>
                </a:tc>
                <a:extLst>
                  <a:ext uri="{0D108BD9-81ED-4DB2-BD59-A6C34878D82A}">
                    <a16:rowId xmlns:a16="http://schemas.microsoft.com/office/drawing/2014/main" val="3565898921"/>
                  </a:ext>
                </a:extLst>
              </a:tr>
              <a:tr h="592149">
                <a:tc>
                  <a:txBody>
                    <a:bodyPr/>
                    <a:lstStyle/>
                    <a:p>
                      <a:pPr>
                        <a:buNone/>
                      </a:pPr>
                      <a:r>
                        <a:rPr lang="en-IN" sz="2400" dirty="0"/>
                        <a:t>Network administration</a:t>
                      </a:r>
                    </a:p>
                  </a:txBody>
                  <a:tcPr anchor="ctr">
                    <a:lnL>
                      <a:noFill/>
                    </a:lnL>
                    <a:lnR>
                      <a:noFill/>
                    </a:lnR>
                    <a:lnT>
                      <a:noFill/>
                    </a:lnT>
                    <a:lnB>
                      <a:noFill/>
                    </a:lnB>
                    <a:noFill/>
                  </a:tcPr>
                </a:tc>
                <a:tc>
                  <a:txBody>
                    <a:bodyPr/>
                    <a:lstStyle/>
                    <a:p>
                      <a:pPr>
                        <a:buNone/>
                      </a:pPr>
                      <a:r>
                        <a:rPr lang="en-IN" sz="2400" dirty="0"/>
                        <a:t>Algorithm design</a:t>
                      </a:r>
                    </a:p>
                  </a:txBody>
                  <a:tcPr anchor="ctr">
                    <a:lnL>
                      <a:noFill/>
                    </a:lnL>
                    <a:lnR>
                      <a:noFill/>
                    </a:lnR>
                    <a:lnT>
                      <a:noFill/>
                    </a:lnT>
                    <a:lnB>
                      <a:noFill/>
                    </a:lnB>
                    <a:noFill/>
                  </a:tcPr>
                </a:tc>
                <a:extLst>
                  <a:ext uri="{0D108BD9-81ED-4DB2-BD59-A6C34878D82A}">
                    <a16:rowId xmlns:a16="http://schemas.microsoft.com/office/drawing/2014/main" val="3540492370"/>
                  </a:ext>
                </a:extLst>
              </a:tr>
              <a:tr h="592149">
                <a:tc>
                  <a:txBody>
                    <a:bodyPr/>
                    <a:lstStyle/>
                    <a:p>
                      <a:pPr>
                        <a:buNone/>
                      </a:pPr>
                      <a:r>
                        <a:rPr lang="en-IN" sz="2400" dirty="0"/>
                        <a:t>System maintenance</a:t>
                      </a:r>
                    </a:p>
                  </a:txBody>
                  <a:tcPr anchor="ctr">
                    <a:lnL>
                      <a:noFill/>
                    </a:lnL>
                    <a:lnR>
                      <a:noFill/>
                    </a:lnR>
                    <a:lnT>
                      <a:noFill/>
                    </a:lnT>
                    <a:lnB>
                      <a:noFill/>
                    </a:lnB>
                    <a:noFill/>
                  </a:tcPr>
                </a:tc>
                <a:tc>
                  <a:txBody>
                    <a:bodyPr/>
                    <a:lstStyle/>
                    <a:p>
                      <a:pPr>
                        <a:buNone/>
                      </a:pPr>
                      <a:r>
                        <a:rPr lang="en-IN" sz="2400" dirty="0"/>
                        <a:t>Software development</a:t>
                      </a:r>
                    </a:p>
                  </a:txBody>
                  <a:tcPr anchor="ctr">
                    <a:lnL>
                      <a:noFill/>
                    </a:lnL>
                    <a:lnR>
                      <a:noFill/>
                    </a:lnR>
                    <a:lnT>
                      <a:noFill/>
                    </a:lnT>
                    <a:lnB>
                      <a:noFill/>
                    </a:lnB>
                    <a:noFill/>
                  </a:tcPr>
                </a:tc>
                <a:extLst>
                  <a:ext uri="{0D108BD9-81ED-4DB2-BD59-A6C34878D82A}">
                    <a16:rowId xmlns:a16="http://schemas.microsoft.com/office/drawing/2014/main" val="2308244076"/>
                  </a:ext>
                </a:extLst>
              </a:tr>
              <a:tr h="592149">
                <a:tc>
                  <a:txBody>
                    <a:bodyPr/>
                    <a:lstStyle/>
                    <a:p>
                      <a:pPr>
                        <a:buNone/>
                      </a:pPr>
                      <a:r>
                        <a:rPr lang="en-IN" sz="2400" dirty="0"/>
                        <a:t>Database management</a:t>
                      </a:r>
                    </a:p>
                  </a:txBody>
                  <a:tcPr anchor="ctr">
                    <a:lnL>
                      <a:noFill/>
                    </a:lnL>
                    <a:lnR>
                      <a:noFill/>
                    </a:lnR>
                    <a:lnT>
                      <a:noFill/>
                    </a:lnT>
                    <a:lnB>
                      <a:noFill/>
                    </a:lnB>
                    <a:noFill/>
                  </a:tcPr>
                </a:tc>
                <a:tc>
                  <a:txBody>
                    <a:bodyPr/>
                    <a:lstStyle/>
                    <a:p>
                      <a:pPr>
                        <a:buNone/>
                      </a:pPr>
                      <a:r>
                        <a:rPr lang="en-IN" sz="2400" dirty="0"/>
                        <a:t>Programming languages</a:t>
                      </a:r>
                    </a:p>
                  </a:txBody>
                  <a:tcPr anchor="ctr">
                    <a:lnL>
                      <a:noFill/>
                    </a:lnL>
                    <a:lnR>
                      <a:noFill/>
                    </a:lnR>
                    <a:lnT>
                      <a:noFill/>
                    </a:lnT>
                    <a:lnB>
                      <a:noFill/>
                    </a:lnB>
                    <a:noFill/>
                  </a:tcPr>
                </a:tc>
                <a:extLst>
                  <a:ext uri="{0D108BD9-81ED-4DB2-BD59-A6C34878D82A}">
                    <a16:rowId xmlns:a16="http://schemas.microsoft.com/office/drawing/2014/main" val="593715653"/>
                  </a:ext>
                </a:extLst>
              </a:tr>
              <a:tr h="592149">
                <a:tc>
                  <a:txBody>
                    <a:bodyPr/>
                    <a:lstStyle/>
                    <a:p>
                      <a:pPr>
                        <a:buNone/>
                      </a:pPr>
                      <a:r>
                        <a:rPr lang="en-IN" sz="2400" dirty="0"/>
                        <a:t>Technical support</a:t>
                      </a:r>
                    </a:p>
                  </a:txBody>
                  <a:tcPr anchor="ctr">
                    <a:lnL>
                      <a:noFill/>
                    </a:lnL>
                    <a:lnR>
                      <a:noFill/>
                    </a:lnR>
                    <a:lnT>
                      <a:noFill/>
                    </a:lnT>
                    <a:lnB>
                      <a:noFill/>
                    </a:lnB>
                    <a:noFill/>
                  </a:tcPr>
                </a:tc>
                <a:tc>
                  <a:txBody>
                    <a:bodyPr/>
                    <a:lstStyle/>
                    <a:p>
                      <a:pPr>
                        <a:buNone/>
                      </a:pPr>
                      <a:r>
                        <a:rPr lang="en-IN" sz="2400" dirty="0"/>
                        <a:t>Artificial Intelligence</a:t>
                      </a:r>
                    </a:p>
                  </a:txBody>
                  <a:tcPr anchor="ctr">
                    <a:lnL>
                      <a:noFill/>
                    </a:lnL>
                    <a:lnR>
                      <a:noFill/>
                    </a:lnR>
                    <a:lnT>
                      <a:noFill/>
                    </a:lnT>
                    <a:lnB>
                      <a:noFill/>
                    </a:lnB>
                    <a:noFill/>
                  </a:tcPr>
                </a:tc>
                <a:extLst>
                  <a:ext uri="{0D108BD9-81ED-4DB2-BD59-A6C34878D82A}">
                    <a16:rowId xmlns:a16="http://schemas.microsoft.com/office/drawing/2014/main" val="4254565118"/>
                  </a:ext>
                </a:extLst>
              </a:tr>
            </a:tbl>
          </a:graphicData>
        </a:graphic>
      </p:graphicFrame>
    </p:spTree>
    <p:extLst>
      <p:ext uri="{BB962C8B-B14F-4D97-AF65-F5344CB8AC3E}">
        <p14:creationId xmlns:p14="http://schemas.microsoft.com/office/powerpoint/2010/main" val="1080589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101F3-1309-4CCB-9BE5-2AD6671F4B91}"/>
              </a:ext>
            </a:extLst>
          </p:cNvPr>
          <p:cNvSpPr>
            <a:spLocks noGrp="1"/>
          </p:cNvSpPr>
          <p:nvPr>
            <p:ph type="title"/>
          </p:nvPr>
        </p:nvSpPr>
        <p:spPr/>
        <p:txBody>
          <a:bodyPr/>
          <a:lstStyle/>
          <a:p>
            <a:r>
              <a:rPr lang="en-IN" dirty="0"/>
              <a:t>Importance of Information Technology</a:t>
            </a:r>
          </a:p>
        </p:txBody>
      </p:sp>
      <p:sp>
        <p:nvSpPr>
          <p:cNvPr id="4" name="TextBox 3">
            <a:extLst>
              <a:ext uri="{FF2B5EF4-FFF2-40B4-BE49-F238E27FC236}">
                <a16:creationId xmlns:a16="http://schemas.microsoft.com/office/drawing/2014/main" id="{C17BB7CC-00C0-0E45-04CD-E9376FA4028E}"/>
              </a:ext>
            </a:extLst>
          </p:cNvPr>
          <p:cNvSpPr txBox="1"/>
          <p:nvPr/>
        </p:nvSpPr>
        <p:spPr>
          <a:xfrm>
            <a:off x="569976" y="2102665"/>
            <a:ext cx="6580632" cy="3785652"/>
          </a:xfrm>
          <a:prstGeom prst="rect">
            <a:avLst/>
          </a:prstGeom>
          <a:noFill/>
        </p:spPr>
        <p:txBody>
          <a:bodyPr wrap="square">
            <a:spAutoFit/>
          </a:bodyPr>
          <a:lstStyle/>
          <a:p>
            <a:pPr marL="342900" indent="-342900">
              <a:buFont typeface="Arial" panose="020B0604020202020204" pitchFamily="34" charset="0"/>
              <a:buChar char="•"/>
            </a:pPr>
            <a:r>
              <a:rPr lang="en-IN" sz="2400" dirty="0"/>
              <a:t>Automates repetitive tasks.</a:t>
            </a:r>
          </a:p>
          <a:p>
            <a:pPr marL="342900" indent="-342900">
              <a:buFont typeface="Arial" panose="020B0604020202020204" pitchFamily="34" charset="0"/>
              <a:buChar char="•"/>
            </a:pPr>
            <a:r>
              <a:rPr lang="en-IN" sz="2400" dirty="0"/>
              <a:t> Saves time and operational costs. </a:t>
            </a:r>
          </a:p>
          <a:p>
            <a:pPr marL="342900" indent="-342900">
              <a:buFont typeface="Arial" panose="020B0604020202020204" pitchFamily="34" charset="0"/>
              <a:buChar char="•"/>
            </a:pPr>
            <a:r>
              <a:rPr lang="en-IN" sz="2400" dirty="0"/>
              <a:t>Enables instant communication. </a:t>
            </a:r>
          </a:p>
          <a:p>
            <a:pPr marL="342900" indent="-342900">
              <a:buFont typeface="Arial" panose="020B0604020202020204" pitchFamily="34" charset="0"/>
              <a:buChar char="•"/>
            </a:pPr>
            <a:r>
              <a:rPr lang="en-IN" sz="2400" dirty="0"/>
              <a:t>Supports online education.</a:t>
            </a:r>
          </a:p>
          <a:p>
            <a:pPr marL="342900" indent="-342900">
              <a:buFont typeface="Arial" panose="020B0604020202020204" pitchFamily="34" charset="0"/>
              <a:buChar char="•"/>
            </a:pPr>
            <a:r>
              <a:rPr lang="en-IN" sz="2400" dirty="0"/>
              <a:t>Improves healthcare services. </a:t>
            </a:r>
          </a:p>
          <a:p>
            <a:pPr marL="342900" indent="-342900">
              <a:buFont typeface="Arial" panose="020B0604020202020204" pitchFamily="34" charset="0"/>
              <a:buChar char="•"/>
            </a:pPr>
            <a:r>
              <a:rPr lang="en-IN" sz="2400" dirty="0"/>
              <a:t>Facilitates secure online banking. </a:t>
            </a:r>
          </a:p>
          <a:p>
            <a:pPr marL="342900" indent="-342900">
              <a:buFont typeface="Arial" panose="020B0604020202020204" pitchFamily="34" charset="0"/>
              <a:buChar char="•"/>
            </a:pPr>
            <a:r>
              <a:rPr lang="en-IN" sz="2400" dirty="0"/>
              <a:t>Enhances decision-making using data analytics. </a:t>
            </a:r>
          </a:p>
          <a:p>
            <a:pPr marL="342900" indent="-342900">
              <a:buFont typeface="Arial" panose="020B0604020202020204" pitchFamily="34" charset="0"/>
              <a:buChar char="•"/>
            </a:pPr>
            <a:r>
              <a:rPr lang="en-IN" sz="2400" dirty="0"/>
              <a:t>Connects people globally through the Internet.</a:t>
            </a:r>
          </a:p>
        </p:txBody>
      </p:sp>
    </p:spTree>
    <p:extLst>
      <p:ext uri="{BB962C8B-B14F-4D97-AF65-F5344CB8AC3E}">
        <p14:creationId xmlns:p14="http://schemas.microsoft.com/office/powerpoint/2010/main" val="2602632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42585-2EBB-BD31-A724-57E930E1E817}"/>
              </a:ext>
            </a:extLst>
          </p:cNvPr>
          <p:cNvSpPr>
            <a:spLocks noGrp="1"/>
          </p:cNvSpPr>
          <p:nvPr>
            <p:ph type="title"/>
          </p:nvPr>
        </p:nvSpPr>
        <p:spPr/>
        <p:txBody>
          <a:bodyPr/>
          <a:lstStyle/>
          <a:p>
            <a:r>
              <a:rPr lang="en-IN" dirty="0"/>
              <a:t>Applications of Information Technology</a:t>
            </a:r>
          </a:p>
        </p:txBody>
      </p:sp>
      <p:sp>
        <p:nvSpPr>
          <p:cNvPr id="4" name="TextBox 3">
            <a:extLst>
              <a:ext uri="{FF2B5EF4-FFF2-40B4-BE49-F238E27FC236}">
                <a16:creationId xmlns:a16="http://schemas.microsoft.com/office/drawing/2014/main" id="{F6837DB6-E47A-15A7-3CB2-B9431DD4013D}"/>
              </a:ext>
            </a:extLst>
          </p:cNvPr>
          <p:cNvSpPr txBox="1"/>
          <p:nvPr/>
        </p:nvSpPr>
        <p:spPr>
          <a:xfrm>
            <a:off x="477774" y="2077688"/>
            <a:ext cx="6094476" cy="1938992"/>
          </a:xfrm>
          <a:prstGeom prst="rect">
            <a:avLst/>
          </a:prstGeom>
          <a:noFill/>
        </p:spPr>
        <p:txBody>
          <a:bodyPr wrap="square">
            <a:spAutoFit/>
          </a:bodyPr>
          <a:lstStyle/>
          <a:p>
            <a:pPr>
              <a:buNone/>
            </a:pPr>
            <a:r>
              <a:rPr lang="en-IN" sz="2400" b="1" dirty="0"/>
              <a:t>Business</a:t>
            </a:r>
          </a:p>
          <a:p>
            <a:pPr>
              <a:buFont typeface="Arial" panose="020B0604020202020204" pitchFamily="34" charset="0"/>
              <a:buChar char="•"/>
            </a:pPr>
            <a:r>
              <a:rPr lang="en-IN" sz="2400" dirty="0"/>
              <a:t>Enterprise Resource Planning (ERP) </a:t>
            </a:r>
          </a:p>
          <a:p>
            <a:pPr>
              <a:buFont typeface="Arial" panose="020B0604020202020204" pitchFamily="34" charset="0"/>
              <a:buChar char="•"/>
            </a:pPr>
            <a:r>
              <a:rPr lang="en-IN" sz="2400" dirty="0"/>
              <a:t>Customer Relationship Management (CRM) </a:t>
            </a:r>
          </a:p>
          <a:p>
            <a:pPr>
              <a:buFont typeface="Arial" panose="020B0604020202020204" pitchFamily="34" charset="0"/>
              <a:buChar char="•"/>
            </a:pPr>
            <a:r>
              <a:rPr lang="en-IN" sz="2400" dirty="0"/>
              <a:t>Inventory Management </a:t>
            </a:r>
          </a:p>
          <a:p>
            <a:pPr>
              <a:buFont typeface="Arial" panose="020B0604020202020204" pitchFamily="34" charset="0"/>
              <a:buChar char="•"/>
            </a:pPr>
            <a:r>
              <a:rPr lang="en-IN" sz="2400" dirty="0"/>
              <a:t>Payroll Systems</a:t>
            </a:r>
          </a:p>
        </p:txBody>
      </p:sp>
      <p:sp>
        <p:nvSpPr>
          <p:cNvPr id="6" name="TextBox 5">
            <a:extLst>
              <a:ext uri="{FF2B5EF4-FFF2-40B4-BE49-F238E27FC236}">
                <a16:creationId xmlns:a16="http://schemas.microsoft.com/office/drawing/2014/main" id="{CCB9BFF8-E81C-8997-8A9A-D8649E8D6E25}"/>
              </a:ext>
            </a:extLst>
          </p:cNvPr>
          <p:cNvSpPr txBox="1"/>
          <p:nvPr/>
        </p:nvSpPr>
        <p:spPr>
          <a:xfrm>
            <a:off x="477774" y="4165780"/>
            <a:ext cx="7614666" cy="1938992"/>
          </a:xfrm>
          <a:prstGeom prst="rect">
            <a:avLst/>
          </a:prstGeom>
          <a:noFill/>
        </p:spPr>
        <p:txBody>
          <a:bodyPr wrap="square">
            <a:spAutoFit/>
          </a:bodyPr>
          <a:lstStyle/>
          <a:p>
            <a:pPr>
              <a:buNone/>
            </a:pPr>
            <a:r>
              <a:rPr lang="en-IN" sz="2400" b="1" dirty="0"/>
              <a:t>Healthcare</a:t>
            </a:r>
          </a:p>
          <a:p>
            <a:pPr>
              <a:buFont typeface="Arial" panose="020B0604020202020204" pitchFamily="34" charset="0"/>
              <a:buChar char="•"/>
            </a:pPr>
            <a:r>
              <a:rPr lang="en-IN" sz="2400" dirty="0"/>
              <a:t>Electronic Medical Records </a:t>
            </a:r>
          </a:p>
          <a:p>
            <a:pPr>
              <a:buFont typeface="Arial" panose="020B0604020202020204" pitchFamily="34" charset="0"/>
              <a:buChar char="•"/>
            </a:pPr>
            <a:r>
              <a:rPr lang="en-IN" sz="2400" dirty="0"/>
              <a:t>Online Consultation </a:t>
            </a:r>
          </a:p>
          <a:p>
            <a:pPr>
              <a:buFont typeface="Arial" panose="020B0604020202020204" pitchFamily="34" charset="0"/>
              <a:buChar char="•"/>
            </a:pPr>
            <a:r>
              <a:rPr lang="en-IN" sz="2400" dirty="0"/>
              <a:t>Medical Imaging </a:t>
            </a:r>
          </a:p>
          <a:p>
            <a:pPr>
              <a:buFont typeface="Arial" panose="020B0604020202020204" pitchFamily="34" charset="0"/>
              <a:buChar char="•"/>
            </a:pPr>
            <a:r>
              <a:rPr lang="en-IN" sz="2400" dirty="0"/>
              <a:t>Hospital Management Systems </a:t>
            </a:r>
          </a:p>
        </p:txBody>
      </p:sp>
    </p:spTree>
    <p:extLst>
      <p:ext uri="{BB962C8B-B14F-4D97-AF65-F5344CB8AC3E}">
        <p14:creationId xmlns:p14="http://schemas.microsoft.com/office/powerpoint/2010/main" val="4262897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BC085F-59BD-9F3F-C514-E95B74CA0E77}"/>
              </a:ext>
            </a:extLst>
          </p:cNvPr>
          <p:cNvSpPr txBox="1"/>
          <p:nvPr/>
        </p:nvSpPr>
        <p:spPr>
          <a:xfrm>
            <a:off x="669798" y="428178"/>
            <a:ext cx="6094476" cy="6001643"/>
          </a:xfrm>
          <a:prstGeom prst="rect">
            <a:avLst/>
          </a:prstGeom>
          <a:noFill/>
        </p:spPr>
        <p:txBody>
          <a:bodyPr wrap="square">
            <a:spAutoFit/>
          </a:bodyPr>
          <a:lstStyle/>
          <a:p>
            <a:pPr>
              <a:buNone/>
            </a:pPr>
            <a:r>
              <a:rPr lang="en-IN" sz="2400" b="1" dirty="0"/>
              <a:t>Education</a:t>
            </a:r>
          </a:p>
          <a:p>
            <a:pPr>
              <a:buFont typeface="Arial" panose="020B0604020202020204" pitchFamily="34" charset="0"/>
              <a:buChar char="•"/>
            </a:pPr>
            <a:r>
              <a:rPr lang="en-IN" sz="2400" dirty="0"/>
              <a:t>Learning Management Systems </a:t>
            </a:r>
          </a:p>
          <a:p>
            <a:pPr>
              <a:buFont typeface="Arial" panose="020B0604020202020204" pitchFamily="34" charset="0"/>
              <a:buChar char="•"/>
            </a:pPr>
            <a:r>
              <a:rPr lang="en-IN" sz="2400" dirty="0"/>
              <a:t>Virtual Classrooms </a:t>
            </a:r>
          </a:p>
          <a:p>
            <a:pPr>
              <a:buFont typeface="Arial" panose="020B0604020202020204" pitchFamily="34" charset="0"/>
              <a:buChar char="•"/>
            </a:pPr>
            <a:r>
              <a:rPr lang="en-IN" sz="2400" dirty="0"/>
              <a:t>Digital Libraries </a:t>
            </a:r>
          </a:p>
          <a:p>
            <a:pPr>
              <a:buFont typeface="Arial" panose="020B0604020202020204" pitchFamily="34" charset="0"/>
              <a:buChar char="•"/>
            </a:pPr>
            <a:r>
              <a:rPr lang="en-IN" sz="2400" dirty="0"/>
              <a:t>Online Examinations </a:t>
            </a:r>
          </a:p>
          <a:p>
            <a:pPr>
              <a:buFont typeface="Arial" panose="020B0604020202020204" pitchFamily="34" charset="0"/>
              <a:buChar char="•"/>
            </a:pPr>
            <a:endParaRPr lang="en-IN" sz="2400" dirty="0"/>
          </a:p>
          <a:p>
            <a:pPr>
              <a:buNone/>
            </a:pPr>
            <a:r>
              <a:rPr lang="en-IN" sz="2400" b="1" dirty="0"/>
              <a:t>Banking</a:t>
            </a:r>
          </a:p>
          <a:p>
            <a:pPr>
              <a:buFont typeface="Arial" panose="020B0604020202020204" pitchFamily="34" charset="0"/>
              <a:buChar char="•"/>
            </a:pPr>
            <a:r>
              <a:rPr lang="en-IN" sz="2400" dirty="0"/>
              <a:t>Internet Banking </a:t>
            </a:r>
          </a:p>
          <a:p>
            <a:pPr>
              <a:buFont typeface="Arial" panose="020B0604020202020204" pitchFamily="34" charset="0"/>
              <a:buChar char="•"/>
            </a:pPr>
            <a:r>
              <a:rPr lang="en-IN" sz="2400" dirty="0"/>
              <a:t>Mobile Banking </a:t>
            </a:r>
          </a:p>
          <a:p>
            <a:pPr>
              <a:buFont typeface="Arial" panose="020B0604020202020204" pitchFamily="34" charset="0"/>
              <a:buChar char="•"/>
            </a:pPr>
            <a:r>
              <a:rPr lang="en-IN" sz="2400" dirty="0"/>
              <a:t>ATMs </a:t>
            </a:r>
          </a:p>
          <a:p>
            <a:pPr>
              <a:buFont typeface="Arial" panose="020B0604020202020204" pitchFamily="34" charset="0"/>
              <a:buChar char="•"/>
            </a:pPr>
            <a:r>
              <a:rPr lang="en-IN" sz="2400" dirty="0"/>
              <a:t>Fraud Detection </a:t>
            </a:r>
          </a:p>
          <a:p>
            <a:pPr>
              <a:buFont typeface="Arial" panose="020B0604020202020204" pitchFamily="34" charset="0"/>
              <a:buChar char="•"/>
            </a:pPr>
            <a:endParaRPr lang="en-IN" sz="2400" dirty="0"/>
          </a:p>
          <a:p>
            <a:pPr>
              <a:buNone/>
            </a:pPr>
            <a:r>
              <a:rPr lang="en-IN" sz="2400" b="1" dirty="0"/>
              <a:t>Entertainment</a:t>
            </a:r>
          </a:p>
          <a:p>
            <a:pPr>
              <a:buFont typeface="Arial" panose="020B0604020202020204" pitchFamily="34" charset="0"/>
              <a:buChar char="•"/>
            </a:pPr>
            <a:r>
              <a:rPr lang="en-IN" sz="2400" dirty="0"/>
              <a:t>Streaming Services </a:t>
            </a:r>
          </a:p>
          <a:p>
            <a:pPr>
              <a:buFont typeface="Arial" panose="020B0604020202020204" pitchFamily="34" charset="0"/>
              <a:buChar char="•"/>
            </a:pPr>
            <a:r>
              <a:rPr lang="en-IN" sz="2400" dirty="0"/>
              <a:t>Online Gaming </a:t>
            </a:r>
          </a:p>
          <a:p>
            <a:pPr>
              <a:buFont typeface="Arial" panose="020B0604020202020204" pitchFamily="34" charset="0"/>
              <a:buChar char="•"/>
            </a:pPr>
            <a:r>
              <a:rPr lang="en-IN" sz="2400" dirty="0"/>
              <a:t>Digital Content Creation</a:t>
            </a:r>
          </a:p>
        </p:txBody>
      </p:sp>
    </p:spTree>
    <p:extLst>
      <p:ext uri="{BB962C8B-B14F-4D97-AF65-F5344CB8AC3E}">
        <p14:creationId xmlns:p14="http://schemas.microsoft.com/office/powerpoint/2010/main" val="4243306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2C4C3-6003-FDAE-8FA6-F1F1D88217F9}"/>
              </a:ext>
            </a:extLst>
          </p:cNvPr>
          <p:cNvSpPr>
            <a:spLocks noGrp="1"/>
          </p:cNvSpPr>
          <p:nvPr>
            <p:ph type="title"/>
          </p:nvPr>
        </p:nvSpPr>
        <p:spPr>
          <a:xfrm>
            <a:off x="707753" y="771516"/>
            <a:ext cx="9613861" cy="1080938"/>
          </a:xfrm>
        </p:spPr>
        <p:txBody>
          <a:bodyPr/>
          <a:lstStyle/>
          <a:p>
            <a:r>
              <a:rPr lang="en-IN" dirty="0"/>
              <a:t>Core Components of Information Technology</a:t>
            </a:r>
          </a:p>
        </p:txBody>
      </p:sp>
      <p:sp>
        <p:nvSpPr>
          <p:cNvPr id="4" name="TextBox 3">
            <a:extLst>
              <a:ext uri="{FF2B5EF4-FFF2-40B4-BE49-F238E27FC236}">
                <a16:creationId xmlns:a16="http://schemas.microsoft.com/office/drawing/2014/main" id="{DA5C8C48-879E-F159-3791-9B239E29FA48}"/>
              </a:ext>
            </a:extLst>
          </p:cNvPr>
          <p:cNvSpPr txBox="1"/>
          <p:nvPr/>
        </p:nvSpPr>
        <p:spPr>
          <a:xfrm>
            <a:off x="853059" y="2247817"/>
            <a:ext cx="10485882" cy="3477875"/>
          </a:xfrm>
          <a:prstGeom prst="rect">
            <a:avLst/>
          </a:prstGeom>
          <a:noFill/>
        </p:spPr>
        <p:txBody>
          <a:bodyPr wrap="square">
            <a:spAutoFit/>
          </a:bodyPr>
          <a:lstStyle/>
          <a:p>
            <a:pPr>
              <a:buNone/>
            </a:pPr>
            <a:r>
              <a:rPr lang="en-IN" sz="2000" b="1" dirty="0"/>
              <a:t>1. Hardware</a:t>
            </a:r>
          </a:p>
          <a:p>
            <a:pPr>
              <a:buNone/>
            </a:pPr>
            <a:r>
              <a:rPr lang="en-IN" sz="2000" dirty="0"/>
              <a:t>Physical devices such as computers, servers, keyboards, printers, and storage devices.</a:t>
            </a:r>
          </a:p>
          <a:p>
            <a:pPr>
              <a:buNone/>
            </a:pPr>
            <a:r>
              <a:rPr lang="en-IN" sz="2000" b="1" dirty="0"/>
              <a:t>2. Software</a:t>
            </a:r>
          </a:p>
          <a:p>
            <a:pPr>
              <a:buNone/>
            </a:pPr>
            <a:r>
              <a:rPr lang="en-IN" sz="2000" dirty="0"/>
              <a:t>Operating systems and application programs that perform specific tasks.</a:t>
            </a:r>
          </a:p>
          <a:p>
            <a:pPr>
              <a:buNone/>
            </a:pPr>
            <a:r>
              <a:rPr lang="en-IN" sz="2000" b="1" dirty="0"/>
              <a:t>3. Networking</a:t>
            </a:r>
          </a:p>
          <a:p>
            <a:pPr>
              <a:buNone/>
            </a:pPr>
            <a:r>
              <a:rPr lang="en-IN" sz="2000" dirty="0"/>
              <a:t>Connects computers and devices to share information and resources.</a:t>
            </a:r>
          </a:p>
          <a:p>
            <a:pPr>
              <a:buNone/>
            </a:pPr>
            <a:r>
              <a:rPr lang="en-IN" sz="2000" b="1" dirty="0"/>
              <a:t>4. Data</a:t>
            </a:r>
          </a:p>
          <a:p>
            <a:pPr>
              <a:buNone/>
            </a:pPr>
            <a:r>
              <a:rPr lang="en-IN" sz="2000" dirty="0"/>
              <a:t>Raw facts that are processed into useful information for decision-making.</a:t>
            </a:r>
          </a:p>
          <a:p>
            <a:pPr>
              <a:buNone/>
            </a:pPr>
            <a:r>
              <a:rPr lang="en-IN" sz="2000" b="1" dirty="0"/>
              <a:t>5. People &amp; Processes</a:t>
            </a:r>
          </a:p>
          <a:p>
            <a:pPr>
              <a:buNone/>
            </a:pPr>
            <a:r>
              <a:rPr lang="en-IN" sz="2000" dirty="0"/>
              <a:t>Users, IT professionals, managers, and business procedures that ensure systems operate effectively.</a:t>
            </a:r>
          </a:p>
        </p:txBody>
      </p:sp>
    </p:spTree>
    <p:extLst>
      <p:ext uri="{BB962C8B-B14F-4D97-AF65-F5344CB8AC3E}">
        <p14:creationId xmlns:p14="http://schemas.microsoft.com/office/powerpoint/2010/main" val="2963451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F13D0-A4B0-221E-C456-C8CF7CE35492}"/>
              </a:ext>
            </a:extLst>
          </p:cNvPr>
          <p:cNvSpPr>
            <a:spLocks noGrp="1"/>
          </p:cNvSpPr>
          <p:nvPr>
            <p:ph type="title"/>
          </p:nvPr>
        </p:nvSpPr>
        <p:spPr/>
        <p:txBody>
          <a:bodyPr/>
          <a:lstStyle/>
          <a:p>
            <a:r>
              <a:rPr lang="en-IN" dirty="0"/>
              <a:t>Computer Hardware</a:t>
            </a:r>
          </a:p>
        </p:txBody>
      </p:sp>
      <p:sp>
        <p:nvSpPr>
          <p:cNvPr id="4" name="TextBox 3">
            <a:extLst>
              <a:ext uri="{FF2B5EF4-FFF2-40B4-BE49-F238E27FC236}">
                <a16:creationId xmlns:a16="http://schemas.microsoft.com/office/drawing/2014/main" id="{67122254-225B-1AD7-830D-8D4D9682EA0A}"/>
              </a:ext>
            </a:extLst>
          </p:cNvPr>
          <p:cNvSpPr txBox="1"/>
          <p:nvPr/>
        </p:nvSpPr>
        <p:spPr>
          <a:xfrm>
            <a:off x="844913" y="1943894"/>
            <a:ext cx="8783719" cy="4801314"/>
          </a:xfrm>
          <a:prstGeom prst="rect">
            <a:avLst/>
          </a:prstGeom>
          <a:noFill/>
        </p:spPr>
        <p:txBody>
          <a:bodyPr wrap="square">
            <a:spAutoFit/>
          </a:bodyPr>
          <a:lstStyle/>
          <a:p>
            <a:pPr>
              <a:buNone/>
            </a:pPr>
            <a:r>
              <a:rPr lang="en-IN" b="1" dirty="0"/>
              <a:t>Computer Hardware</a:t>
            </a:r>
          </a:p>
          <a:p>
            <a:pPr>
              <a:buNone/>
            </a:pPr>
            <a:r>
              <a:rPr lang="en-IN" dirty="0"/>
              <a:t>Hardware refers to the physical components of a computer system.</a:t>
            </a:r>
          </a:p>
          <a:p>
            <a:pPr>
              <a:buNone/>
            </a:pPr>
            <a:endParaRPr lang="en-IN" dirty="0"/>
          </a:p>
          <a:p>
            <a:pPr>
              <a:buNone/>
            </a:pPr>
            <a:r>
              <a:rPr lang="en-IN" b="1" dirty="0"/>
              <a:t>Input Devices</a:t>
            </a:r>
          </a:p>
          <a:p>
            <a:pPr>
              <a:buFont typeface="Arial" panose="020B0604020202020204" pitchFamily="34" charset="0"/>
              <a:buChar char="•"/>
            </a:pPr>
            <a:r>
              <a:rPr lang="en-IN" dirty="0"/>
              <a:t>Keyboard </a:t>
            </a:r>
          </a:p>
          <a:p>
            <a:pPr>
              <a:buFont typeface="Arial" panose="020B0604020202020204" pitchFamily="34" charset="0"/>
              <a:buChar char="•"/>
            </a:pPr>
            <a:r>
              <a:rPr lang="en-IN" dirty="0"/>
              <a:t>Mouse </a:t>
            </a:r>
          </a:p>
          <a:p>
            <a:pPr>
              <a:buFont typeface="Arial" panose="020B0604020202020204" pitchFamily="34" charset="0"/>
              <a:buChar char="•"/>
            </a:pPr>
            <a:r>
              <a:rPr lang="en-IN" dirty="0"/>
              <a:t>Scanner </a:t>
            </a:r>
          </a:p>
          <a:p>
            <a:pPr>
              <a:buNone/>
            </a:pPr>
            <a:r>
              <a:rPr lang="en-IN" b="1" dirty="0"/>
              <a:t>Output Devices</a:t>
            </a:r>
          </a:p>
          <a:p>
            <a:pPr>
              <a:buFont typeface="Arial" panose="020B0604020202020204" pitchFamily="34" charset="0"/>
              <a:buChar char="•"/>
            </a:pPr>
            <a:r>
              <a:rPr lang="en-IN" dirty="0"/>
              <a:t>Monitor </a:t>
            </a:r>
          </a:p>
          <a:p>
            <a:pPr>
              <a:buFont typeface="Arial" panose="020B0604020202020204" pitchFamily="34" charset="0"/>
              <a:buChar char="•"/>
            </a:pPr>
            <a:r>
              <a:rPr lang="en-IN" dirty="0"/>
              <a:t>Printer </a:t>
            </a:r>
          </a:p>
          <a:p>
            <a:pPr>
              <a:buFont typeface="Arial" panose="020B0604020202020204" pitchFamily="34" charset="0"/>
              <a:buChar char="•"/>
            </a:pPr>
            <a:r>
              <a:rPr lang="en-IN" dirty="0"/>
              <a:t>Speakers </a:t>
            </a:r>
          </a:p>
          <a:p>
            <a:pPr>
              <a:buNone/>
            </a:pPr>
            <a:r>
              <a:rPr lang="en-IN" b="1" dirty="0"/>
              <a:t>CPU (Central Processing Unit)</a:t>
            </a:r>
          </a:p>
          <a:p>
            <a:pPr>
              <a:buNone/>
            </a:pPr>
            <a:r>
              <a:rPr lang="en-IN" b="1" dirty="0"/>
              <a:t>Storage Devices</a:t>
            </a:r>
          </a:p>
          <a:p>
            <a:pPr>
              <a:buFont typeface="Arial" panose="020B0604020202020204" pitchFamily="34" charset="0"/>
              <a:buChar char="•"/>
            </a:pPr>
            <a:r>
              <a:rPr lang="en-IN" dirty="0"/>
              <a:t>Hard Disk Drive </a:t>
            </a:r>
          </a:p>
          <a:p>
            <a:pPr>
              <a:buFont typeface="Arial" panose="020B0604020202020204" pitchFamily="34" charset="0"/>
              <a:buChar char="•"/>
            </a:pPr>
            <a:r>
              <a:rPr lang="en-IN" dirty="0"/>
              <a:t>DVD </a:t>
            </a:r>
          </a:p>
          <a:p>
            <a:pPr>
              <a:buNone/>
            </a:pPr>
            <a:r>
              <a:rPr lang="en-IN" b="1" dirty="0"/>
              <a:t>Memory</a:t>
            </a:r>
          </a:p>
          <a:p>
            <a:pPr>
              <a:buFont typeface="Arial" panose="020B0604020202020204" pitchFamily="34" charset="0"/>
              <a:buChar char="•"/>
            </a:pPr>
            <a:r>
              <a:rPr lang="en-IN" dirty="0"/>
              <a:t>RAM and ROM</a:t>
            </a:r>
          </a:p>
        </p:txBody>
      </p:sp>
    </p:spTree>
    <p:extLst>
      <p:ext uri="{BB962C8B-B14F-4D97-AF65-F5344CB8AC3E}">
        <p14:creationId xmlns:p14="http://schemas.microsoft.com/office/powerpoint/2010/main" val="1934847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9DBFF-A09D-B149-6E12-3F0E0F3660C7}"/>
              </a:ext>
            </a:extLst>
          </p:cNvPr>
          <p:cNvSpPr>
            <a:spLocks noGrp="1"/>
          </p:cNvSpPr>
          <p:nvPr>
            <p:ph type="title"/>
          </p:nvPr>
        </p:nvSpPr>
        <p:spPr/>
        <p:txBody>
          <a:bodyPr/>
          <a:lstStyle/>
          <a:p>
            <a:r>
              <a:rPr lang="en-IN" dirty="0"/>
              <a:t>Computer Software</a:t>
            </a:r>
          </a:p>
        </p:txBody>
      </p:sp>
      <p:sp>
        <p:nvSpPr>
          <p:cNvPr id="4" name="TextBox 3">
            <a:extLst>
              <a:ext uri="{FF2B5EF4-FFF2-40B4-BE49-F238E27FC236}">
                <a16:creationId xmlns:a16="http://schemas.microsoft.com/office/drawing/2014/main" id="{260F4E6E-94D1-C905-7A5F-8C5C2963DB12}"/>
              </a:ext>
            </a:extLst>
          </p:cNvPr>
          <p:cNvSpPr txBox="1"/>
          <p:nvPr/>
        </p:nvSpPr>
        <p:spPr>
          <a:xfrm>
            <a:off x="680321" y="2098655"/>
            <a:ext cx="8446770" cy="923330"/>
          </a:xfrm>
          <a:prstGeom prst="rect">
            <a:avLst/>
          </a:prstGeom>
          <a:noFill/>
        </p:spPr>
        <p:txBody>
          <a:bodyPr wrap="square">
            <a:spAutoFit/>
          </a:bodyPr>
          <a:lstStyle/>
          <a:p>
            <a:pPr>
              <a:buNone/>
            </a:pPr>
            <a:r>
              <a:rPr lang="en-IN" b="1" dirty="0"/>
              <a:t>Computer Software</a:t>
            </a:r>
          </a:p>
          <a:p>
            <a:pPr>
              <a:buNone/>
            </a:pPr>
            <a:r>
              <a:rPr lang="en-IN" dirty="0"/>
              <a:t>Software is a collection of programs and instructions that tell a computer how to perform specific tasks.</a:t>
            </a:r>
          </a:p>
        </p:txBody>
      </p:sp>
      <p:sp>
        <p:nvSpPr>
          <p:cNvPr id="6" name="TextBox 5">
            <a:extLst>
              <a:ext uri="{FF2B5EF4-FFF2-40B4-BE49-F238E27FC236}">
                <a16:creationId xmlns:a16="http://schemas.microsoft.com/office/drawing/2014/main" id="{D3F1C8C5-BC6E-D162-C726-24F2188F0E40}"/>
              </a:ext>
            </a:extLst>
          </p:cNvPr>
          <p:cNvSpPr txBox="1"/>
          <p:nvPr/>
        </p:nvSpPr>
        <p:spPr>
          <a:xfrm>
            <a:off x="680321" y="3114434"/>
            <a:ext cx="6094476" cy="3693319"/>
          </a:xfrm>
          <a:prstGeom prst="rect">
            <a:avLst/>
          </a:prstGeom>
          <a:noFill/>
        </p:spPr>
        <p:txBody>
          <a:bodyPr wrap="square">
            <a:spAutoFit/>
          </a:bodyPr>
          <a:lstStyle/>
          <a:p>
            <a:pPr>
              <a:buNone/>
            </a:pPr>
            <a:r>
              <a:rPr lang="en-IN" b="1" dirty="0"/>
              <a:t>Types of Software</a:t>
            </a:r>
          </a:p>
          <a:p>
            <a:pPr>
              <a:buNone/>
            </a:pPr>
            <a:endParaRPr lang="en-IN" b="1" dirty="0"/>
          </a:p>
          <a:p>
            <a:pPr>
              <a:buNone/>
            </a:pPr>
            <a:r>
              <a:rPr lang="en-IN" b="1" dirty="0"/>
              <a:t>System Software</a:t>
            </a:r>
          </a:p>
          <a:p>
            <a:pPr>
              <a:buFont typeface="Arial" panose="020B0604020202020204" pitchFamily="34" charset="0"/>
              <a:buChar char="•"/>
            </a:pPr>
            <a:r>
              <a:rPr lang="en-IN" dirty="0"/>
              <a:t>Windows </a:t>
            </a:r>
          </a:p>
          <a:p>
            <a:pPr>
              <a:buFont typeface="Arial" panose="020B0604020202020204" pitchFamily="34" charset="0"/>
              <a:buChar char="•"/>
            </a:pPr>
            <a:r>
              <a:rPr lang="en-IN" dirty="0"/>
              <a:t>Linux </a:t>
            </a:r>
          </a:p>
          <a:p>
            <a:pPr>
              <a:buFont typeface="Arial" panose="020B0604020202020204" pitchFamily="34" charset="0"/>
              <a:buChar char="•"/>
            </a:pPr>
            <a:endParaRPr lang="en-IN" dirty="0"/>
          </a:p>
          <a:p>
            <a:pPr>
              <a:buNone/>
            </a:pPr>
            <a:r>
              <a:rPr lang="en-IN" b="1" dirty="0"/>
              <a:t>Application Software</a:t>
            </a:r>
          </a:p>
          <a:p>
            <a:pPr>
              <a:buFont typeface="Arial" panose="020B0604020202020204" pitchFamily="34" charset="0"/>
              <a:buChar char="•"/>
            </a:pPr>
            <a:r>
              <a:rPr lang="en-IN" dirty="0"/>
              <a:t>Microsoft Word </a:t>
            </a:r>
          </a:p>
          <a:p>
            <a:pPr>
              <a:buFont typeface="Arial" panose="020B0604020202020204" pitchFamily="34" charset="0"/>
              <a:buChar char="•"/>
            </a:pPr>
            <a:r>
              <a:rPr lang="en-IN" dirty="0"/>
              <a:t>Excel </a:t>
            </a:r>
          </a:p>
          <a:p>
            <a:pPr>
              <a:buFont typeface="Arial" panose="020B0604020202020204" pitchFamily="34" charset="0"/>
              <a:buChar char="•"/>
            </a:pPr>
            <a:endParaRPr lang="en-IN" dirty="0"/>
          </a:p>
          <a:p>
            <a:pPr>
              <a:buNone/>
            </a:pPr>
            <a:r>
              <a:rPr lang="en-IN" b="1" dirty="0"/>
              <a:t>Utility Software</a:t>
            </a:r>
          </a:p>
          <a:p>
            <a:pPr>
              <a:buFont typeface="Arial" panose="020B0604020202020204" pitchFamily="34" charset="0"/>
              <a:buChar char="•"/>
            </a:pPr>
            <a:r>
              <a:rPr lang="en-IN" dirty="0"/>
              <a:t>Antivirus </a:t>
            </a:r>
          </a:p>
          <a:p>
            <a:pPr>
              <a:buFont typeface="Arial" panose="020B0604020202020204" pitchFamily="34" charset="0"/>
              <a:buChar char="•"/>
            </a:pPr>
            <a:r>
              <a:rPr lang="en-IN" dirty="0"/>
              <a:t>Disk Cleanup </a:t>
            </a:r>
          </a:p>
        </p:txBody>
      </p:sp>
    </p:spTree>
    <p:extLst>
      <p:ext uri="{BB962C8B-B14F-4D97-AF65-F5344CB8AC3E}">
        <p14:creationId xmlns:p14="http://schemas.microsoft.com/office/powerpoint/2010/main" val="3988016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53A77-E049-A2EE-21D8-C0D1E5DA0105}"/>
              </a:ext>
            </a:extLst>
          </p:cNvPr>
          <p:cNvSpPr>
            <a:spLocks noGrp="1"/>
          </p:cNvSpPr>
          <p:nvPr>
            <p:ph type="title"/>
          </p:nvPr>
        </p:nvSpPr>
        <p:spPr/>
        <p:txBody>
          <a:bodyPr/>
          <a:lstStyle/>
          <a:p>
            <a:r>
              <a:rPr lang="en-IN" dirty="0"/>
              <a:t>Networking and Internet</a:t>
            </a:r>
          </a:p>
        </p:txBody>
      </p:sp>
      <p:sp>
        <p:nvSpPr>
          <p:cNvPr id="4" name="TextBox 3">
            <a:extLst>
              <a:ext uri="{FF2B5EF4-FFF2-40B4-BE49-F238E27FC236}">
                <a16:creationId xmlns:a16="http://schemas.microsoft.com/office/drawing/2014/main" id="{ACA78C32-A299-CD46-B526-11ADEFC83211}"/>
              </a:ext>
            </a:extLst>
          </p:cNvPr>
          <p:cNvSpPr txBox="1"/>
          <p:nvPr/>
        </p:nvSpPr>
        <p:spPr>
          <a:xfrm>
            <a:off x="331470" y="2115604"/>
            <a:ext cx="11711178" cy="1477328"/>
          </a:xfrm>
          <a:prstGeom prst="rect">
            <a:avLst/>
          </a:prstGeom>
          <a:noFill/>
        </p:spPr>
        <p:txBody>
          <a:bodyPr wrap="square">
            <a:spAutoFit/>
          </a:bodyPr>
          <a:lstStyle/>
          <a:p>
            <a:pPr>
              <a:buNone/>
            </a:pPr>
            <a:r>
              <a:rPr lang="en-IN" dirty="0"/>
              <a:t>A computer network is a collection of interconnected devices that communicate and share data and resources. Networks enable users to exchange information, access shared files, and connect to the Internet.</a:t>
            </a:r>
          </a:p>
          <a:p>
            <a:pPr>
              <a:buNone/>
            </a:pPr>
            <a:endParaRPr lang="en-IN" dirty="0"/>
          </a:p>
          <a:p>
            <a:r>
              <a:rPr lang="en-IN" dirty="0"/>
              <a:t>Internet: A global network enabling email, web browsing, and communication.</a:t>
            </a:r>
          </a:p>
          <a:p>
            <a:pPr>
              <a:buNone/>
            </a:pPr>
            <a:endParaRPr lang="en-IN" dirty="0"/>
          </a:p>
        </p:txBody>
      </p:sp>
      <p:sp>
        <p:nvSpPr>
          <p:cNvPr id="6" name="TextBox 5">
            <a:extLst>
              <a:ext uri="{FF2B5EF4-FFF2-40B4-BE49-F238E27FC236}">
                <a16:creationId xmlns:a16="http://schemas.microsoft.com/office/drawing/2014/main" id="{2FE3871C-B08E-7C0A-1586-8593ED170D8C}"/>
              </a:ext>
            </a:extLst>
          </p:cNvPr>
          <p:cNvSpPr txBox="1"/>
          <p:nvPr/>
        </p:nvSpPr>
        <p:spPr>
          <a:xfrm>
            <a:off x="331470" y="3429000"/>
            <a:ext cx="6094476" cy="1754326"/>
          </a:xfrm>
          <a:prstGeom prst="rect">
            <a:avLst/>
          </a:prstGeom>
          <a:noFill/>
        </p:spPr>
        <p:txBody>
          <a:bodyPr wrap="square">
            <a:spAutoFit/>
          </a:bodyPr>
          <a:lstStyle/>
          <a:p>
            <a:pPr>
              <a:buNone/>
            </a:pPr>
            <a:r>
              <a:rPr lang="en-IN" b="1" dirty="0"/>
              <a:t>Types of Networks</a:t>
            </a:r>
          </a:p>
          <a:p>
            <a:pPr>
              <a:buNone/>
            </a:pPr>
            <a:endParaRPr lang="en-IN" b="1" dirty="0"/>
          </a:p>
          <a:p>
            <a:pPr>
              <a:buFont typeface="Arial" panose="020B0604020202020204" pitchFamily="34" charset="0"/>
              <a:buChar char="•"/>
            </a:pPr>
            <a:r>
              <a:rPr lang="en-IN" dirty="0"/>
              <a:t>LAN (Local Area Network) </a:t>
            </a:r>
          </a:p>
          <a:p>
            <a:pPr>
              <a:buFont typeface="Arial" panose="020B0604020202020204" pitchFamily="34" charset="0"/>
              <a:buChar char="•"/>
            </a:pPr>
            <a:r>
              <a:rPr lang="en-IN" dirty="0"/>
              <a:t>MAN (Metropolitan Area Network) </a:t>
            </a:r>
          </a:p>
          <a:p>
            <a:pPr>
              <a:buFont typeface="Arial" panose="020B0604020202020204" pitchFamily="34" charset="0"/>
              <a:buChar char="•"/>
            </a:pPr>
            <a:r>
              <a:rPr lang="en-IN" dirty="0"/>
              <a:t>WAN (Wide Area Network) </a:t>
            </a:r>
          </a:p>
          <a:p>
            <a:pPr>
              <a:buFont typeface="Arial" panose="020B0604020202020204" pitchFamily="34" charset="0"/>
              <a:buChar char="•"/>
            </a:pPr>
            <a:r>
              <a:rPr lang="en-IN" dirty="0"/>
              <a:t>PAN (Personal Area Network)</a:t>
            </a:r>
          </a:p>
        </p:txBody>
      </p:sp>
      <p:sp>
        <p:nvSpPr>
          <p:cNvPr id="8" name="TextBox 7">
            <a:extLst>
              <a:ext uri="{FF2B5EF4-FFF2-40B4-BE49-F238E27FC236}">
                <a16:creationId xmlns:a16="http://schemas.microsoft.com/office/drawing/2014/main" id="{4CCA5018-BFA1-C795-A51D-A9DF5F0F30C5}"/>
              </a:ext>
            </a:extLst>
          </p:cNvPr>
          <p:cNvSpPr txBox="1"/>
          <p:nvPr/>
        </p:nvSpPr>
        <p:spPr>
          <a:xfrm>
            <a:off x="331470" y="5458441"/>
            <a:ext cx="6094476" cy="646331"/>
          </a:xfrm>
          <a:prstGeom prst="rect">
            <a:avLst/>
          </a:prstGeom>
          <a:noFill/>
        </p:spPr>
        <p:txBody>
          <a:bodyPr wrap="square">
            <a:spAutoFit/>
          </a:bodyPr>
          <a:lstStyle/>
          <a:p>
            <a:pPr>
              <a:buClr>
                <a:schemeClr val="tx1"/>
              </a:buClr>
              <a:buFont typeface="Wingdings" panose="05000000000000000000" pitchFamily="2" charset="2"/>
              <a:buChar char="§"/>
              <a:defRPr sz="1800">
                <a:solidFill>
                  <a:srgbClr val="3C3C3C"/>
                </a:solidFill>
              </a:defRPr>
            </a:pPr>
            <a:r>
              <a:rPr lang="en-IN" dirty="0">
                <a:solidFill>
                  <a:schemeClr val="tx1"/>
                </a:solidFill>
              </a:rPr>
              <a:t>Network Devices: Router, Switch, Hub, Modem, Access Point</a:t>
            </a:r>
          </a:p>
        </p:txBody>
      </p:sp>
    </p:spTree>
    <p:extLst>
      <p:ext uri="{BB962C8B-B14F-4D97-AF65-F5344CB8AC3E}">
        <p14:creationId xmlns:p14="http://schemas.microsoft.com/office/powerpoint/2010/main" val="3103843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A1253-8469-4E45-9DDB-41BB0E5A7871}"/>
              </a:ext>
            </a:extLst>
          </p:cNvPr>
          <p:cNvSpPr>
            <a:spLocks noGrp="1"/>
          </p:cNvSpPr>
          <p:nvPr>
            <p:ph type="title"/>
          </p:nvPr>
        </p:nvSpPr>
        <p:spPr/>
        <p:txBody>
          <a:bodyPr/>
          <a:lstStyle/>
          <a:p>
            <a:r>
              <a:rPr lang="en-IN" dirty="0"/>
              <a:t>Database Management System (DBMS)</a:t>
            </a:r>
          </a:p>
        </p:txBody>
      </p:sp>
      <p:sp>
        <p:nvSpPr>
          <p:cNvPr id="4" name="TextBox 3">
            <a:extLst>
              <a:ext uri="{FF2B5EF4-FFF2-40B4-BE49-F238E27FC236}">
                <a16:creationId xmlns:a16="http://schemas.microsoft.com/office/drawing/2014/main" id="{D2E81232-D1F4-A2C9-407D-5C28CE940043}"/>
              </a:ext>
            </a:extLst>
          </p:cNvPr>
          <p:cNvSpPr txBox="1"/>
          <p:nvPr/>
        </p:nvSpPr>
        <p:spPr>
          <a:xfrm>
            <a:off x="680321" y="2064999"/>
            <a:ext cx="6094476" cy="1569660"/>
          </a:xfrm>
          <a:prstGeom prst="rect">
            <a:avLst/>
          </a:prstGeom>
          <a:noFill/>
        </p:spPr>
        <p:txBody>
          <a:bodyPr wrap="square">
            <a:spAutoFit/>
          </a:bodyPr>
          <a:lstStyle/>
          <a:p>
            <a:r>
              <a:rPr lang="en-IN" sz="2400" dirty="0"/>
              <a:t>A Database Management System (DBMS) is software that allows users to create, store, organize, retrieve, and manage data efficiently.</a:t>
            </a:r>
          </a:p>
        </p:txBody>
      </p:sp>
      <p:sp>
        <p:nvSpPr>
          <p:cNvPr id="6" name="TextBox 5">
            <a:extLst>
              <a:ext uri="{FF2B5EF4-FFF2-40B4-BE49-F238E27FC236}">
                <a16:creationId xmlns:a16="http://schemas.microsoft.com/office/drawing/2014/main" id="{85C9FD73-16A1-BEA4-97AA-137A49254CFF}"/>
              </a:ext>
            </a:extLst>
          </p:cNvPr>
          <p:cNvSpPr txBox="1"/>
          <p:nvPr/>
        </p:nvSpPr>
        <p:spPr>
          <a:xfrm>
            <a:off x="680321" y="3865492"/>
            <a:ext cx="6094476" cy="2308324"/>
          </a:xfrm>
          <a:prstGeom prst="rect">
            <a:avLst/>
          </a:prstGeom>
          <a:noFill/>
        </p:spPr>
        <p:txBody>
          <a:bodyPr wrap="square">
            <a:spAutoFit/>
          </a:bodyPr>
          <a:lstStyle/>
          <a:p>
            <a:pPr>
              <a:buNone/>
            </a:pPr>
            <a:r>
              <a:rPr lang="en-IN" sz="2400" b="1" dirty="0"/>
              <a:t>Popular DBMS</a:t>
            </a:r>
          </a:p>
          <a:p>
            <a:pPr>
              <a:buFont typeface="Arial" panose="020B0604020202020204" pitchFamily="34" charset="0"/>
              <a:buChar char="•"/>
            </a:pPr>
            <a:r>
              <a:rPr lang="en-IN" sz="2400" dirty="0"/>
              <a:t>MySQL </a:t>
            </a:r>
          </a:p>
          <a:p>
            <a:pPr>
              <a:buFont typeface="Arial" panose="020B0604020202020204" pitchFamily="34" charset="0"/>
              <a:buChar char="•"/>
            </a:pPr>
            <a:r>
              <a:rPr lang="en-IN" sz="2400" dirty="0"/>
              <a:t>Oracle Database </a:t>
            </a:r>
          </a:p>
          <a:p>
            <a:pPr>
              <a:buFont typeface="Arial" panose="020B0604020202020204" pitchFamily="34" charset="0"/>
              <a:buChar char="•"/>
            </a:pPr>
            <a:r>
              <a:rPr lang="en-IN" sz="2400" dirty="0"/>
              <a:t>Microsoft SQL Server </a:t>
            </a:r>
          </a:p>
          <a:p>
            <a:pPr>
              <a:buFont typeface="Arial" panose="020B0604020202020204" pitchFamily="34" charset="0"/>
              <a:buChar char="•"/>
            </a:pPr>
            <a:r>
              <a:rPr lang="en-IN" sz="2400" dirty="0"/>
              <a:t>PostgreSQL </a:t>
            </a:r>
          </a:p>
          <a:p>
            <a:pPr>
              <a:buFont typeface="Arial" panose="020B0604020202020204" pitchFamily="34" charset="0"/>
              <a:buChar char="•"/>
            </a:pPr>
            <a:r>
              <a:rPr lang="en-IN" sz="2400" dirty="0"/>
              <a:t>MongoDB </a:t>
            </a:r>
          </a:p>
        </p:txBody>
      </p:sp>
    </p:spTree>
    <p:extLst>
      <p:ext uri="{BB962C8B-B14F-4D97-AF65-F5344CB8AC3E}">
        <p14:creationId xmlns:p14="http://schemas.microsoft.com/office/powerpoint/2010/main" val="3567593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BAFFB-5C0D-42F8-4C7C-5D84B0592960}"/>
              </a:ext>
            </a:extLst>
          </p:cNvPr>
          <p:cNvSpPr>
            <a:spLocks noGrp="1"/>
          </p:cNvSpPr>
          <p:nvPr>
            <p:ph type="title"/>
          </p:nvPr>
        </p:nvSpPr>
        <p:spPr/>
        <p:txBody>
          <a:bodyPr>
            <a:normAutofit/>
          </a:bodyPr>
          <a:lstStyle/>
          <a:p>
            <a:r>
              <a:rPr lang="en-IN" b="1" dirty="0"/>
              <a:t>Structured Query Language (SQL)</a:t>
            </a:r>
            <a:br>
              <a:rPr lang="en-IN" b="1" dirty="0"/>
            </a:br>
            <a:endParaRPr lang="en-IN" dirty="0"/>
          </a:p>
        </p:txBody>
      </p:sp>
      <p:sp>
        <p:nvSpPr>
          <p:cNvPr id="4" name="TextBox 3">
            <a:extLst>
              <a:ext uri="{FF2B5EF4-FFF2-40B4-BE49-F238E27FC236}">
                <a16:creationId xmlns:a16="http://schemas.microsoft.com/office/drawing/2014/main" id="{2D7D56C8-FB41-D79D-A041-BF2E5D2558F9}"/>
              </a:ext>
            </a:extLst>
          </p:cNvPr>
          <p:cNvSpPr txBox="1"/>
          <p:nvPr/>
        </p:nvSpPr>
        <p:spPr>
          <a:xfrm>
            <a:off x="680321" y="2090172"/>
            <a:ext cx="8748522" cy="1338828"/>
          </a:xfrm>
          <a:prstGeom prst="rect">
            <a:avLst/>
          </a:prstGeom>
          <a:noFill/>
        </p:spPr>
        <p:txBody>
          <a:bodyPr wrap="square">
            <a:spAutoFit/>
          </a:bodyPr>
          <a:lstStyle/>
          <a:p>
            <a:pPr>
              <a:buNone/>
            </a:pPr>
            <a:r>
              <a:rPr lang="en-IN" sz="2700" dirty="0"/>
              <a:t>SQL (Structured Query Language) is the standard language used to communicate with relational databases.</a:t>
            </a:r>
          </a:p>
        </p:txBody>
      </p:sp>
      <p:sp>
        <p:nvSpPr>
          <p:cNvPr id="6" name="TextBox 5">
            <a:extLst>
              <a:ext uri="{FF2B5EF4-FFF2-40B4-BE49-F238E27FC236}">
                <a16:creationId xmlns:a16="http://schemas.microsoft.com/office/drawing/2014/main" id="{058D3A7A-6E7A-E607-186E-6871601DE7E6}"/>
              </a:ext>
            </a:extLst>
          </p:cNvPr>
          <p:cNvSpPr txBox="1"/>
          <p:nvPr/>
        </p:nvSpPr>
        <p:spPr>
          <a:xfrm>
            <a:off x="680321" y="3559016"/>
            <a:ext cx="6094476" cy="2169825"/>
          </a:xfrm>
          <a:prstGeom prst="rect">
            <a:avLst/>
          </a:prstGeom>
          <a:noFill/>
        </p:spPr>
        <p:txBody>
          <a:bodyPr wrap="square">
            <a:spAutoFit/>
          </a:bodyPr>
          <a:lstStyle/>
          <a:p>
            <a:pPr>
              <a:buNone/>
            </a:pPr>
            <a:r>
              <a:rPr lang="en-IN" sz="2700" b="1" dirty="0"/>
              <a:t>Applications</a:t>
            </a:r>
          </a:p>
          <a:p>
            <a:pPr>
              <a:buFont typeface="Arial" panose="020B0604020202020204" pitchFamily="34" charset="0"/>
              <a:buChar char="•"/>
            </a:pPr>
            <a:r>
              <a:rPr lang="en-IN" sz="2700" dirty="0"/>
              <a:t>Banking systems </a:t>
            </a:r>
          </a:p>
          <a:p>
            <a:pPr>
              <a:buFont typeface="Arial" panose="020B0604020202020204" pitchFamily="34" charset="0"/>
              <a:buChar char="•"/>
            </a:pPr>
            <a:r>
              <a:rPr lang="en-IN" sz="2700" dirty="0"/>
              <a:t>Hospital databases </a:t>
            </a:r>
          </a:p>
          <a:p>
            <a:pPr>
              <a:buFont typeface="Arial" panose="020B0604020202020204" pitchFamily="34" charset="0"/>
              <a:buChar char="•"/>
            </a:pPr>
            <a:r>
              <a:rPr lang="en-IN" sz="2700" dirty="0"/>
              <a:t>Student information systems </a:t>
            </a:r>
          </a:p>
          <a:p>
            <a:pPr>
              <a:buFont typeface="Arial" panose="020B0604020202020204" pitchFamily="34" charset="0"/>
              <a:buChar char="•"/>
            </a:pPr>
            <a:r>
              <a:rPr lang="en-IN" sz="2700" dirty="0"/>
              <a:t>E-commerce websites </a:t>
            </a:r>
          </a:p>
        </p:txBody>
      </p:sp>
    </p:spTree>
    <p:extLst>
      <p:ext uri="{BB962C8B-B14F-4D97-AF65-F5344CB8AC3E}">
        <p14:creationId xmlns:p14="http://schemas.microsoft.com/office/powerpoint/2010/main" val="726889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36064-5983-BAFB-93A4-2902C82C48F8}"/>
              </a:ext>
            </a:extLst>
          </p:cNvPr>
          <p:cNvSpPr>
            <a:spLocks noGrp="1"/>
          </p:cNvSpPr>
          <p:nvPr>
            <p:ph type="title"/>
          </p:nvPr>
        </p:nvSpPr>
        <p:spPr/>
        <p:txBody>
          <a:bodyPr/>
          <a:lstStyle/>
          <a:p>
            <a:r>
              <a:rPr lang="en-IN" dirty="0"/>
              <a:t>Information Security and Cybersecurity</a:t>
            </a:r>
          </a:p>
        </p:txBody>
      </p:sp>
      <p:sp>
        <p:nvSpPr>
          <p:cNvPr id="4" name="TextBox 3">
            <a:extLst>
              <a:ext uri="{FF2B5EF4-FFF2-40B4-BE49-F238E27FC236}">
                <a16:creationId xmlns:a16="http://schemas.microsoft.com/office/drawing/2014/main" id="{F4284604-4448-22FA-5EB7-35CEFBAC355C}"/>
              </a:ext>
            </a:extLst>
          </p:cNvPr>
          <p:cNvSpPr txBox="1"/>
          <p:nvPr/>
        </p:nvSpPr>
        <p:spPr>
          <a:xfrm>
            <a:off x="460865" y="2056489"/>
            <a:ext cx="11135106" cy="4401205"/>
          </a:xfrm>
          <a:prstGeom prst="rect">
            <a:avLst/>
          </a:prstGeom>
          <a:noFill/>
        </p:spPr>
        <p:txBody>
          <a:bodyPr wrap="square">
            <a:spAutoFit/>
          </a:bodyPr>
          <a:lstStyle/>
          <a:p>
            <a:pPr>
              <a:buNone/>
            </a:pPr>
            <a:r>
              <a:rPr lang="en-IN" sz="2000" dirty="0"/>
              <a:t>Information Security protects information from unauthorized access, misuse, disclosure, modification, or destruction.</a:t>
            </a:r>
          </a:p>
          <a:p>
            <a:pPr>
              <a:buNone/>
            </a:pPr>
            <a:endParaRPr lang="en-IN" sz="2000" dirty="0"/>
          </a:p>
          <a:p>
            <a:pPr>
              <a:buNone/>
            </a:pPr>
            <a:r>
              <a:rPr lang="en-IN" sz="2000" b="1" dirty="0"/>
              <a:t>Objectives </a:t>
            </a:r>
          </a:p>
          <a:p>
            <a:pPr>
              <a:buNone/>
            </a:pPr>
            <a:r>
              <a:rPr lang="en-IN" sz="2000" dirty="0"/>
              <a:t>Confidentiality </a:t>
            </a:r>
          </a:p>
          <a:p>
            <a:pPr>
              <a:buFont typeface="Arial" panose="020B0604020202020204" pitchFamily="34" charset="0"/>
              <a:buChar char="•"/>
            </a:pPr>
            <a:r>
              <a:rPr lang="en-IN" sz="2000" dirty="0"/>
              <a:t>Integrity </a:t>
            </a:r>
          </a:p>
          <a:p>
            <a:pPr>
              <a:buFont typeface="Arial" panose="020B0604020202020204" pitchFamily="34" charset="0"/>
              <a:buChar char="•"/>
            </a:pPr>
            <a:r>
              <a:rPr lang="en-IN" sz="2000" dirty="0"/>
              <a:t>Availability </a:t>
            </a:r>
          </a:p>
          <a:p>
            <a:pPr>
              <a:buFont typeface="Arial" panose="020B0604020202020204" pitchFamily="34" charset="0"/>
              <a:buChar char="•"/>
            </a:pPr>
            <a:endParaRPr lang="en-IN" sz="2000" dirty="0"/>
          </a:p>
          <a:p>
            <a:pPr>
              <a:buNone/>
            </a:pPr>
            <a:r>
              <a:rPr lang="en-IN" sz="2000" b="1" dirty="0"/>
              <a:t>Importance</a:t>
            </a:r>
          </a:p>
          <a:p>
            <a:pPr>
              <a:buFont typeface="Arial" panose="020B0604020202020204" pitchFamily="34" charset="0"/>
              <a:buChar char="•"/>
            </a:pPr>
            <a:r>
              <a:rPr lang="en-IN" sz="2000" dirty="0"/>
              <a:t>Protects customer information. </a:t>
            </a:r>
          </a:p>
          <a:p>
            <a:pPr>
              <a:buFont typeface="Arial" panose="020B0604020202020204" pitchFamily="34" charset="0"/>
              <a:buChar char="•"/>
            </a:pPr>
            <a:r>
              <a:rPr lang="en-IN" sz="2000" dirty="0"/>
              <a:t>Prevents cyber attacks. </a:t>
            </a:r>
          </a:p>
          <a:p>
            <a:pPr>
              <a:buFont typeface="Arial" panose="020B0604020202020204" pitchFamily="34" charset="0"/>
              <a:buChar char="•"/>
            </a:pPr>
            <a:r>
              <a:rPr lang="en-IN" sz="2000" dirty="0"/>
              <a:t>Ensures business continuity. </a:t>
            </a:r>
          </a:p>
          <a:p>
            <a:pPr>
              <a:buFont typeface="Arial" panose="020B0604020202020204" pitchFamily="34" charset="0"/>
              <a:buChar char="•"/>
            </a:pPr>
            <a:r>
              <a:rPr lang="en-IN" sz="2000" dirty="0"/>
              <a:t>Maintains user trust. </a:t>
            </a:r>
          </a:p>
          <a:p>
            <a:pPr>
              <a:buFont typeface="Arial" panose="020B0604020202020204" pitchFamily="34" charset="0"/>
              <a:buChar char="•"/>
            </a:pPr>
            <a:r>
              <a:rPr lang="en-IN" sz="2000" dirty="0"/>
              <a:t>Supports legal compliance. </a:t>
            </a:r>
          </a:p>
        </p:txBody>
      </p:sp>
    </p:spTree>
    <p:extLst>
      <p:ext uri="{BB962C8B-B14F-4D97-AF65-F5344CB8AC3E}">
        <p14:creationId xmlns:p14="http://schemas.microsoft.com/office/powerpoint/2010/main" val="3947503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776DE-D285-F8CD-6F1E-7E4A0466B8F5}"/>
              </a:ext>
            </a:extLst>
          </p:cNvPr>
          <p:cNvSpPr>
            <a:spLocks noGrp="1"/>
          </p:cNvSpPr>
          <p:nvPr>
            <p:ph type="title"/>
          </p:nvPr>
        </p:nvSpPr>
        <p:spPr/>
        <p:txBody>
          <a:bodyPr/>
          <a:lstStyle/>
          <a:p>
            <a:r>
              <a:rPr lang="en-IN" dirty="0"/>
              <a:t>Common Cyber Threats</a:t>
            </a:r>
          </a:p>
        </p:txBody>
      </p:sp>
      <p:sp>
        <p:nvSpPr>
          <p:cNvPr id="4" name="TextBox 3">
            <a:extLst>
              <a:ext uri="{FF2B5EF4-FFF2-40B4-BE49-F238E27FC236}">
                <a16:creationId xmlns:a16="http://schemas.microsoft.com/office/drawing/2014/main" id="{F7DB5B3D-4AF7-ED91-4236-75C094DA4C41}"/>
              </a:ext>
            </a:extLst>
          </p:cNvPr>
          <p:cNvSpPr txBox="1"/>
          <p:nvPr/>
        </p:nvSpPr>
        <p:spPr>
          <a:xfrm>
            <a:off x="579428" y="2056686"/>
            <a:ext cx="10905127" cy="3970318"/>
          </a:xfrm>
          <a:prstGeom prst="rect">
            <a:avLst/>
          </a:prstGeom>
          <a:noFill/>
        </p:spPr>
        <p:txBody>
          <a:bodyPr wrap="square">
            <a:spAutoFit/>
          </a:bodyPr>
          <a:lstStyle/>
          <a:p>
            <a:pPr>
              <a:buNone/>
            </a:pPr>
            <a:r>
              <a:rPr lang="en-IN" b="1" dirty="0"/>
              <a:t>Malware</a:t>
            </a:r>
          </a:p>
          <a:p>
            <a:pPr>
              <a:buNone/>
            </a:pPr>
            <a:r>
              <a:rPr lang="en-IN" dirty="0"/>
              <a:t>Malicious software designed to damage systems.</a:t>
            </a:r>
          </a:p>
          <a:p>
            <a:pPr>
              <a:buNone/>
            </a:pPr>
            <a:endParaRPr lang="en-IN" dirty="0"/>
          </a:p>
          <a:p>
            <a:pPr>
              <a:buNone/>
            </a:pPr>
            <a:r>
              <a:rPr lang="en-IN" b="1" dirty="0"/>
              <a:t>Virus</a:t>
            </a:r>
          </a:p>
          <a:p>
            <a:pPr>
              <a:buNone/>
            </a:pPr>
            <a:r>
              <a:rPr lang="en-IN" dirty="0"/>
              <a:t>Attaches to files and spreads to other computers.</a:t>
            </a:r>
          </a:p>
          <a:p>
            <a:pPr>
              <a:buNone/>
            </a:pPr>
            <a:endParaRPr lang="en-IN" dirty="0"/>
          </a:p>
          <a:p>
            <a:pPr>
              <a:buNone/>
            </a:pPr>
            <a:r>
              <a:rPr lang="en-IN" b="1" dirty="0"/>
              <a:t>Worm</a:t>
            </a:r>
          </a:p>
          <a:p>
            <a:pPr>
              <a:buNone/>
            </a:pPr>
            <a:r>
              <a:rPr lang="en-IN" dirty="0"/>
              <a:t>Self-replicates without user interaction.</a:t>
            </a:r>
          </a:p>
          <a:p>
            <a:pPr>
              <a:buNone/>
            </a:pPr>
            <a:endParaRPr lang="en-IN" dirty="0"/>
          </a:p>
          <a:p>
            <a:pPr>
              <a:buNone/>
            </a:pPr>
            <a:r>
              <a:rPr lang="en-IN" b="1" dirty="0"/>
              <a:t>Phishing</a:t>
            </a:r>
          </a:p>
          <a:p>
            <a:pPr>
              <a:buNone/>
            </a:pPr>
            <a:r>
              <a:rPr lang="en-IN" dirty="0"/>
              <a:t>Fraudulent emails or websites used to steal personal information.</a:t>
            </a:r>
          </a:p>
          <a:p>
            <a:pPr>
              <a:buNone/>
            </a:pPr>
            <a:endParaRPr lang="en-IN" dirty="0"/>
          </a:p>
          <a:p>
            <a:pPr>
              <a:buNone/>
            </a:pPr>
            <a:r>
              <a:rPr lang="en-IN" b="1" dirty="0"/>
              <a:t>Ransomware</a:t>
            </a:r>
          </a:p>
          <a:p>
            <a:pPr>
              <a:buNone/>
            </a:pPr>
            <a:r>
              <a:rPr lang="en-IN" dirty="0"/>
              <a:t>Encrypts files and demands payment for recovery.</a:t>
            </a:r>
          </a:p>
        </p:txBody>
      </p:sp>
    </p:spTree>
    <p:extLst>
      <p:ext uri="{BB962C8B-B14F-4D97-AF65-F5344CB8AC3E}">
        <p14:creationId xmlns:p14="http://schemas.microsoft.com/office/powerpoint/2010/main" val="615207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49297-51B6-F4E1-E553-65AEDC23A28A}"/>
              </a:ext>
            </a:extLst>
          </p:cNvPr>
          <p:cNvSpPr>
            <a:spLocks noGrp="1"/>
          </p:cNvSpPr>
          <p:nvPr>
            <p:ph type="title"/>
          </p:nvPr>
        </p:nvSpPr>
        <p:spPr/>
        <p:txBody>
          <a:bodyPr/>
          <a:lstStyle/>
          <a:p>
            <a:r>
              <a:rPr lang="en-IN" dirty="0"/>
              <a:t>Cybersecurity Measures</a:t>
            </a:r>
          </a:p>
        </p:txBody>
      </p:sp>
      <p:sp>
        <p:nvSpPr>
          <p:cNvPr id="4" name="TextBox 3">
            <a:extLst>
              <a:ext uri="{FF2B5EF4-FFF2-40B4-BE49-F238E27FC236}">
                <a16:creationId xmlns:a16="http://schemas.microsoft.com/office/drawing/2014/main" id="{143F1681-C3E5-3D82-D239-7F67FA82F757}"/>
              </a:ext>
            </a:extLst>
          </p:cNvPr>
          <p:cNvSpPr txBox="1"/>
          <p:nvPr/>
        </p:nvSpPr>
        <p:spPr>
          <a:xfrm>
            <a:off x="680321" y="2128534"/>
            <a:ext cx="8995410" cy="4154984"/>
          </a:xfrm>
          <a:prstGeom prst="rect">
            <a:avLst/>
          </a:prstGeom>
          <a:noFill/>
        </p:spPr>
        <p:txBody>
          <a:bodyPr wrap="square">
            <a:spAutoFit/>
          </a:bodyPr>
          <a:lstStyle/>
          <a:p>
            <a:pPr>
              <a:buNone/>
            </a:pPr>
            <a:r>
              <a:rPr lang="en-IN" sz="2400" b="1" dirty="0"/>
              <a:t>Firewalls</a:t>
            </a:r>
          </a:p>
          <a:p>
            <a:pPr>
              <a:buNone/>
            </a:pPr>
            <a:r>
              <a:rPr lang="en-IN" sz="2400" dirty="0"/>
              <a:t>Monitor incoming and outgoing network traffic.</a:t>
            </a:r>
          </a:p>
          <a:p>
            <a:pPr>
              <a:buNone/>
            </a:pPr>
            <a:endParaRPr lang="en-IN" sz="2400" dirty="0"/>
          </a:p>
          <a:p>
            <a:pPr>
              <a:buNone/>
            </a:pPr>
            <a:r>
              <a:rPr lang="en-IN" sz="2400" b="1" dirty="0"/>
              <a:t>Antivirus Software</a:t>
            </a:r>
          </a:p>
          <a:p>
            <a:pPr>
              <a:buNone/>
            </a:pPr>
            <a:r>
              <a:rPr lang="en-IN" sz="2400" dirty="0"/>
              <a:t>Detects and removes malware.</a:t>
            </a:r>
          </a:p>
          <a:p>
            <a:pPr>
              <a:buNone/>
            </a:pPr>
            <a:endParaRPr lang="en-IN" sz="2400" dirty="0"/>
          </a:p>
          <a:p>
            <a:pPr>
              <a:buNone/>
            </a:pPr>
            <a:r>
              <a:rPr lang="en-IN" sz="2400" b="1" dirty="0"/>
              <a:t>Encryption</a:t>
            </a:r>
          </a:p>
          <a:p>
            <a:pPr>
              <a:buNone/>
            </a:pPr>
            <a:r>
              <a:rPr lang="en-IN" sz="2400" dirty="0"/>
              <a:t>Converts data into unreadable form.</a:t>
            </a:r>
          </a:p>
          <a:p>
            <a:pPr>
              <a:buNone/>
            </a:pPr>
            <a:endParaRPr lang="en-IN" sz="2400" dirty="0"/>
          </a:p>
          <a:p>
            <a:pPr>
              <a:buNone/>
            </a:pPr>
            <a:r>
              <a:rPr lang="en-IN" sz="2400" b="1" dirty="0"/>
              <a:t>Authentication</a:t>
            </a:r>
          </a:p>
          <a:p>
            <a:pPr>
              <a:buNone/>
            </a:pPr>
            <a:r>
              <a:rPr lang="en-IN" sz="2400" dirty="0"/>
              <a:t>Verifies user identity.</a:t>
            </a:r>
          </a:p>
        </p:txBody>
      </p:sp>
    </p:spTree>
    <p:extLst>
      <p:ext uri="{BB962C8B-B14F-4D97-AF65-F5344CB8AC3E}">
        <p14:creationId xmlns:p14="http://schemas.microsoft.com/office/powerpoint/2010/main" val="1948679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C7B1F-FDB9-F227-B3B3-BA7491E888F7}"/>
              </a:ext>
            </a:extLst>
          </p:cNvPr>
          <p:cNvSpPr>
            <a:spLocks noGrp="1"/>
          </p:cNvSpPr>
          <p:nvPr>
            <p:ph type="title"/>
          </p:nvPr>
        </p:nvSpPr>
        <p:spPr/>
        <p:txBody>
          <a:bodyPr/>
          <a:lstStyle/>
          <a:p>
            <a:r>
              <a:rPr lang="en-IN" dirty="0"/>
              <a:t>Cloud Computing</a:t>
            </a:r>
          </a:p>
        </p:txBody>
      </p:sp>
      <p:sp>
        <p:nvSpPr>
          <p:cNvPr id="4" name="TextBox 3">
            <a:extLst>
              <a:ext uri="{FF2B5EF4-FFF2-40B4-BE49-F238E27FC236}">
                <a16:creationId xmlns:a16="http://schemas.microsoft.com/office/drawing/2014/main" id="{C72927E3-3E3F-B26B-2663-0EC923C358C6}"/>
              </a:ext>
            </a:extLst>
          </p:cNvPr>
          <p:cNvSpPr txBox="1"/>
          <p:nvPr/>
        </p:nvSpPr>
        <p:spPr>
          <a:xfrm>
            <a:off x="680321" y="2015020"/>
            <a:ext cx="8977122" cy="923330"/>
          </a:xfrm>
          <a:prstGeom prst="rect">
            <a:avLst/>
          </a:prstGeom>
          <a:noFill/>
        </p:spPr>
        <p:txBody>
          <a:bodyPr wrap="square">
            <a:spAutoFit/>
          </a:bodyPr>
          <a:lstStyle/>
          <a:p>
            <a:pPr>
              <a:buNone/>
            </a:pPr>
            <a:r>
              <a:rPr lang="en-IN" b="1" dirty="0"/>
              <a:t>Introduction to Cloud Computing</a:t>
            </a:r>
          </a:p>
          <a:p>
            <a:pPr>
              <a:buNone/>
            </a:pPr>
            <a:r>
              <a:rPr lang="en-IN" dirty="0"/>
              <a:t>Cloud Computing provides computing resources such as servers, storage, databases, networking, and software over the Internet.</a:t>
            </a:r>
          </a:p>
        </p:txBody>
      </p:sp>
      <p:sp>
        <p:nvSpPr>
          <p:cNvPr id="6" name="TextBox 5">
            <a:extLst>
              <a:ext uri="{FF2B5EF4-FFF2-40B4-BE49-F238E27FC236}">
                <a16:creationId xmlns:a16="http://schemas.microsoft.com/office/drawing/2014/main" id="{2425006D-A4A4-9BFB-5EBF-762AFF1D89FD}"/>
              </a:ext>
            </a:extLst>
          </p:cNvPr>
          <p:cNvSpPr txBox="1"/>
          <p:nvPr/>
        </p:nvSpPr>
        <p:spPr>
          <a:xfrm>
            <a:off x="680321" y="3566821"/>
            <a:ext cx="6094476" cy="1754326"/>
          </a:xfrm>
          <a:prstGeom prst="rect">
            <a:avLst/>
          </a:prstGeom>
          <a:noFill/>
        </p:spPr>
        <p:txBody>
          <a:bodyPr wrap="square">
            <a:spAutoFit/>
          </a:bodyPr>
          <a:lstStyle/>
          <a:p>
            <a:pPr>
              <a:buNone/>
            </a:pPr>
            <a:r>
              <a:rPr lang="en-IN" b="1" dirty="0"/>
              <a:t>Benefits</a:t>
            </a:r>
          </a:p>
          <a:p>
            <a:pPr>
              <a:buFont typeface="Arial" panose="020B0604020202020204" pitchFamily="34" charset="0"/>
              <a:buChar char="•"/>
            </a:pPr>
            <a:r>
              <a:rPr lang="en-IN" dirty="0"/>
              <a:t>Lower infrastructure cost </a:t>
            </a:r>
          </a:p>
          <a:p>
            <a:pPr>
              <a:buFont typeface="Arial" panose="020B0604020202020204" pitchFamily="34" charset="0"/>
              <a:buChar char="•"/>
            </a:pPr>
            <a:r>
              <a:rPr lang="en-IN" dirty="0"/>
              <a:t>Easy maintenance </a:t>
            </a:r>
          </a:p>
          <a:p>
            <a:pPr>
              <a:buFont typeface="Arial" panose="020B0604020202020204" pitchFamily="34" charset="0"/>
              <a:buChar char="•"/>
            </a:pPr>
            <a:r>
              <a:rPr lang="en-IN" dirty="0"/>
              <a:t>Flexible storage </a:t>
            </a:r>
          </a:p>
          <a:p>
            <a:pPr>
              <a:buFont typeface="Arial" panose="020B0604020202020204" pitchFamily="34" charset="0"/>
              <a:buChar char="•"/>
            </a:pPr>
            <a:r>
              <a:rPr lang="en-IN" dirty="0"/>
              <a:t>Disaster recovery </a:t>
            </a:r>
          </a:p>
          <a:p>
            <a:pPr>
              <a:buFont typeface="Arial" panose="020B0604020202020204" pitchFamily="34" charset="0"/>
              <a:buChar char="•"/>
            </a:pPr>
            <a:r>
              <a:rPr lang="en-IN" dirty="0"/>
              <a:t>Collaboration </a:t>
            </a:r>
          </a:p>
        </p:txBody>
      </p:sp>
    </p:spTree>
    <p:extLst>
      <p:ext uri="{BB962C8B-B14F-4D97-AF65-F5344CB8AC3E}">
        <p14:creationId xmlns:p14="http://schemas.microsoft.com/office/powerpoint/2010/main" val="2888600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CB9A5-B440-D653-1AF7-9F0712E55E73}"/>
              </a:ext>
            </a:extLst>
          </p:cNvPr>
          <p:cNvSpPr>
            <a:spLocks noGrp="1"/>
          </p:cNvSpPr>
          <p:nvPr>
            <p:ph type="title"/>
          </p:nvPr>
        </p:nvSpPr>
        <p:spPr/>
        <p:txBody>
          <a:bodyPr/>
          <a:lstStyle/>
          <a:p>
            <a:r>
              <a:rPr lang="en-IN" dirty="0"/>
              <a:t>Emerging Information Technologies</a:t>
            </a:r>
          </a:p>
        </p:txBody>
      </p:sp>
      <p:sp>
        <p:nvSpPr>
          <p:cNvPr id="4" name="TextBox 3">
            <a:extLst>
              <a:ext uri="{FF2B5EF4-FFF2-40B4-BE49-F238E27FC236}">
                <a16:creationId xmlns:a16="http://schemas.microsoft.com/office/drawing/2014/main" id="{53846150-10E7-9932-71D1-F2AC244393BB}"/>
              </a:ext>
            </a:extLst>
          </p:cNvPr>
          <p:cNvSpPr txBox="1"/>
          <p:nvPr/>
        </p:nvSpPr>
        <p:spPr>
          <a:xfrm>
            <a:off x="680321" y="1934939"/>
            <a:ext cx="10321290" cy="4801314"/>
          </a:xfrm>
          <a:prstGeom prst="rect">
            <a:avLst/>
          </a:prstGeom>
          <a:noFill/>
        </p:spPr>
        <p:txBody>
          <a:bodyPr wrap="square">
            <a:spAutoFit/>
          </a:bodyPr>
          <a:lstStyle/>
          <a:p>
            <a:pPr>
              <a:buNone/>
            </a:pPr>
            <a:r>
              <a:rPr lang="en-IN" b="1" dirty="0"/>
              <a:t>Artificial Intelligence (AI)</a:t>
            </a:r>
          </a:p>
          <a:p>
            <a:pPr>
              <a:buNone/>
            </a:pPr>
            <a:r>
              <a:rPr lang="en-IN" dirty="0"/>
              <a:t>Enables machines to perform intelligent tasks.</a:t>
            </a:r>
          </a:p>
          <a:p>
            <a:pPr>
              <a:buNone/>
            </a:pPr>
            <a:endParaRPr lang="en-IN" dirty="0"/>
          </a:p>
          <a:p>
            <a:pPr>
              <a:buNone/>
            </a:pPr>
            <a:r>
              <a:rPr lang="en-IN" b="1" dirty="0"/>
              <a:t>Machine Learning (ML)</a:t>
            </a:r>
          </a:p>
          <a:p>
            <a:pPr>
              <a:buNone/>
            </a:pPr>
            <a:r>
              <a:rPr lang="en-IN" dirty="0"/>
              <a:t>Allows systems to learn from data.</a:t>
            </a:r>
          </a:p>
          <a:p>
            <a:pPr>
              <a:buNone/>
            </a:pPr>
            <a:endParaRPr lang="en-IN" dirty="0"/>
          </a:p>
          <a:p>
            <a:pPr>
              <a:buNone/>
            </a:pPr>
            <a:r>
              <a:rPr lang="en-IN" b="1" dirty="0"/>
              <a:t>Internet of Things (IoT)</a:t>
            </a:r>
          </a:p>
          <a:p>
            <a:pPr>
              <a:buNone/>
            </a:pPr>
            <a:r>
              <a:rPr lang="en-IN" dirty="0"/>
              <a:t>Connects smart devices through the Internet.</a:t>
            </a:r>
          </a:p>
          <a:p>
            <a:pPr>
              <a:buNone/>
            </a:pPr>
            <a:endParaRPr lang="en-IN" dirty="0"/>
          </a:p>
          <a:p>
            <a:pPr>
              <a:buNone/>
            </a:pPr>
            <a:r>
              <a:rPr lang="en-IN" b="1" dirty="0"/>
              <a:t>Blockchain</a:t>
            </a:r>
          </a:p>
          <a:p>
            <a:pPr>
              <a:buNone/>
            </a:pPr>
            <a:r>
              <a:rPr lang="en-IN" dirty="0"/>
              <a:t>Provides secure and decentralized record keeping.</a:t>
            </a:r>
          </a:p>
          <a:p>
            <a:pPr>
              <a:buNone/>
            </a:pPr>
            <a:endParaRPr lang="en-IN" dirty="0"/>
          </a:p>
          <a:p>
            <a:pPr>
              <a:buNone/>
            </a:pPr>
            <a:r>
              <a:rPr lang="en-IN" b="1" dirty="0"/>
              <a:t>Big Data Analytics</a:t>
            </a:r>
          </a:p>
          <a:p>
            <a:pPr>
              <a:buNone/>
            </a:pPr>
            <a:r>
              <a:rPr lang="en-IN" dirty="0" err="1"/>
              <a:t>Analyzes</a:t>
            </a:r>
            <a:r>
              <a:rPr lang="en-IN" dirty="0"/>
              <a:t> massive datasets for business insights.</a:t>
            </a:r>
          </a:p>
          <a:p>
            <a:pPr>
              <a:buNone/>
            </a:pPr>
            <a:endParaRPr lang="en-IN" dirty="0"/>
          </a:p>
          <a:p>
            <a:pPr>
              <a:buNone/>
            </a:pPr>
            <a:r>
              <a:rPr lang="en-IN" b="1" dirty="0"/>
              <a:t>Quantum Computing</a:t>
            </a:r>
          </a:p>
          <a:p>
            <a:pPr>
              <a:buNone/>
            </a:pPr>
            <a:r>
              <a:rPr lang="en-IN" dirty="0"/>
              <a:t>Performs highly complex computations significantly faster than traditional computers.</a:t>
            </a:r>
          </a:p>
        </p:txBody>
      </p:sp>
    </p:spTree>
    <p:extLst>
      <p:ext uri="{BB962C8B-B14F-4D97-AF65-F5344CB8AC3E}">
        <p14:creationId xmlns:p14="http://schemas.microsoft.com/office/powerpoint/2010/main" val="3796198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AE77E-B4E0-FD86-A73D-E83D83135C40}"/>
              </a:ext>
            </a:extLst>
          </p:cNvPr>
          <p:cNvSpPr>
            <a:spLocks noGrp="1"/>
          </p:cNvSpPr>
          <p:nvPr>
            <p:ph type="title"/>
          </p:nvPr>
        </p:nvSpPr>
        <p:spPr/>
        <p:txBody>
          <a:bodyPr/>
          <a:lstStyle/>
          <a:p>
            <a:r>
              <a:rPr lang="en-IN" dirty="0"/>
              <a:t>Artificial Intelligence (AI)</a:t>
            </a:r>
          </a:p>
        </p:txBody>
      </p:sp>
      <p:sp>
        <p:nvSpPr>
          <p:cNvPr id="4" name="TextBox 3">
            <a:extLst>
              <a:ext uri="{FF2B5EF4-FFF2-40B4-BE49-F238E27FC236}">
                <a16:creationId xmlns:a16="http://schemas.microsoft.com/office/drawing/2014/main" id="{2B396962-EA76-56FB-F2AF-0E40B7A22495}"/>
              </a:ext>
            </a:extLst>
          </p:cNvPr>
          <p:cNvSpPr txBox="1"/>
          <p:nvPr/>
        </p:nvSpPr>
        <p:spPr>
          <a:xfrm>
            <a:off x="680321" y="2005876"/>
            <a:ext cx="9059418" cy="1200329"/>
          </a:xfrm>
          <a:prstGeom prst="rect">
            <a:avLst/>
          </a:prstGeom>
          <a:noFill/>
        </p:spPr>
        <p:txBody>
          <a:bodyPr wrap="square">
            <a:spAutoFit/>
          </a:bodyPr>
          <a:lstStyle/>
          <a:p>
            <a:pPr>
              <a:buNone/>
            </a:pPr>
            <a:r>
              <a:rPr lang="en-IN" sz="2400"/>
              <a:t>Artificial Intelligence (AI) is a branch of computer science that enables machines to perform tasks that normally require human intelligence.</a:t>
            </a:r>
            <a:endParaRPr lang="en-IN" sz="2400" dirty="0"/>
          </a:p>
        </p:txBody>
      </p:sp>
      <p:sp>
        <p:nvSpPr>
          <p:cNvPr id="6" name="TextBox 5">
            <a:extLst>
              <a:ext uri="{FF2B5EF4-FFF2-40B4-BE49-F238E27FC236}">
                <a16:creationId xmlns:a16="http://schemas.microsoft.com/office/drawing/2014/main" id="{F4288A1E-D4A9-145B-F13D-848901D80A53}"/>
              </a:ext>
            </a:extLst>
          </p:cNvPr>
          <p:cNvSpPr txBox="1"/>
          <p:nvPr/>
        </p:nvSpPr>
        <p:spPr>
          <a:xfrm>
            <a:off x="680321" y="3377915"/>
            <a:ext cx="6094476" cy="2677656"/>
          </a:xfrm>
          <a:prstGeom prst="rect">
            <a:avLst/>
          </a:prstGeom>
          <a:noFill/>
        </p:spPr>
        <p:txBody>
          <a:bodyPr wrap="square">
            <a:spAutoFit/>
          </a:bodyPr>
          <a:lstStyle/>
          <a:p>
            <a:pPr>
              <a:buNone/>
            </a:pPr>
            <a:r>
              <a:rPr lang="en-IN" sz="2400" b="1" dirty="0"/>
              <a:t>Applications</a:t>
            </a:r>
          </a:p>
          <a:p>
            <a:pPr>
              <a:buFont typeface="Arial" panose="020B0604020202020204" pitchFamily="34" charset="0"/>
              <a:buChar char="•"/>
            </a:pPr>
            <a:r>
              <a:rPr lang="en-IN" sz="2400" dirty="0"/>
              <a:t>Virtual Assistants (Siri, Alexa) </a:t>
            </a:r>
          </a:p>
          <a:p>
            <a:pPr>
              <a:buFont typeface="Arial" panose="020B0604020202020204" pitchFamily="34" charset="0"/>
              <a:buChar char="•"/>
            </a:pPr>
            <a:r>
              <a:rPr lang="en-IN" sz="2400" dirty="0"/>
              <a:t>Chatbots </a:t>
            </a:r>
          </a:p>
          <a:p>
            <a:pPr>
              <a:buFont typeface="Arial" panose="020B0604020202020204" pitchFamily="34" charset="0"/>
              <a:buChar char="•"/>
            </a:pPr>
            <a:r>
              <a:rPr lang="en-IN" sz="2400" dirty="0"/>
              <a:t>Self-driving Cars </a:t>
            </a:r>
          </a:p>
          <a:p>
            <a:pPr>
              <a:buFont typeface="Arial" panose="020B0604020202020204" pitchFamily="34" charset="0"/>
              <a:buChar char="•"/>
            </a:pPr>
            <a:r>
              <a:rPr lang="en-IN" sz="2400" dirty="0"/>
              <a:t>Fraud Detection </a:t>
            </a:r>
          </a:p>
          <a:p>
            <a:pPr>
              <a:buFont typeface="Arial" panose="020B0604020202020204" pitchFamily="34" charset="0"/>
              <a:buChar char="•"/>
            </a:pPr>
            <a:r>
              <a:rPr lang="en-IN" sz="2400" dirty="0"/>
              <a:t>Medical Diagnosis </a:t>
            </a:r>
          </a:p>
          <a:p>
            <a:pPr>
              <a:buFont typeface="Arial" panose="020B0604020202020204" pitchFamily="34" charset="0"/>
              <a:buChar char="•"/>
            </a:pPr>
            <a:r>
              <a:rPr lang="en-IN" sz="2400" dirty="0"/>
              <a:t>Recommendation Systems</a:t>
            </a:r>
          </a:p>
        </p:txBody>
      </p:sp>
    </p:spTree>
    <p:extLst>
      <p:ext uri="{BB962C8B-B14F-4D97-AF65-F5344CB8AC3E}">
        <p14:creationId xmlns:p14="http://schemas.microsoft.com/office/powerpoint/2010/main" val="2628152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E85C6-EB00-09A0-0168-3A5726A7E825}"/>
              </a:ext>
            </a:extLst>
          </p:cNvPr>
          <p:cNvSpPr>
            <a:spLocks noGrp="1"/>
          </p:cNvSpPr>
          <p:nvPr>
            <p:ph type="title"/>
          </p:nvPr>
        </p:nvSpPr>
        <p:spPr/>
        <p:txBody>
          <a:bodyPr/>
          <a:lstStyle/>
          <a:p>
            <a:r>
              <a:rPr lang="en-IN" dirty="0"/>
              <a:t>Enterprise Resource Planning (ERP)</a:t>
            </a:r>
          </a:p>
        </p:txBody>
      </p:sp>
      <p:sp>
        <p:nvSpPr>
          <p:cNvPr id="4" name="TextBox 3">
            <a:extLst>
              <a:ext uri="{FF2B5EF4-FFF2-40B4-BE49-F238E27FC236}">
                <a16:creationId xmlns:a16="http://schemas.microsoft.com/office/drawing/2014/main" id="{4C6FACBF-B825-D7BF-41B6-7B7364CE8B04}"/>
              </a:ext>
            </a:extLst>
          </p:cNvPr>
          <p:cNvSpPr txBox="1"/>
          <p:nvPr/>
        </p:nvSpPr>
        <p:spPr>
          <a:xfrm>
            <a:off x="680321" y="2022824"/>
            <a:ext cx="10559034" cy="1569660"/>
          </a:xfrm>
          <a:prstGeom prst="rect">
            <a:avLst/>
          </a:prstGeom>
          <a:noFill/>
        </p:spPr>
        <p:txBody>
          <a:bodyPr wrap="square">
            <a:spAutoFit/>
          </a:bodyPr>
          <a:lstStyle/>
          <a:p>
            <a:r>
              <a:rPr lang="en-IN" sz="2400" b="1" dirty="0"/>
              <a:t>Definition:</a:t>
            </a:r>
            <a:br>
              <a:rPr lang="en-IN" sz="2400" dirty="0"/>
            </a:br>
            <a:r>
              <a:rPr lang="en-IN" sz="2400" dirty="0"/>
              <a:t>Enterprise Resource Planning (ERP) is an integrated software system that helps organizations manage and automate their core business processes through a single centralized database.</a:t>
            </a:r>
          </a:p>
        </p:txBody>
      </p:sp>
      <p:sp>
        <p:nvSpPr>
          <p:cNvPr id="6" name="TextBox 5">
            <a:extLst>
              <a:ext uri="{FF2B5EF4-FFF2-40B4-BE49-F238E27FC236}">
                <a16:creationId xmlns:a16="http://schemas.microsoft.com/office/drawing/2014/main" id="{72D01364-3A54-EAA2-39FE-34F32368C881}"/>
              </a:ext>
            </a:extLst>
          </p:cNvPr>
          <p:cNvSpPr txBox="1"/>
          <p:nvPr/>
        </p:nvSpPr>
        <p:spPr>
          <a:xfrm>
            <a:off x="680321" y="3781142"/>
            <a:ext cx="6094476" cy="1938992"/>
          </a:xfrm>
          <a:prstGeom prst="rect">
            <a:avLst/>
          </a:prstGeom>
          <a:noFill/>
        </p:spPr>
        <p:txBody>
          <a:bodyPr wrap="square">
            <a:spAutoFit/>
          </a:bodyPr>
          <a:lstStyle/>
          <a:p>
            <a:pPr>
              <a:buNone/>
            </a:pPr>
            <a:r>
              <a:rPr lang="en-IN" sz="2400" b="1" dirty="0"/>
              <a:t>Examples of ERP Modules</a:t>
            </a:r>
          </a:p>
          <a:p>
            <a:pPr>
              <a:buFont typeface="Arial" panose="020B0604020202020204" pitchFamily="34" charset="0"/>
              <a:buChar char="•"/>
            </a:pPr>
            <a:r>
              <a:rPr lang="en-IN" sz="2400" dirty="0"/>
              <a:t>Finance &amp; Accounting </a:t>
            </a:r>
          </a:p>
          <a:p>
            <a:pPr>
              <a:buFont typeface="Arial" panose="020B0604020202020204" pitchFamily="34" charset="0"/>
              <a:buChar char="•"/>
            </a:pPr>
            <a:r>
              <a:rPr lang="en-IN" sz="2400" dirty="0"/>
              <a:t>Human Resources (HR) </a:t>
            </a:r>
          </a:p>
          <a:p>
            <a:pPr>
              <a:buFont typeface="Arial" panose="020B0604020202020204" pitchFamily="34" charset="0"/>
              <a:buChar char="•"/>
            </a:pPr>
            <a:r>
              <a:rPr lang="en-IN" sz="2400" dirty="0"/>
              <a:t>Inventory Management </a:t>
            </a:r>
          </a:p>
          <a:p>
            <a:pPr>
              <a:buFont typeface="Arial" panose="020B0604020202020204" pitchFamily="34" charset="0"/>
              <a:buChar char="•"/>
            </a:pPr>
            <a:r>
              <a:rPr lang="en-IN" sz="2400" dirty="0"/>
              <a:t>Sales &amp; Marketing</a:t>
            </a:r>
          </a:p>
        </p:txBody>
      </p:sp>
    </p:spTree>
    <p:extLst>
      <p:ext uri="{BB962C8B-B14F-4D97-AF65-F5344CB8AC3E}">
        <p14:creationId xmlns:p14="http://schemas.microsoft.com/office/powerpoint/2010/main" val="2883889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3DE0A-8D5E-329F-DEC5-6AB88BD40D7E}"/>
              </a:ext>
            </a:extLst>
          </p:cNvPr>
          <p:cNvSpPr>
            <a:spLocks noGrp="1"/>
          </p:cNvSpPr>
          <p:nvPr>
            <p:ph type="title"/>
          </p:nvPr>
        </p:nvSpPr>
        <p:spPr/>
        <p:txBody>
          <a:bodyPr/>
          <a:lstStyle/>
          <a:p>
            <a:r>
              <a:rPr lang="en-IN" dirty="0"/>
              <a:t>Key Features of ERP</a:t>
            </a:r>
          </a:p>
        </p:txBody>
      </p:sp>
      <p:sp>
        <p:nvSpPr>
          <p:cNvPr id="4" name="TextBox 3">
            <a:extLst>
              <a:ext uri="{FF2B5EF4-FFF2-40B4-BE49-F238E27FC236}">
                <a16:creationId xmlns:a16="http://schemas.microsoft.com/office/drawing/2014/main" id="{41019994-2C78-F5BF-0D8F-CF315A46C213}"/>
              </a:ext>
            </a:extLst>
          </p:cNvPr>
          <p:cNvSpPr txBox="1"/>
          <p:nvPr/>
        </p:nvSpPr>
        <p:spPr>
          <a:xfrm>
            <a:off x="680321" y="2618292"/>
            <a:ext cx="8903970" cy="2308324"/>
          </a:xfrm>
          <a:prstGeom prst="rect">
            <a:avLst/>
          </a:prstGeom>
          <a:noFill/>
        </p:spPr>
        <p:txBody>
          <a:bodyPr wrap="square">
            <a:spAutoFit/>
          </a:bodyPr>
          <a:lstStyle/>
          <a:p>
            <a:pPr marL="285750" indent="-285750">
              <a:buFont typeface="Arial" panose="020B0604020202020204" pitchFamily="34" charset="0"/>
              <a:buChar char="•"/>
            </a:pPr>
            <a:r>
              <a:rPr lang="en-IN" b="1" dirty="0"/>
              <a:t>Integrated System</a:t>
            </a:r>
            <a:r>
              <a:rPr lang="en-IN" dirty="0"/>
              <a:t> – Connects all business departments in a single platform.</a:t>
            </a:r>
          </a:p>
          <a:p>
            <a:pPr marL="285750" indent="-285750">
              <a:buFont typeface="Arial" panose="020B0604020202020204" pitchFamily="34" charset="0"/>
              <a:buChar char="•"/>
            </a:pPr>
            <a:r>
              <a:rPr lang="en-IN" dirty="0"/>
              <a:t> </a:t>
            </a:r>
            <a:r>
              <a:rPr lang="en-IN" b="1" dirty="0"/>
              <a:t>Centralized Database</a:t>
            </a:r>
            <a:r>
              <a:rPr lang="en-IN" dirty="0"/>
              <a:t> – Stores all organizational data in one secure location.</a:t>
            </a:r>
          </a:p>
          <a:p>
            <a:pPr marL="285750" indent="-285750">
              <a:buFont typeface="Arial" panose="020B0604020202020204" pitchFamily="34" charset="0"/>
              <a:buChar char="•"/>
            </a:pPr>
            <a:r>
              <a:rPr lang="en-IN" dirty="0"/>
              <a:t> </a:t>
            </a:r>
            <a:r>
              <a:rPr lang="en-IN" b="1" dirty="0"/>
              <a:t>Real-Time Information</a:t>
            </a:r>
            <a:r>
              <a:rPr lang="en-IN" dirty="0"/>
              <a:t> – Provides up-to-date data for faster decision-making. </a:t>
            </a:r>
          </a:p>
          <a:p>
            <a:pPr marL="285750" indent="-285750">
              <a:buFont typeface="Arial" panose="020B0604020202020204" pitchFamily="34" charset="0"/>
              <a:buChar char="•"/>
            </a:pPr>
            <a:r>
              <a:rPr lang="en-IN" b="1" dirty="0"/>
              <a:t>Automation</a:t>
            </a:r>
            <a:r>
              <a:rPr lang="en-IN" dirty="0"/>
              <a:t> – Automates routine tasks such as payroll, billing, and inventory updates. </a:t>
            </a:r>
          </a:p>
          <a:p>
            <a:pPr marL="285750" indent="-285750">
              <a:buFont typeface="Arial" panose="020B0604020202020204" pitchFamily="34" charset="0"/>
              <a:buChar char="•"/>
            </a:pPr>
            <a:r>
              <a:rPr lang="en-IN" b="1" dirty="0"/>
              <a:t>Data Accuracy</a:t>
            </a:r>
            <a:r>
              <a:rPr lang="en-IN" dirty="0"/>
              <a:t> – Reduces duplicate entries and minimizes human errors. </a:t>
            </a:r>
          </a:p>
          <a:p>
            <a:pPr marL="285750" indent="-285750">
              <a:buFont typeface="Arial" panose="020B0604020202020204" pitchFamily="34" charset="0"/>
              <a:buChar char="•"/>
            </a:pPr>
            <a:r>
              <a:rPr lang="en-IN" b="1" dirty="0"/>
              <a:t>Reporting &amp; Analytics</a:t>
            </a:r>
            <a:r>
              <a:rPr lang="en-IN" dirty="0"/>
              <a:t> – Generates reports, dashboards, and business insights. </a:t>
            </a:r>
          </a:p>
          <a:p>
            <a:pPr marL="285750" indent="-285750">
              <a:buFont typeface="Arial" panose="020B0604020202020204" pitchFamily="34" charset="0"/>
              <a:buChar char="•"/>
            </a:pPr>
            <a:r>
              <a:rPr lang="en-IN" b="1" dirty="0"/>
              <a:t>Scalability</a:t>
            </a:r>
            <a:r>
              <a:rPr lang="en-IN" dirty="0"/>
              <a:t> – Can grow with the organization's changing business needs.</a:t>
            </a:r>
          </a:p>
        </p:txBody>
      </p:sp>
    </p:spTree>
    <p:extLst>
      <p:ext uri="{BB962C8B-B14F-4D97-AF65-F5344CB8AC3E}">
        <p14:creationId xmlns:p14="http://schemas.microsoft.com/office/powerpoint/2010/main" val="1161518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8A491-EDC3-871A-E977-F8F584715C89}"/>
              </a:ext>
            </a:extLst>
          </p:cNvPr>
          <p:cNvSpPr>
            <a:spLocks noGrp="1"/>
          </p:cNvSpPr>
          <p:nvPr>
            <p:ph type="title"/>
          </p:nvPr>
        </p:nvSpPr>
        <p:spPr/>
        <p:txBody>
          <a:bodyPr/>
          <a:lstStyle/>
          <a:p>
            <a:r>
              <a:rPr lang="en-US" dirty="0"/>
              <a:t>Benefits Of ERP</a:t>
            </a:r>
            <a:endParaRPr lang="en-IN" dirty="0"/>
          </a:p>
        </p:txBody>
      </p:sp>
      <p:sp>
        <p:nvSpPr>
          <p:cNvPr id="4" name="TextBox 3">
            <a:extLst>
              <a:ext uri="{FF2B5EF4-FFF2-40B4-BE49-F238E27FC236}">
                <a16:creationId xmlns:a16="http://schemas.microsoft.com/office/drawing/2014/main" id="{B9A68827-A7F3-224B-DAD9-3A290C5D571C}"/>
              </a:ext>
            </a:extLst>
          </p:cNvPr>
          <p:cNvSpPr txBox="1"/>
          <p:nvPr/>
        </p:nvSpPr>
        <p:spPr>
          <a:xfrm>
            <a:off x="680321" y="2154627"/>
            <a:ext cx="9928098" cy="3416320"/>
          </a:xfrm>
          <a:prstGeom prst="rect">
            <a:avLst/>
          </a:prstGeom>
          <a:noFill/>
        </p:spPr>
        <p:txBody>
          <a:bodyPr wrap="square">
            <a:spAutoFit/>
          </a:bodyPr>
          <a:lstStyle/>
          <a:p>
            <a:pPr marL="285750" indent="-285750">
              <a:buFont typeface="Arial" panose="020B0604020202020204" pitchFamily="34" charset="0"/>
              <a:buChar char="•"/>
            </a:pPr>
            <a:r>
              <a:rPr lang="en-IN" b="1" dirty="0"/>
              <a:t>Improved Productivity</a:t>
            </a:r>
            <a:r>
              <a:rPr lang="en-IN" dirty="0"/>
              <a:t> – Automates repetitive tasks, allowing employees to focus on strategic work.</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 </a:t>
            </a:r>
            <a:r>
              <a:rPr lang="en-IN" b="1" dirty="0"/>
              <a:t>Better Decision-Making</a:t>
            </a:r>
            <a:r>
              <a:rPr lang="en-IN" dirty="0"/>
              <a:t> – Provides real-time data and accurate reports for informed decisions. </a:t>
            </a:r>
            <a:r>
              <a:rPr lang="en-IN" b="1" dirty="0"/>
              <a:t>Enhanced </a:t>
            </a:r>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Collaboration</a:t>
            </a:r>
            <a:r>
              <a:rPr lang="en-IN" dirty="0"/>
              <a:t> – Enables seamless communication and data sharing across departments.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 </a:t>
            </a:r>
            <a:r>
              <a:rPr lang="en-IN" b="1" dirty="0"/>
              <a:t>Cost Reduction</a:t>
            </a:r>
            <a:r>
              <a:rPr lang="en-IN" dirty="0"/>
              <a:t> – Minimizes operational costs by optimizing resources and reducing manual work.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Higher Data Accuracy</a:t>
            </a:r>
            <a:r>
              <a:rPr lang="en-IN" dirty="0"/>
              <a:t> – Eliminates duplicate data and reduces human errors.</a:t>
            </a:r>
          </a:p>
        </p:txBody>
      </p:sp>
    </p:spTree>
    <p:extLst>
      <p:ext uri="{BB962C8B-B14F-4D97-AF65-F5344CB8AC3E}">
        <p14:creationId xmlns:p14="http://schemas.microsoft.com/office/powerpoint/2010/main" val="2106165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E2678-6988-784C-CC89-DA03D9B4E8AC}"/>
              </a:ext>
            </a:extLst>
          </p:cNvPr>
          <p:cNvSpPr>
            <a:spLocks noGrp="1"/>
          </p:cNvSpPr>
          <p:nvPr>
            <p:ph type="title"/>
          </p:nvPr>
        </p:nvSpPr>
        <p:spPr/>
        <p:txBody>
          <a:bodyPr/>
          <a:lstStyle/>
          <a:p>
            <a:r>
              <a:rPr lang="en-US" dirty="0"/>
              <a:t>Popular ERP </a:t>
            </a:r>
            <a:r>
              <a:rPr lang="en-US" dirty="0" err="1"/>
              <a:t>Softwares</a:t>
            </a:r>
            <a:endParaRPr lang="en-IN" dirty="0"/>
          </a:p>
        </p:txBody>
      </p:sp>
      <p:sp>
        <p:nvSpPr>
          <p:cNvPr id="4" name="TextBox 3">
            <a:extLst>
              <a:ext uri="{FF2B5EF4-FFF2-40B4-BE49-F238E27FC236}">
                <a16:creationId xmlns:a16="http://schemas.microsoft.com/office/drawing/2014/main" id="{F4BC9FCF-01F9-9B51-80B3-DF2C51BE2EC6}"/>
              </a:ext>
            </a:extLst>
          </p:cNvPr>
          <p:cNvSpPr txBox="1"/>
          <p:nvPr/>
        </p:nvSpPr>
        <p:spPr>
          <a:xfrm>
            <a:off x="680321" y="2139464"/>
            <a:ext cx="6094476" cy="1938992"/>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SAP ERP</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Oracle ERP Cloud</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Microsoft Dynamics 365</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Odoo</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NetSuite ERP</a:t>
            </a:r>
          </a:p>
        </p:txBody>
      </p:sp>
    </p:spTree>
    <p:extLst>
      <p:ext uri="{BB962C8B-B14F-4D97-AF65-F5344CB8AC3E}">
        <p14:creationId xmlns:p14="http://schemas.microsoft.com/office/powerpoint/2010/main" val="2717649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2284E1F-28AA-E78E-64CB-EC0F07CD65E2}"/>
              </a:ext>
            </a:extLst>
          </p:cNvPr>
          <p:cNvSpPr>
            <a:spLocks noGrp="1"/>
          </p:cNvSpPr>
          <p:nvPr>
            <p:ph type="body" sz="half" idx="15"/>
          </p:nvPr>
        </p:nvSpPr>
        <p:spPr>
          <a:xfrm>
            <a:off x="497442" y="2227145"/>
            <a:ext cx="3049702" cy="2913513"/>
          </a:xfrm>
        </p:spPr>
        <p:txBody>
          <a:bodyPr>
            <a:noAutofit/>
          </a:bodyPr>
          <a:lstStyle/>
          <a:p>
            <a:pPr marL="285750" indent="-285750">
              <a:buFont typeface="Arial" panose="020B0604020202020204" pitchFamily="34" charset="0"/>
              <a:buChar char="•"/>
            </a:pPr>
            <a:r>
              <a:rPr lang="en-IN" sz="1800" b="1" dirty="0"/>
              <a:t>Data Collection</a:t>
            </a:r>
            <a:r>
              <a:rPr lang="en-IN" sz="1800" dirty="0"/>
              <a:t> Data is entered from different departments such as Finance, HR, Sales, Inventory, and Manufacturing. </a:t>
            </a:r>
          </a:p>
          <a:p>
            <a:pPr marL="285750" indent="-285750">
              <a:buFont typeface="Arial" panose="020B0604020202020204" pitchFamily="34" charset="0"/>
              <a:buChar char="•"/>
            </a:pPr>
            <a:r>
              <a:rPr lang="en-IN" sz="1800" b="1" dirty="0"/>
              <a:t>Centralized Database</a:t>
            </a:r>
            <a:r>
              <a:rPr lang="en-IN" sz="1800" dirty="0"/>
              <a:t> All data is stored in a single, shared database, ensuring consistency and eliminating duplication. </a:t>
            </a:r>
          </a:p>
          <a:p>
            <a:pPr marL="285750" indent="-285750">
              <a:buFont typeface="Arial" panose="020B0604020202020204" pitchFamily="34" charset="0"/>
              <a:buChar char="•"/>
            </a:pPr>
            <a:r>
              <a:rPr lang="en-IN" sz="1800" b="1" dirty="0"/>
              <a:t>Data Processing</a:t>
            </a:r>
            <a:r>
              <a:rPr lang="en-IN" sz="1800" dirty="0"/>
              <a:t> The ERP system processes and validates the data according to predefined business rules and workflows.</a:t>
            </a:r>
          </a:p>
          <a:p>
            <a:endParaRPr lang="en-IN" sz="1800" dirty="0"/>
          </a:p>
        </p:txBody>
      </p:sp>
      <p:sp>
        <p:nvSpPr>
          <p:cNvPr id="6" name="Text Placeholder 5">
            <a:extLst>
              <a:ext uri="{FF2B5EF4-FFF2-40B4-BE49-F238E27FC236}">
                <a16:creationId xmlns:a16="http://schemas.microsoft.com/office/drawing/2014/main" id="{6F3419A3-3C80-2DF2-6447-29D5F0ABC19A}"/>
              </a:ext>
            </a:extLst>
          </p:cNvPr>
          <p:cNvSpPr>
            <a:spLocks noGrp="1"/>
          </p:cNvSpPr>
          <p:nvPr>
            <p:ph type="body" sz="half" idx="16"/>
          </p:nvPr>
        </p:nvSpPr>
        <p:spPr>
          <a:xfrm>
            <a:off x="3854030" y="2227145"/>
            <a:ext cx="3063240" cy="2913513"/>
          </a:xfrm>
        </p:spPr>
        <p:txBody>
          <a:bodyPr>
            <a:noAutofit/>
          </a:bodyPr>
          <a:lstStyle/>
          <a:p>
            <a:pPr marL="285750" indent="-285750">
              <a:buFont typeface="Arial" panose="020B0604020202020204" pitchFamily="34" charset="0"/>
              <a:buChar char="•"/>
            </a:pPr>
            <a:r>
              <a:rPr lang="en-IN" sz="1800" b="1" dirty="0"/>
              <a:t>Module Integration</a:t>
            </a:r>
            <a:r>
              <a:rPr lang="en-IN" sz="1800" dirty="0"/>
              <a:t> Different ERP modules (Finance, HR, Sales, Inventory, CRM, etc.) share the same data, allowing seamless communication across departments. </a:t>
            </a:r>
          </a:p>
          <a:p>
            <a:pPr marL="285750" indent="-285750">
              <a:buFont typeface="Arial" panose="020B0604020202020204" pitchFamily="34" charset="0"/>
              <a:buChar char="•"/>
            </a:pPr>
            <a:r>
              <a:rPr lang="en-IN" sz="1800" b="1" dirty="0"/>
              <a:t>Real-Time Updates</a:t>
            </a:r>
            <a:r>
              <a:rPr lang="en-IN" sz="1800" dirty="0"/>
              <a:t> Any change made in one module is instantly reflected in all related modules.</a:t>
            </a:r>
          </a:p>
          <a:p>
            <a:endParaRPr lang="en-IN" sz="1800" dirty="0"/>
          </a:p>
        </p:txBody>
      </p:sp>
      <p:sp>
        <p:nvSpPr>
          <p:cNvPr id="8" name="Text Placeholder 7">
            <a:extLst>
              <a:ext uri="{FF2B5EF4-FFF2-40B4-BE49-F238E27FC236}">
                <a16:creationId xmlns:a16="http://schemas.microsoft.com/office/drawing/2014/main" id="{78135CA4-5F84-2A00-1684-02CC6630DE2B}"/>
              </a:ext>
            </a:extLst>
          </p:cNvPr>
          <p:cNvSpPr>
            <a:spLocks noGrp="1"/>
          </p:cNvSpPr>
          <p:nvPr>
            <p:ph type="body" sz="half" idx="17"/>
          </p:nvPr>
        </p:nvSpPr>
        <p:spPr>
          <a:xfrm>
            <a:off x="7379604" y="2227145"/>
            <a:ext cx="3070025" cy="2913513"/>
          </a:xfrm>
        </p:spPr>
        <p:txBody>
          <a:bodyPr>
            <a:noAutofit/>
          </a:bodyPr>
          <a:lstStyle/>
          <a:p>
            <a:pPr marL="285750" indent="-285750">
              <a:buFont typeface="Arial" panose="020B0604020202020204" pitchFamily="34" charset="0"/>
              <a:buChar char="•"/>
            </a:pPr>
            <a:r>
              <a:rPr lang="en-IN" sz="1800" b="1" dirty="0"/>
              <a:t>Reporting and Analytics</a:t>
            </a:r>
            <a:r>
              <a:rPr lang="en-IN" sz="1800" dirty="0"/>
              <a:t> The system generates dashboards, reports, and performance metrics to support business decision-making. </a:t>
            </a:r>
          </a:p>
          <a:p>
            <a:pPr marL="285750" indent="-285750">
              <a:buFont typeface="Arial" panose="020B0604020202020204" pitchFamily="34" charset="0"/>
              <a:buChar char="•"/>
            </a:pPr>
            <a:r>
              <a:rPr lang="en-IN" sz="1800" b="1" dirty="0"/>
              <a:t>Decision Making</a:t>
            </a:r>
            <a:r>
              <a:rPr lang="en-IN" sz="1800" dirty="0"/>
              <a:t> Managers use real-time insights to monitor operations, improve efficiency, and make informed strategic decisions.</a:t>
            </a:r>
          </a:p>
          <a:p>
            <a:endParaRPr lang="en-IN" sz="1800" dirty="0"/>
          </a:p>
        </p:txBody>
      </p:sp>
      <p:sp>
        <p:nvSpPr>
          <p:cNvPr id="9" name="Title 1">
            <a:extLst>
              <a:ext uri="{FF2B5EF4-FFF2-40B4-BE49-F238E27FC236}">
                <a16:creationId xmlns:a16="http://schemas.microsoft.com/office/drawing/2014/main" id="{4E691AE9-3F86-4F1C-3ADB-2D7D10FB17A8}"/>
              </a:ext>
            </a:extLst>
          </p:cNvPr>
          <p:cNvSpPr>
            <a:spLocks noGrp="1"/>
          </p:cNvSpPr>
          <p:nvPr>
            <p:ph type="title"/>
          </p:nvPr>
        </p:nvSpPr>
        <p:spPr>
          <a:xfrm>
            <a:off x="680321" y="753228"/>
            <a:ext cx="9613861" cy="1080938"/>
          </a:xfrm>
        </p:spPr>
        <p:txBody>
          <a:bodyPr/>
          <a:lstStyle/>
          <a:p>
            <a:r>
              <a:rPr lang="en-IN" dirty="0"/>
              <a:t>How ERP Platforms Work</a:t>
            </a:r>
          </a:p>
        </p:txBody>
      </p:sp>
    </p:spTree>
    <p:extLst>
      <p:ext uri="{BB962C8B-B14F-4D97-AF65-F5344CB8AC3E}">
        <p14:creationId xmlns:p14="http://schemas.microsoft.com/office/powerpoint/2010/main" val="30675495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9A46D-09E5-3362-321D-6ABDCA1C98FA}"/>
              </a:ext>
            </a:extLst>
          </p:cNvPr>
          <p:cNvSpPr>
            <a:spLocks noGrp="1"/>
          </p:cNvSpPr>
          <p:nvPr>
            <p:ph type="title"/>
          </p:nvPr>
        </p:nvSpPr>
        <p:spPr/>
        <p:txBody>
          <a:bodyPr/>
          <a:lstStyle/>
          <a:p>
            <a:r>
              <a:rPr lang="en-IN" b="1" dirty="0"/>
              <a:t>Centralized Database</a:t>
            </a:r>
            <a:endParaRPr lang="en-IN" dirty="0"/>
          </a:p>
        </p:txBody>
      </p:sp>
      <p:sp>
        <p:nvSpPr>
          <p:cNvPr id="4" name="TextBox 3">
            <a:extLst>
              <a:ext uri="{FF2B5EF4-FFF2-40B4-BE49-F238E27FC236}">
                <a16:creationId xmlns:a16="http://schemas.microsoft.com/office/drawing/2014/main" id="{50563DC4-F60C-B9A3-E186-B1AEE5C5CE0C}"/>
              </a:ext>
            </a:extLst>
          </p:cNvPr>
          <p:cNvSpPr txBox="1"/>
          <p:nvPr/>
        </p:nvSpPr>
        <p:spPr>
          <a:xfrm>
            <a:off x="680321" y="2100672"/>
            <a:ext cx="8505825" cy="3046988"/>
          </a:xfrm>
          <a:prstGeom prst="rect">
            <a:avLst/>
          </a:prstGeom>
          <a:noFill/>
        </p:spPr>
        <p:txBody>
          <a:bodyPr wrap="square">
            <a:spAutoFit/>
          </a:bodyPr>
          <a:lstStyle/>
          <a:p>
            <a:r>
              <a:rPr lang="en-IN" sz="2400" dirty="0"/>
              <a:t>In an </a:t>
            </a:r>
            <a:r>
              <a:rPr lang="en-IN" sz="2400" b="1" dirty="0"/>
              <a:t>Enterprise Resource Planning (ERP)</a:t>
            </a:r>
            <a:r>
              <a:rPr lang="en-IN" sz="2400" dirty="0"/>
              <a:t> system, a </a:t>
            </a:r>
            <a:r>
              <a:rPr lang="en-IN" sz="2400" b="1" dirty="0"/>
              <a:t>Centralized Database</a:t>
            </a:r>
            <a:r>
              <a:rPr lang="en-IN" sz="2400" dirty="0"/>
              <a:t> is a single, integrated database that stores all business information in one place. Every ERP module (Finance, Human Resources, Sales, Inventory, Manufacturing, Procurement, and Customer Relationship Management) accesses the same database, ensuring that all departments work with accurate and up-to-date information.</a:t>
            </a:r>
          </a:p>
        </p:txBody>
      </p:sp>
    </p:spTree>
    <p:extLst>
      <p:ext uri="{BB962C8B-B14F-4D97-AF65-F5344CB8AC3E}">
        <p14:creationId xmlns:p14="http://schemas.microsoft.com/office/powerpoint/2010/main" val="1000321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B53AF-EC97-9F24-47CE-EFB1F935A8A8}"/>
              </a:ext>
            </a:extLst>
          </p:cNvPr>
          <p:cNvSpPr>
            <a:spLocks noGrp="1"/>
          </p:cNvSpPr>
          <p:nvPr>
            <p:ph type="title"/>
          </p:nvPr>
        </p:nvSpPr>
        <p:spPr/>
        <p:txBody>
          <a:bodyPr/>
          <a:lstStyle/>
          <a:p>
            <a:r>
              <a:rPr lang="en-IN" b="1" dirty="0"/>
              <a:t>Integration of Business Processes</a:t>
            </a:r>
            <a:endParaRPr lang="en-IN" dirty="0"/>
          </a:p>
        </p:txBody>
      </p:sp>
      <p:sp>
        <p:nvSpPr>
          <p:cNvPr id="4" name="TextBox 3">
            <a:extLst>
              <a:ext uri="{FF2B5EF4-FFF2-40B4-BE49-F238E27FC236}">
                <a16:creationId xmlns:a16="http://schemas.microsoft.com/office/drawing/2014/main" id="{BD032C26-F712-D712-C5B8-34F7D34BE86F}"/>
              </a:ext>
            </a:extLst>
          </p:cNvPr>
          <p:cNvSpPr txBox="1"/>
          <p:nvPr/>
        </p:nvSpPr>
        <p:spPr>
          <a:xfrm>
            <a:off x="609600" y="2135565"/>
            <a:ext cx="10648950" cy="3693319"/>
          </a:xfrm>
          <a:prstGeom prst="rect">
            <a:avLst/>
          </a:prstGeom>
          <a:noFill/>
        </p:spPr>
        <p:txBody>
          <a:bodyPr wrap="square">
            <a:spAutoFit/>
          </a:bodyPr>
          <a:lstStyle/>
          <a:p>
            <a:pPr marL="285750" indent="-285750">
              <a:buFont typeface="Arial" panose="020B0604020202020204" pitchFamily="34" charset="0"/>
              <a:buChar char="•"/>
            </a:pPr>
            <a:r>
              <a:rPr lang="en-IN" b="1" dirty="0"/>
              <a:t>Sales and Marketing:</a:t>
            </a:r>
            <a:r>
              <a:rPr lang="en-IN" dirty="0"/>
              <a:t> Customer orders are entered into the ERP system.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Inventory Management:</a:t>
            </a:r>
            <a:r>
              <a:rPr lang="en-IN" dirty="0"/>
              <a:t> Stock levels are automatically updated after a sale.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Procurement:</a:t>
            </a:r>
            <a:r>
              <a:rPr lang="en-IN" dirty="0"/>
              <a:t> Purchase orders are generated when inventory falls below the minimum level.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Manufacturing:</a:t>
            </a:r>
            <a:r>
              <a:rPr lang="en-IN" dirty="0"/>
              <a:t> Production schedules are created based on customer demand and material availability.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Finance and Accounting:</a:t>
            </a:r>
            <a:r>
              <a:rPr lang="en-IN" dirty="0"/>
              <a:t> Invoices, payments, and financial records are updated automatically.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Human Resources (HR):</a:t>
            </a:r>
            <a:r>
              <a:rPr lang="en-IN" dirty="0"/>
              <a:t> Employee payroll, attendance, and performance data are integrated with finance and operations.</a:t>
            </a:r>
          </a:p>
        </p:txBody>
      </p:sp>
    </p:spTree>
    <p:extLst>
      <p:ext uri="{BB962C8B-B14F-4D97-AF65-F5344CB8AC3E}">
        <p14:creationId xmlns:p14="http://schemas.microsoft.com/office/powerpoint/2010/main" val="1631729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53EFE20-59E7-445D-8949-F6433ED579E7}"/>
              </a:ext>
            </a:extLst>
          </p:cNvPr>
          <p:cNvSpPr txBox="1"/>
          <p:nvPr/>
        </p:nvSpPr>
        <p:spPr>
          <a:xfrm>
            <a:off x="533400" y="915085"/>
            <a:ext cx="6096000" cy="646331"/>
          </a:xfrm>
          <a:prstGeom prst="rect">
            <a:avLst/>
          </a:prstGeom>
          <a:noFill/>
        </p:spPr>
        <p:txBody>
          <a:bodyPr wrap="square">
            <a:spAutoFit/>
          </a:bodyPr>
          <a:lstStyle/>
          <a:p>
            <a:r>
              <a:rPr lang="en-IN" sz="3600" b="1" dirty="0">
                <a:solidFill>
                  <a:schemeClr val="tx1"/>
                </a:solidFill>
              </a:rPr>
              <a:t>Automation of Tasks</a:t>
            </a:r>
            <a:endParaRPr lang="en-IN" dirty="0"/>
          </a:p>
        </p:txBody>
      </p:sp>
      <p:sp>
        <p:nvSpPr>
          <p:cNvPr id="6" name="TextBox 5">
            <a:extLst>
              <a:ext uri="{FF2B5EF4-FFF2-40B4-BE49-F238E27FC236}">
                <a16:creationId xmlns:a16="http://schemas.microsoft.com/office/drawing/2014/main" id="{CEFE9BA6-AED3-E2EC-1E4A-EF949B986308}"/>
              </a:ext>
            </a:extLst>
          </p:cNvPr>
          <p:cNvSpPr txBox="1"/>
          <p:nvPr/>
        </p:nvSpPr>
        <p:spPr>
          <a:xfrm>
            <a:off x="400050" y="2108538"/>
            <a:ext cx="10096500" cy="1200329"/>
          </a:xfrm>
          <a:prstGeom prst="rect">
            <a:avLst/>
          </a:prstGeom>
          <a:noFill/>
        </p:spPr>
        <p:txBody>
          <a:bodyPr wrap="square">
            <a:spAutoFit/>
          </a:bodyPr>
          <a:lstStyle/>
          <a:p>
            <a:r>
              <a:rPr lang="en-IN" b="1"/>
              <a:t>Automation of Tasks in ERP (Enterprise Resource Planning)</a:t>
            </a:r>
            <a:r>
              <a:rPr lang="en-IN"/>
              <a:t> refers to the use of an ERP system to automatically perform routine and repetitive business activities with minimal human intervention. Automation reduces manual work, minimizes errors, improves efficiency, and ensures that business processes are completed faster and more accurately.</a:t>
            </a:r>
            <a:endParaRPr lang="en-IN" dirty="0"/>
          </a:p>
        </p:txBody>
      </p:sp>
      <p:sp>
        <p:nvSpPr>
          <p:cNvPr id="8" name="TextBox 7">
            <a:extLst>
              <a:ext uri="{FF2B5EF4-FFF2-40B4-BE49-F238E27FC236}">
                <a16:creationId xmlns:a16="http://schemas.microsoft.com/office/drawing/2014/main" id="{317D9F9F-17EF-1FE6-7681-7849ED6417B1}"/>
              </a:ext>
            </a:extLst>
          </p:cNvPr>
          <p:cNvSpPr txBox="1"/>
          <p:nvPr/>
        </p:nvSpPr>
        <p:spPr>
          <a:xfrm>
            <a:off x="400050" y="3549134"/>
            <a:ext cx="6096000" cy="2585323"/>
          </a:xfrm>
          <a:prstGeom prst="rect">
            <a:avLst/>
          </a:prstGeom>
          <a:noFill/>
        </p:spPr>
        <p:txBody>
          <a:bodyPr wrap="square">
            <a:spAutoFit/>
          </a:bodyPr>
          <a:lstStyle/>
          <a:p>
            <a:pPr>
              <a:buNone/>
            </a:pPr>
            <a:r>
              <a:rPr lang="en-IN" dirty="0"/>
              <a:t>A customer places an online order:</a:t>
            </a:r>
          </a:p>
          <a:p>
            <a:pPr>
              <a:buFont typeface="+mj-lt"/>
              <a:buAutoNum type="arabicPeriod"/>
            </a:pPr>
            <a:r>
              <a:rPr lang="en-IN" dirty="0"/>
              <a:t>The </a:t>
            </a:r>
            <a:r>
              <a:rPr lang="en-IN" b="1" dirty="0"/>
              <a:t>Sales</a:t>
            </a:r>
            <a:r>
              <a:rPr lang="en-IN" dirty="0"/>
              <a:t> module records the order automatically. </a:t>
            </a:r>
          </a:p>
          <a:p>
            <a:pPr>
              <a:buFont typeface="+mj-lt"/>
              <a:buAutoNum type="arabicPeriod"/>
            </a:pPr>
            <a:r>
              <a:rPr lang="en-IN" dirty="0"/>
              <a:t>The </a:t>
            </a:r>
            <a:r>
              <a:rPr lang="en-IN" b="1" dirty="0"/>
              <a:t>Inventory</a:t>
            </a:r>
            <a:r>
              <a:rPr lang="en-IN" dirty="0"/>
              <a:t> module checks and updates stock levels. </a:t>
            </a:r>
          </a:p>
          <a:p>
            <a:pPr>
              <a:buFont typeface="+mj-lt"/>
              <a:buAutoNum type="arabicPeriod"/>
            </a:pPr>
            <a:r>
              <a:rPr lang="en-IN" dirty="0"/>
              <a:t>The </a:t>
            </a:r>
            <a:r>
              <a:rPr lang="en-IN" b="1" dirty="0"/>
              <a:t>Finance</a:t>
            </a:r>
            <a:r>
              <a:rPr lang="en-IN" dirty="0"/>
              <a:t> module generates the invoice. </a:t>
            </a:r>
          </a:p>
          <a:p>
            <a:pPr>
              <a:buFont typeface="+mj-lt"/>
              <a:buAutoNum type="arabicPeriod"/>
            </a:pPr>
            <a:r>
              <a:rPr lang="en-IN" dirty="0"/>
              <a:t>The </a:t>
            </a:r>
            <a:r>
              <a:rPr lang="en-IN" b="1" dirty="0"/>
              <a:t>Warehouse</a:t>
            </a:r>
            <a:r>
              <a:rPr lang="en-IN" dirty="0"/>
              <a:t> receives a picking request. </a:t>
            </a:r>
          </a:p>
          <a:p>
            <a:pPr>
              <a:buFont typeface="+mj-lt"/>
              <a:buAutoNum type="arabicPeriod"/>
            </a:pPr>
            <a:r>
              <a:rPr lang="en-IN" dirty="0"/>
              <a:t>The </a:t>
            </a:r>
            <a:r>
              <a:rPr lang="en-IN" b="1" dirty="0"/>
              <a:t>Logistics</a:t>
            </a:r>
            <a:r>
              <a:rPr lang="en-IN" dirty="0"/>
              <a:t> module schedules delivery. </a:t>
            </a:r>
          </a:p>
          <a:p>
            <a:pPr>
              <a:buFont typeface="+mj-lt"/>
              <a:buAutoNum type="arabicPeriod"/>
            </a:pPr>
            <a:r>
              <a:rPr lang="en-IN" dirty="0"/>
              <a:t>If stock is low, the </a:t>
            </a:r>
            <a:r>
              <a:rPr lang="en-IN" b="1" dirty="0"/>
              <a:t>Procurement</a:t>
            </a:r>
            <a:r>
              <a:rPr lang="en-IN" dirty="0"/>
              <a:t> module automatically creates a purchase order.</a:t>
            </a:r>
          </a:p>
        </p:txBody>
      </p:sp>
    </p:spTree>
    <p:extLst>
      <p:ext uri="{BB962C8B-B14F-4D97-AF65-F5344CB8AC3E}">
        <p14:creationId xmlns:p14="http://schemas.microsoft.com/office/powerpoint/2010/main" val="21424888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399DC09-5219-2376-6D81-92B7244FCC3A}"/>
              </a:ext>
            </a:extLst>
          </p:cNvPr>
          <p:cNvSpPr txBox="1"/>
          <p:nvPr/>
        </p:nvSpPr>
        <p:spPr>
          <a:xfrm>
            <a:off x="371474" y="923836"/>
            <a:ext cx="9229725" cy="646331"/>
          </a:xfrm>
          <a:prstGeom prst="rect">
            <a:avLst/>
          </a:prstGeom>
          <a:noFill/>
        </p:spPr>
        <p:txBody>
          <a:bodyPr wrap="square">
            <a:spAutoFit/>
          </a:bodyPr>
          <a:lstStyle/>
          <a:p>
            <a:r>
              <a:rPr lang="en-IN" sz="3600" b="1" dirty="0">
                <a:solidFill>
                  <a:schemeClr val="tx1"/>
                </a:solidFill>
              </a:rPr>
              <a:t>Real-Time Data and Reporting</a:t>
            </a:r>
            <a:endParaRPr lang="en-IN" dirty="0"/>
          </a:p>
        </p:txBody>
      </p:sp>
      <p:sp>
        <p:nvSpPr>
          <p:cNvPr id="6" name="TextBox 5">
            <a:extLst>
              <a:ext uri="{FF2B5EF4-FFF2-40B4-BE49-F238E27FC236}">
                <a16:creationId xmlns:a16="http://schemas.microsoft.com/office/drawing/2014/main" id="{C119E672-17D3-18FF-6D8C-91775174C4A3}"/>
              </a:ext>
            </a:extLst>
          </p:cNvPr>
          <p:cNvSpPr txBox="1"/>
          <p:nvPr/>
        </p:nvSpPr>
        <p:spPr>
          <a:xfrm>
            <a:off x="552450" y="3618637"/>
            <a:ext cx="6096000" cy="2031325"/>
          </a:xfrm>
          <a:prstGeom prst="rect">
            <a:avLst/>
          </a:prstGeom>
          <a:noFill/>
        </p:spPr>
        <p:txBody>
          <a:bodyPr wrap="square">
            <a:spAutoFit/>
          </a:bodyPr>
          <a:lstStyle/>
          <a:p>
            <a:pPr marL="285750" indent="-285750">
              <a:buFont typeface="Arial" panose="020B0604020202020204" pitchFamily="34" charset="0"/>
              <a:buChar char="•"/>
            </a:pPr>
            <a:r>
              <a:rPr lang="en-IN" dirty="0"/>
              <a:t>A transaction is entered into any ERP module. </a:t>
            </a:r>
          </a:p>
          <a:p>
            <a:pPr marL="285750" indent="-285750">
              <a:buFont typeface="Arial" panose="020B0604020202020204" pitchFamily="34" charset="0"/>
              <a:buChar char="•"/>
            </a:pPr>
            <a:r>
              <a:rPr lang="en-IN" dirty="0"/>
              <a:t>The centralized database is updated immediately. </a:t>
            </a:r>
          </a:p>
          <a:p>
            <a:pPr marL="285750" indent="-285750">
              <a:buFont typeface="Arial" panose="020B0604020202020204" pitchFamily="34" charset="0"/>
              <a:buChar char="•"/>
            </a:pPr>
            <a:r>
              <a:rPr lang="en-IN" dirty="0"/>
              <a:t>All related modules receive the updated information. </a:t>
            </a:r>
          </a:p>
          <a:p>
            <a:pPr marL="285750" indent="-285750">
              <a:buFont typeface="Arial" panose="020B0604020202020204" pitchFamily="34" charset="0"/>
              <a:buChar char="•"/>
            </a:pPr>
            <a:r>
              <a:rPr lang="en-IN" dirty="0"/>
              <a:t>Dashboards and reports reflect the latest data instantly.</a:t>
            </a:r>
          </a:p>
          <a:p>
            <a:pPr marL="285750" indent="-285750">
              <a:buFont typeface="Arial" panose="020B0604020202020204" pitchFamily="34" charset="0"/>
              <a:buChar char="•"/>
            </a:pPr>
            <a:r>
              <a:rPr lang="en-IN" dirty="0"/>
              <a:t> Managers can make informed decisions using current business information.</a:t>
            </a:r>
          </a:p>
        </p:txBody>
      </p:sp>
      <p:sp>
        <p:nvSpPr>
          <p:cNvPr id="8" name="TextBox 7">
            <a:extLst>
              <a:ext uri="{FF2B5EF4-FFF2-40B4-BE49-F238E27FC236}">
                <a16:creationId xmlns:a16="http://schemas.microsoft.com/office/drawing/2014/main" id="{AA48A734-FA39-1F3D-96C5-00461EF1D2EC}"/>
              </a:ext>
            </a:extLst>
          </p:cNvPr>
          <p:cNvSpPr txBox="1"/>
          <p:nvPr/>
        </p:nvSpPr>
        <p:spPr>
          <a:xfrm>
            <a:off x="552450" y="2141309"/>
            <a:ext cx="8429625" cy="1477328"/>
          </a:xfrm>
          <a:prstGeom prst="rect">
            <a:avLst/>
          </a:prstGeom>
          <a:noFill/>
        </p:spPr>
        <p:txBody>
          <a:bodyPr wrap="square">
            <a:spAutoFit/>
          </a:bodyPr>
          <a:lstStyle/>
          <a:p>
            <a:r>
              <a:rPr lang="en-IN" b="1" dirty="0"/>
              <a:t>Real-Time Data and Reporting</a:t>
            </a:r>
            <a:r>
              <a:rPr lang="en-IN" dirty="0"/>
              <a:t> in an </a:t>
            </a:r>
            <a:r>
              <a:rPr lang="en-IN" b="1" dirty="0"/>
              <a:t>Enterprise Resource Planning (ERP)</a:t>
            </a:r>
            <a:r>
              <a:rPr lang="en-IN" dirty="0"/>
              <a:t> system refers to the ability to </a:t>
            </a:r>
            <a:r>
              <a:rPr lang="en-IN" b="1" dirty="0"/>
              <a:t>capture, update, process, and display business information instantly</a:t>
            </a:r>
            <a:r>
              <a:rPr lang="en-IN" dirty="0"/>
              <a:t> as transactions occur. This allows managers and employees to access accurate, up-to-date information and generate reports at any time for better decision-making.</a:t>
            </a:r>
          </a:p>
        </p:txBody>
      </p:sp>
    </p:spTree>
    <p:extLst>
      <p:ext uri="{BB962C8B-B14F-4D97-AF65-F5344CB8AC3E}">
        <p14:creationId xmlns:p14="http://schemas.microsoft.com/office/powerpoint/2010/main" val="1701273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B9ADE-3930-27C1-2DFB-09B314252163}"/>
              </a:ext>
            </a:extLst>
          </p:cNvPr>
          <p:cNvSpPr>
            <a:spLocks noGrp="1"/>
          </p:cNvSpPr>
          <p:nvPr>
            <p:ph type="title"/>
          </p:nvPr>
        </p:nvSpPr>
        <p:spPr/>
        <p:txBody>
          <a:bodyPr/>
          <a:lstStyle/>
          <a:p>
            <a:r>
              <a:rPr lang="en-IN" b="1" dirty="0"/>
              <a:t>Modular Structure</a:t>
            </a:r>
            <a:endParaRPr lang="en-IN" dirty="0"/>
          </a:p>
        </p:txBody>
      </p:sp>
      <p:sp>
        <p:nvSpPr>
          <p:cNvPr id="4" name="TextBox 3">
            <a:extLst>
              <a:ext uri="{FF2B5EF4-FFF2-40B4-BE49-F238E27FC236}">
                <a16:creationId xmlns:a16="http://schemas.microsoft.com/office/drawing/2014/main" id="{44FE343D-6607-4015-D023-18F05377BF41}"/>
              </a:ext>
            </a:extLst>
          </p:cNvPr>
          <p:cNvSpPr txBox="1"/>
          <p:nvPr/>
        </p:nvSpPr>
        <p:spPr>
          <a:xfrm>
            <a:off x="680321" y="2143979"/>
            <a:ext cx="10963275" cy="3139321"/>
          </a:xfrm>
          <a:prstGeom prst="rect">
            <a:avLst/>
          </a:prstGeom>
          <a:noFill/>
        </p:spPr>
        <p:txBody>
          <a:bodyPr wrap="square">
            <a:spAutoFit/>
          </a:bodyPr>
          <a:lstStyle/>
          <a:p>
            <a:pPr marL="285750" indent="-285750">
              <a:buFont typeface="Arial" panose="020B0604020202020204" pitchFamily="34" charset="0"/>
              <a:buChar char="•"/>
            </a:pPr>
            <a:r>
              <a:rPr lang="en-IN" b="1" dirty="0"/>
              <a:t>Finance and Accounting:</a:t>
            </a:r>
            <a:r>
              <a:rPr lang="en-IN" dirty="0"/>
              <a:t> Manages budgeting, accounting, payments, and financial reporting. </a:t>
            </a:r>
          </a:p>
          <a:p>
            <a:pPr marL="285750" indent="-285750">
              <a:buFont typeface="Arial" panose="020B0604020202020204" pitchFamily="34" charset="0"/>
              <a:buChar char="•"/>
            </a:pPr>
            <a:r>
              <a:rPr lang="en-IN" b="1" dirty="0"/>
              <a:t>Human Resources (HR):</a:t>
            </a:r>
            <a:r>
              <a:rPr lang="en-IN" dirty="0"/>
              <a:t> Handles employee records, payroll, recruitment, attendance, and leave management. </a:t>
            </a:r>
          </a:p>
          <a:p>
            <a:pPr marL="285750" indent="-285750">
              <a:buFont typeface="Arial" panose="020B0604020202020204" pitchFamily="34" charset="0"/>
              <a:buChar char="•"/>
            </a:pPr>
            <a:r>
              <a:rPr lang="en-IN" b="1" dirty="0"/>
              <a:t>Sales and Marketing:</a:t>
            </a:r>
            <a:r>
              <a:rPr lang="en-IN" dirty="0"/>
              <a:t> Manages customer orders, quotations, sales tracking, and marketing campaigns.</a:t>
            </a:r>
          </a:p>
          <a:p>
            <a:pPr marL="285750" indent="-285750">
              <a:buFont typeface="Arial" panose="020B0604020202020204" pitchFamily="34" charset="0"/>
              <a:buChar char="•"/>
            </a:pPr>
            <a:r>
              <a:rPr lang="en-IN" dirty="0"/>
              <a:t> </a:t>
            </a:r>
            <a:r>
              <a:rPr lang="en-IN" b="1" dirty="0"/>
              <a:t>Inventory Management:</a:t>
            </a:r>
            <a:r>
              <a:rPr lang="en-IN" dirty="0"/>
              <a:t> Monitors stock levels, warehouses, and inventory movement. </a:t>
            </a:r>
          </a:p>
          <a:p>
            <a:pPr marL="285750" indent="-285750">
              <a:buFont typeface="Arial" panose="020B0604020202020204" pitchFamily="34" charset="0"/>
              <a:buChar char="•"/>
            </a:pPr>
            <a:r>
              <a:rPr lang="en-IN" b="1" dirty="0"/>
              <a:t>Procurement (Purchasing):</a:t>
            </a:r>
            <a:r>
              <a:rPr lang="en-IN" dirty="0"/>
              <a:t> Manages supplier information, purchase orders, and material procurement. </a:t>
            </a:r>
          </a:p>
          <a:p>
            <a:pPr marL="285750" indent="-285750">
              <a:buFont typeface="Arial" panose="020B0604020202020204" pitchFamily="34" charset="0"/>
              <a:buChar char="•"/>
            </a:pPr>
            <a:r>
              <a:rPr lang="en-IN" b="1" dirty="0"/>
              <a:t>Manufacturing:</a:t>
            </a:r>
            <a:r>
              <a:rPr lang="en-IN" dirty="0"/>
              <a:t> Plans production, schedules work orders, and manages quality control. </a:t>
            </a:r>
          </a:p>
          <a:p>
            <a:pPr marL="285750" indent="-285750">
              <a:buFont typeface="Arial" panose="020B0604020202020204" pitchFamily="34" charset="0"/>
              <a:buChar char="•"/>
            </a:pPr>
            <a:r>
              <a:rPr lang="en-IN" b="1" dirty="0"/>
              <a:t>Customer Relationship Management (CRM):</a:t>
            </a:r>
            <a:r>
              <a:rPr lang="en-IN" dirty="0"/>
              <a:t> Maintains customer information, service requests, and customer interactions.</a:t>
            </a:r>
          </a:p>
        </p:txBody>
      </p:sp>
    </p:spTree>
    <p:extLst>
      <p:ext uri="{BB962C8B-B14F-4D97-AF65-F5344CB8AC3E}">
        <p14:creationId xmlns:p14="http://schemas.microsoft.com/office/powerpoint/2010/main" val="37366921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A6738-8910-FF74-15A4-EB98AF514AAD}"/>
              </a:ext>
            </a:extLst>
          </p:cNvPr>
          <p:cNvSpPr>
            <a:spLocks noGrp="1"/>
          </p:cNvSpPr>
          <p:nvPr>
            <p:ph type="title"/>
          </p:nvPr>
        </p:nvSpPr>
        <p:spPr/>
        <p:txBody>
          <a:bodyPr/>
          <a:lstStyle/>
          <a:p>
            <a:r>
              <a:rPr lang="en-IN" b="1" dirty="0"/>
              <a:t>Cloud and On-Premise Deployment</a:t>
            </a:r>
            <a:endParaRPr lang="en-IN" dirty="0"/>
          </a:p>
        </p:txBody>
      </p:sp>
      <p:sp>
        <p:nvSpPr>
          <p:cNvPr id="3" name="Content Placeholder 2">
            <a:extLst>
              <a:ext uri="{FF2B5EF4-FFF2-40B4-BE49-F238E27FC236}">
                <a16:creationId xmlns:a16="http://schemas.microsoft.com/office/drawing/2014/main" id="{605125EC-8333-73D3-1AE2-8B49C22ED94D}"/>
              </a:ext>
            </a:extLst>
          </p:cNvPr>
          <p:cNvSpPr>
            <a:spLocks noGrp="1"/>
          </p:cNvSpPr>
          <p:nvPr/>
        </p:nvSpPr>
        <p:spPr>
          <a:xfrm>
            <a:off x="680321" y="2136314"/>
            <a:ext cx="859666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Clr>
                <a:schemeClr val="tx1"/>
              </a:buClr>
              <a:buFont typeface="Arial" panose="020B0604020202020204" pitchFamily="34" charset="0"/>
              <a:buChar char="•"/>
            </a:pPr>
            <a:r>
              <a:rPr lang="en-US" sz="2400" b="1" dirty="0">
                <a:solidFill>
                  <a:schemeClr val="tx1"/>
                </a:solidFill>
              </a:rPr>
              <a:t>On-Premise ERP:</a:t>
            </a:r>
            <a:r>
              <a:rPr lang="en-US" sz="2400" dirty="0">
                <a:solidFill>
                  <a:schemeClr val="tx1"/>
                </a:solidFill>
              </a:rPr>
              <a:t> Installed locally on company servers.</a:t>
            </a:r>
          </a:p>
          <a:p>
            <a:pPr>
              <a:buClr>
                <a:schemeClr val="tx1"/>
              </a:buClr>
              <a:buFont typeface="Arial" panose="020B0604020202020204" pitchFamily="34" charset="0"/>
              <a:buChar char="•"/>
            </a:pPr>
            <a:endParaRPr lang="en-US" sz="2400" dirty="0">
              <a:solidFill>
                <a:schemeClr val="tx1"/>
              </a:solidFill>
            </a:endParaRPr>
          </a:p>
          <a:p>
            <a:pPr>
              <a:buClr>
                <a:schemeClr val="tx1"/>
              </a:buClr>
              <a:buFont typeface="Arial" panose="020B0604020202020204" pitchFamily="34" charset="0"/>
              <a:buChar char="•"/>
            </a:pPr>
            <a:r>
              <a:rPr lang="en-US" sz="2400" b="1" dirty="0">
                <a:solidFill>
                  <a:schemeClr val="tx1"/>
                </a:solidFill>
              </a:rPr>
              <a:t>Cloud ERP:</a:t>
            </a:r>
            <a:r>
              <a:rPr lang="en-US" sz="2400" dirty="0">
                <a:solidFill>
                  <a:schemeClr val="tx1"/>
                </a:solidFill>
              </a:rPr>
              <a:t> Hosted online and accessed via the internet.</a:t>
            </a:r>
          </a:p>
          <a:p>
            <a:pPr>
              <a:buClr>
                <a:schemeClr val="tx1"/>
              </a:buClr>
              <a:buFont typeface="Arial" panose="020B0604020202020204" pitchFamily="34" charset="0"/>
              <a:buChar char="•"/>
            </a:pPr>
            <a:endParaRPr lang="en-US" sz="2400" dirty="0">
              <a:solidFill>
                <a:schemeClr val="tx1"/>
              </a:solidFill>
            </a:endParaRPr>
          </a:p>
          <a:p>
            <a:pPr>
              <a:buClr>
                <a:schemeClr val="tx1"/>
              </a:buClr>
              <a:buFont typeface="Arial" panose="020B0604020202020204" pitchFamily="34" charset="0"/>
              <a:buChar char="•"/>
            </a:pPr>
            <a:r>
              <a:rPr lang="en-US" sz="2400" dirty="0">
                <a:solidFill>
                  <a:schemeClr val="tx1"/>
                </a:solidFill>
              </a:rPr>
              <a:t>Many modern systems offer </a:t>
            </a:r>
            <a:r>
              <a:rPr lang="en-US" sz="2400" b="1" dirty="0">
                <a:solidFill>
                  <a:schemeClr val="tx1"/>
                </a:solidFill>
              </a:rPr>
              <a:t>hybrid solutions</a:t>
            </a:r>
            <a:r>
              <a:rPr lang="en-US" sz="2400" dirty="0">
                <a:solidFill>
                  <a:schemeClr val="tx1"/>
                </a:solidFill>
              </a:rPr>
              <a:t>, combining both.</a:t>
            </a:r>
          </a:p>
          <a:p>
            <a:endParaRPr lang="en-IN" dirty="0"/>
          </a:p>
        </p:txBody>
      </p:sp>
    </p:spTree>
    <p:extLst>
      <p:ext uri="{BB962C8B-B14F-4D97-AF65-F5344CB8AC3E}">
        <p14:creationId xmlns:p14="http://schemas.microsoft.com/office/powerpoint/2010/main" val="32887091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7D0AF-A885-EE2F-9574-3B5ED9F05BEA}"/>
              </a:ext>
            </a:extLst>
          </p:cNvPr>
          <p:cNvSpPr>
            <a:spLocks noGrp="1"/>
          </p:cNvSpPr>
          <p:nvPr>
            <p:ph type="title"/>
          </p:nvPr>
        </p:nvSpPr>
        <p:spPr/>
        <p:txBody>
          <a:bodyPr/>
          <a:lstStyle/>
          <a:p>
            <a:r>
              <a:rPr lang="en-IN" b="1" dirty="0"/>
              <a:t>Security and Access Control</a:t>
            </a:r>
            <a:endParaRPr lang="en-IN" dirty="0"/>
          </a:p>
        </p:txBody>
      </p:sp>
      <p:sp>
        <p:nvSpPr>
          <p:cNvPr id="4" name="TextBox 3">
            <a:extLst>
              <a:ext uri="{FF2B5EF4-FFF2-40B4-BE49-F238E27FC236}">
                <a16:creationId xmlns:a16="http://schemas.microsoft.com/office/drawing/2014/main" id="{F4259BCB-8014-23E8-8445-DD83ED5AEAB4}"/>
              </a:ext>
            </a:extLst>
          </p:cNvPr>
          <p:cNvSpPr txBox="1"/>
          <p:nvPr/>
        </p:nvSpPr>
        <p:spPr>
          <a:xfrm>
            <a:off x="680321" y="2141488"/>
            <a:ext cx="8629650" cy="1938992"/>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ERP systems use role-based access control, meaning users only access data relevant to their job.</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Includes data encryption, backups, and user authentication to protect sensitive information.</a:t>
            </a:r>
          </a:p>
        </p:txBody>
      </p:sp>
    </p:spTree>
    <p:extLst>
      <p:ext uri="{BB962C8B-B14F-4D97-AF65-F5344CB8AC3E}">
        <p14:creationId xmlns:p14="http://schemas.microsoft.com/office/powerpoint/2010/main" val="21518332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37DEB-4BC1-9C60-9311-449D300506E3}"/>
              </a:ext>
            </a:extLst>
          </p:cNvPr>
          <p:cNvSpPr>
            <a:spLocks noGrp="1"/>
          </p:cNvSpPr>
          <p:nvPr>
            <p:ph type="title"/>
          </p:nvPr>
        </p:nvSpPr>
        <p:spPr>
          <a:xfrm>
            <a:off x="680321" y="896103"/>
            <a:ext cx="9613861" cy="1080938"/>
          </a:xfrm>
        </p:spPr>
        <p:txBody>
          <a:bodyPr/>
          <a:lstStyle/>
          <a:p>
            <a:r>
              <a:rPr lang="en-US" dirty="0"/>
              <a:t>Types of ERP</a:t>
            </a:r>
            <a:br>
              <a:rPr lang="en-US" dirty="0"/>
            </a:br>
            <a:endParaRPr lang="en-IN" dirty="0"/>
          </a:p>
        </p:txBody>
      </p:sp>
      <p:graphicFrame>
        <p:nvGraphicFramePr>
          <p:cNvPr id="6" name="Table 5">
            <a:extLst>
              <a:ext uri="{FF2B5EF4-FFF2-40B4-BE49-F238E27FC236}">
                <a16:creationId xmlns:a16="http://schemas.microsoft.com/office/drawing/2014/main" id="{632F8838-E513-6625-E1E0-DE730394D2F0}"/>
              </a:ext>
            </a:extLst>
          </p:cNvPr>
          <p:cNvGraphicFramePr>
            <a:graphicFrameLocks noGrp="1"/>
          </p:cNvGraphicFramePr>
          <p:nvPr>
            <p:extLst>
              <p:ext uri="{D42A27DB-BD31-4B8C-83A1-F6EECF244321}">
                <p14:modId xmlns:p14="http://schemas.microsoft.com/office/powerpoint/2010/main" val="436521475"/>
              </p:ext>
            </p:extLst>
          </p:nvPr>
        </p:nvGraphicFramePr>
        <p:xfrm>
          <a:off x="681038" y="2336800"/>
          <a:ext cx="10829920" cy="4048930"/>
        </p:xfrm>
        <a:graphic>
          <a:graphicData uri="http://schemas.openxmlformats.org/drawingml/2006/table">
            <a:tbl>
              <a:tblPr/>
              <a:tblGrid>
                <a:gridCol w="2165984">
                  <a:extLst>
                    <a:ext uri="{9D8B030D-6E8A-4147-A177-3AD203B41FA5}">
                      <a16:colId xmlns:a16="http://schemas.microsoft.com/office/drawing/2014/main" val="1092029895"/>
                    </a:ext>
                  </a:extLst>
                </a:gridCol>
                <a:gridCol w="2165984">
                  <a:extLst>
                    <a:ext uri="{9D8B030D-6E8A-4147-A177-3AD203B41FA5}">
                      <a16:colId xmlns:a16="http://schemas.microsoft.com/office/drawing/2014/main" val="386897665"/>
                    </a:ext>
                  </a:extLst>
                </a:gridCol>
                <a:gridCol w="2165984">
                  <a:extLst>
                    <a:ext uri="{9D8B030D-6E8A-4147-A177-3AD203B41FA5}">
                      <a16:colId xmlns:a16="http://schemas.microsoft.com/office/drawing/2014/main" val="294102369"/>
                    </a:ext>
                  </a:extLst>
                </a:gridCol>
                <a:gridCol w="2165984">
                  <a:extLst>
                    <a:ext uri="{9D8B030D-6E8A-4147-A177-3AD203B41FA5}">
                      <a16:colId xmlns:a16="http://schemas.microsoft.com/office/drawing/2014/main" val="3319151672"/>
                    </a:ext>
                  </a:extLst>
                </a:gridCol>
                <a:gridCol w="2165984">
                  <a:extLst>
                    <a:ext uri="{9D8B030D-6E8A-4147-A177-3AD203B41FA5}">
                      <a16:colId xmlns:a16="http://schemas.microsoft.com/office/drawing/2014/main" val="2183562866"/>
                    </a:ext>
                  </a:extLst>
                </a:gridCol>
              </a:tblGrid>
              <a:tr h="140765">
                <a:tc>
                  <a:txBody>
                    <a:bodyPr/>
                    <a:lstStyle/>
                    <a:p>
                      <a:pPr>
                        <a:buNone/>
                      </a:pPr>
                      <a:r>
                        <a:rPr lang="en-IN" sz="1600" b="1"/>
                        <a:t>Type of ERP</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Definition</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Key Features</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Best Suited For</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Examples</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6685140"/>
                  </a:ext>
                </a:extLst>
              </a:tr>
              <a:tr h="446356">
                <a:tc>
                  <a:txBody>
                    <a:bodyPr/>
                    <a:lstStyle/>
                    <a:p>
                      <a:pPr>
                        <a:buNone/>
                      </a:pPr>
                      <a:r>
                        <a:rPr lang="en-IN" sz="1600" b="1"/>
                        <a:t>On-Premise ERP</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Installed and managed on the organization's own servers.</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High security, full control, extensive customization.</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Large enterprises with dedicated IT teams.</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SAP ERP, Oracle E-Business Suite</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0679892"/>
                  </a:ext>
                </a:extLst>
              </a:tr>
              <a:tr h="549362">
                <a:tc>
                  <a:txBody>
                    <a:bodyPr/>
                    <a:lstStyle/>
                    <a:p>
                      <a:pPr>
                        <a:buNone/>
                      </a:pPr>
                      <a:r>
                        <a:rPr lang="en-IN" sz="1600" b="1"/>
                        <a:t>Cloud ERP</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Hosted on the vendor's cloud and accessed via the internet.</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Low upfront cost, automatic updates, remote access, scalable.</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Small, medium, and large businesses.</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SAP S/4HANA Cloud, Oracle Fusion Cloud, Microsoft Dynamics 365</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2011709"/>
                  </a:ext>
                </a:extLst>
              </a:tr>
              <a:tr h="652368">
                <a:tc>
                  <a:txBody>
                    <a:bodyPr/>
                    <a:lstStyle/>
                    <a:p>
                      <a:pPr>
                        <a:buNone/>
                      </a:pPr>
                      <a:r>
                        <a:rPr lang="en-IN" sz="1600" b="1"/>
                        <a:t>Hybrid ERP</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Combines on-premise and cloud ERP systems.</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Flexible deployment, secure data management, gradual cloud migration.</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Organizations transitioning to the cloud.</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SAP Hybrid ERP, Oracle Hybrid ERP</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7692649"/>
                  </a:ext>
                </a:extLst>
              </a:tr>
              <a:tr h="549362">
                <a:tc>
                  <a:txBody>
                    <a:bodyPr/>
                    <a:lstStyle/>
                    <a:p>
                      <a:pPr>
                        <a:buNone/>
                      </a:pPr>
                      <a:r>
                        <a:rPr lang="en-IN" sz="1600" b="1"/>
                        <a:t>Open-Source ERP</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ERP software with publicly available source code for customization.</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Low licensing cost, highly customizable, community support.</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Businesses with technical expertise.</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Odoo, </a:t>
                      </a:r>
                      <a:r>
                        <a:rPr lang="en-IN" sz="1600" dirty="0" err="1"/>
                        <a:t>ERPNext</a:t>
                      </a:r>
                      <a:r>
                        <a:rPr lang="en-IN" sz="1600" dirty="0"/>
                        <a:t>, </a:t>
                      </a:r>
                      <a:r>
                        <a:rPr lang="en-IN" sz="1600" dirty="0" err="1"/>
                        <a:t>Dolibarr</a:t>
                      </a:r>
                      <a:endParaRPr lang="en-IN" sz="1600" dirty="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5472441"/>
                  </a:ext>
                </a:extLst>
              </a:tr>
            </a:tbl>
          </a:graphicData>
        </a:graphic>
      </p:graphicFrame>
    </p:spTree>
    <p:extLst>
      <p:ext uri="{BB962C8B-B14F-4D97-AF65-F5344CB8AC3E}">
        <p14:creationId xmlns:p14="http://schemas.microsoft.com/office/powerpoint/2010/main" val="17618154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6A8AD-950B-CD23-EE76-DD4B2E325763}"/>
              </a:ext>
            </a:extLst>
          </p:cNvPr>
          <p:cNvSpPr>
            <a:spLocks noGrp="1"/>
          </p:cNvSpPr>
          <p:nvPr>
            <p:ph type="title"/>
          </p:nvPr>
        </p:nvSpPr>
        <p:spPr/>
        <p:txBody>
          <a:bodyPr/>
          <a:lstStyle/>
          <a:p>
            <a:r>
              <a:rPr lang="en-US" dirty="0"/>
              <a:t>Types of ERP</a:t>
            </a:r>
            <a:endParaRPr lang="en-IN" dirty="0"/>
          </a:p>
        </p:txBody>
      </p:sp>
      <p:graphicFrame>
        <p:nvGraphicFramePr>
          <p:cNvPr id="4" name="Table 3">
            <a:extLst>
              <a:ext uri="{FF2B5EF4-FFF2-40B4-BE49-F238E27FC236}">
                <a16:creationId xmlns:a16="http://schemas.microsoft.com/office/drawing/2014/main" id="{069F5509-90B7-EAE1-BF8A-64B64A31EB91}"/>
              </a:ext>
            </a:extLst>
          </p:cNvPr>
          <p:cNvGraphicFramePr>
            <a:graphicFrameLocks noGrp="1"/>
          </p:cNvGraphicFramePr>
          <p:nvPr>
            <p:extLst>
              <p:ext uri="{D42A27DB-BD31-4B8C-83A1-F6EECF244321}">
                <p14:modId xmlns:p14="http://schemas.microsoft.com/office/powerpoint/2010/main" val="3267300336"/>
              </p:ext>
            </p:extLst>
          </p:nvPr>
        </p:nvGraphicFramePr>
        <p:xfrm>
          <a:off x="790576" y="2338991"/>
          <a:ext cx="10829920" cy="3287912"/>
        </p:xfrm>
        <a:graphic>
          <a:graphicData uri="http://schemas.openxmlformats.org/drawingml/2006/table">
            <a:tbl>
              <a:tblPr/>
              <a:tblGrid>
                <a:gridCol w="2165984">
                  <a:extLst>
                    <a:ext uri="{9D8B030D-6E8A-4147-A177-3AD203B41FA5}">
                      <a16:colId xmlns:a16="http://schemas.microsoft.com/office/drawing/2014/main" val="998721582"/>
                    </a:ext>
                  </a:extLst>
                </a:gridCol>
                <a:gridCol w="2165984">
                  <a:extLst>
                    <a:ext uri="{9D8B030D-6E8A-4147-A177-3AD203B41FA5}">
                      <a16:colId xmlns:a16="http://schemas.microsoft.com/office/drawing/2014/main" val="1868937579"/>
                    </a:ext>
                  </a:extLst>
                </a:gridCol>
                <a:gridCol w="2165984">
                  <a:extLst>
                    <a:ext uri="{9D8B030D-6E8A-4147-A177-3AD203B41FA5}">
                      <a16:colId xmlns:a16="http://schemas.microsoft.com/office/drawing/2014/main" val="1409517450"/>
                    </a:ext>
                  </a:extLst>
                </a:gridCol>
                <a:gridCol w="2165984">
                  <a:extLst>
                    <a:ext uri="{9D8B030D-6E8A-4147-A177-3AD203B41FA5}">
                      <a16:colId xmlns:a16="http://schemas.microsoft.com/office/drawing/2014/main" val="16097733"/>
                    </a:ext>
                  </a:extLst>
                </a:gridCol>
                <a:gridCol w="2165984">
                  <a:extLst>
                    <a:ext uri="{9D8B030D-6E8A-4147-A177-3AD203B41FA5}">
                      <a16:colId xmlns:a16="http://schemas.microsoft.com/office/drawing/2014/main" val="2257929135"/>
                    </a:ext>
                  </a:extLst>
                </a:gridCol>
              </a:tblGrid>
              <a:tr h="140765">
                <a:tc>
                  <a:txBody>
                    <a:bodyPr/>
                    <a:lstStyle/>
                    <a:p>
                      <a:pPr>
                        <a:buNone/>
                      </a:pPr>
                      <a:r>
                        <a:rPr lang="en-IN" sz="1600" b="1"/>
                        <a:t>Type of ERP</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Definition</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Key Features</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Best Suited For</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Examples</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6411824"/>
                  </a:ext>
                </a:extLst>
              </a:tr>
              <a:tr h="652368">
                <a:tc>
                  <a:txBody>
                    <a:bodyPr/>
                    <a:lstStyle/>
                    <a:p>
                      <a:pPr>
                        <a:buNone/>
                      </a:pPr>
                      <a:r>
                        <a:rPr lang="en-IN" sz="1600" b="1" dirty="0"/>
                        <a:t>Small Business ERP</a:t>
                      </a:r>
                      <a:endParaRPr lang="en-IN" sz="1600" dirty="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ERP designed specifically for small and medium-sized enterprises (SMEs).</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Affordable, easy implementation, simplified features, scalable.</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Small and growing businesses.</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Zoho ERP, </a:t>
                      </a:r>
                      <a:r>
                        <a:rPr lang="en-IN" sz="1600" dirty="0" err="1"/>
                        <a:t>ERPNext</a:t>
                      </a:r>
                      <a:r>
                        <a:rPr lang="en-IN" sz="1600" dirty="0"/>
                        <a:t>, </a:t>
                      </a:r>
                      <a:r>
                        <a:rPr lang="en-IN" sz="1600" dirty="0" err="1"/>
                        <a:t>TallyPrime</a:t>
                      </a:r>
                      <a:endParaRPr lang="en-IN" sz="1600" dirty="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3597190"/>
                  </a:ext>
                </a:extLst>
              </a:tr>
              <a:tr h="652368">
                <a:tc>
                  <a:txBody>
                    <a:bodyPr/>
                    <a:lstStyle/>
                    <a:p>
                      <a:pPr>
                        <a:buNone/>
                      </a:pPr>
                      <a:r>
                        <a:rPr lang="en-IN" sz="1600" b="1"/>
                        <a:t>Vertical ERP</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ERP developed for a specific industry with specialized features.</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Industry-specific workflows, compliance support, customized modules.</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Healthcare, Manufacturing, Retail, Education, etc.</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Epicor ERP, Oracle Health ERP, Infor CloudSuite</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0362512"/>
                  </a:ext>
                </a:extLst>
              </a:tr>
              <a:tr h="549362">
                <a:tc>
                  <a:txBody>
                    <a:bodyPr/>
                    <a:lstStyle/>
                    <a:p>
                      <a:pPr>
                        <a:buNone/>
                      </a:pPr>
                      <a:r>
                        <a:rPr lang="en-IN" sz="1600" b="1"/>
                        <a:t>Horizontal ERP</a:t>
                      </a:r>
                      <a:endParaRPr lang="en-IN" sz="1600"/>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General-purpose ERP suitable for multiple industries.</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Standard modules such as Finance, HR, Sales, Inventory, Procurement.</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Organizations across various industries.</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SAP S/4HANA, Oracle ERP Cloud, Microsoft Dynamics 365</a:t>
                      </a:r>
                    </a:p>
                  </a:txBody>
                  <a:tcPr marL="29499" marR="29499" marT="14749" marB="147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3729949"/>
                  </a:ext>
                </a:extLst>
              </a:tr>
            </a:tbl>
          </a:graphicData>
        </a:graphic>
      </p:graphicFrame>
    </p:spTree>
    <p:extLst>
      <p:ext uri="{BB962C8B-B14F-4D97-AF65-F5344CB8AC3E}">
        <p14:creationId xmlns:p14="http://schemas.microsoft.com/office/powerpoint/2010/main" val="31295732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8C105-B82B-7C6C-75DE-129A27621E8E}"/>
              </a:ext>
            </a:extLst>
          </p:cNvPr>
          <p:cNvSpPr>
            <a:spLocks noGrp="1"/>
          </p:cNvSpPr>
          <p:nvPr>
            <p:ph type="title"/>
          </p:nvPr>
        </p:nvSpPr>
        <p:spPr/>
        <p:txBody>
          <a:bodyPr/>
          <a:lstStyle/>
          <a:p>
            <a:r>
              <a:rPr lang="en-US" dirty="0"/>
              <a:t>CRM vs ERP</a:t>
            </a:r>
            <a:endParaRPr lang="en-IN" dirty="0"/>
          </a:p>
        </p:txBody>
      </p:sp>
      <p:graphicFrame>
        <p:nvGraphicFramePr>
          <p:cNvPr id="3" name="Table 2">
            <a:extLst>
              <a:ext uri="{FF2B5EF4-FFF2-40B4-BE49-F238E27FC236}">
                <a16:creationId xmlns:a16="http://schemas.microsoft.com/office/drawing/2014/main" id="{ACC63BA9-AF5A-5793-902E-6367AF16CE67}"/>
              </a:ext>
            </a:extLst>
          </p:cNvPr>
          <p:cNvGraphicFramePr>
            <a:graphicFrameLocks noGrp="1"/>
          </p:cNvGraphicFramePr>
          <p:nvPr>
            <p:extLst>
              <p:ext uri="{D42A27DB-BD31-4B8C-83A1-F6EECF244321}">
                <p14:modId xmlns:p14="http://schemas.microsoft.com/office/powerpoint/2010/main" val="1668502605"/>
              </p:ext>
            </p:extLst>
          </p:nvPr>
        </p:nvGraphicFramePr>
        <p:xfrm>
          <a:off x="575546" y="2096223"/>
          <a:ext cx="10094406" cy="4472448"/>
        </p:xfrm>
        <a:graphic>
          <a:graphicData uri="http://schemas.openxmlformats.org/drawingml/2006/table">
            <a:tbl>
              <a:tblPr/>
              <a:tblGrid>
                <a:gridCol w="3364802">
                  <a:extLst>
                    <a:ext uri="{9D8B030D-6E8A-4147-A177-3AD203B41FA5}">
                      <a16:colId xmlns:a16="http://schemas.microsoft.com/office/drawing/2014/main" val="1911193483"/>
                    </a:ext>
                  </a:extLst>
                </a:gridCol>
                <a:gridCol w="3364802">
                  <a:extLst>
                    <a:ext uri="{9D8B030D-6E8A-4147-A177-3AD203B41FA5}">
                      <a16:colId xmlns:a16="http://schemas.microsoft.com/office/drawing/2014/main" val="3581174214"/>
                    </a:ext>
                  </a:extLst>
                </a:gridCol>
                <a:gridCol w="3364802">
                  <a:extLst>
                    <a:ext uri="{9D8B030D-6E8A-4147-A177-3AD203B41FA5}">
                      <a16:colId xmlns:a16="http://schemas.microsoft.com/office/drawing/2014/main" val="891424647"/>
                    </a:ext>
                  </a:extLst>
                </a:gridCol>
              </a:tblGrid>
              <a:tr h="381698">
                <a:tc>
                  <a:txBody>
                    <a:bodyPr/>
                    <a:lstStyle/>
                    <a:p>
                      <a:pPr>
                        <a:buNone/>
                      </a:pPr>
                      <a:r>
                        <a:rPr lang="en-IN" sz="1600" b="1"/>
                        <a:t>Basis</a:t>
                      </a:r>
                      <a:endParaRPr lang="en-IN" sz="1600"/>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CRM (Customer Relationship Management)</a:t>
                      </a:r>
                      <a:endParaRPr lang="en-IN" sz="1600"/>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ERP (Enterprise Resource Planning)</a:t>
                      </a:r>
                      <a:endParaRPr lang="en-IN" sz="1600" dirty="0"/>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6518454"/>
                  </a:ext>
                </a:extLst>
              </a:tr>
              <a:tr h="545282">
                <a:tc>
                  <a:txBody>
                    <a:bodyPr/>
                    <a:lstStyle/>
                    <a:p>
                      <a:pPr>
                        <a:buNone/>
                      </a:pPr>
                      <a:r>
                        <a:rPr lang="en-IN" sz="1600" b="1"/>
                        <a:t>1. Primary Focus</a:t>
                      </a:r>
                      <a:endParaRPr lang="en-IN" sz="1600"/>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Focuses on managing customer relationships, sales, and marketing.</a:t>
                      </a:r>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Focuses on managing and integrating overall business processes.</a:t>
                      </a:r>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5610844"/>
                  </a:ext>
                </a:extLst>
              </a:tr>
              <a:tr h="708867">
                <a:tc>
                  <a:txBody>
                    <a:bodyPr/>
                    <a:lstStyle/>
                    <a:p>
                      <a:pPr>
                        <a:buNone/>
                      </a:pPr>
                      <a:r>
                        <a:rPr lang="en-IN" sz="1600" b="1"/>
                        <a:t>2. Main Users</a:t>
                      </a:r>
                      <a:endParaRPr lang="en-IN" sz="1600"/>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Sales, marketing, and customer support teams.</a:t>
                      </a:r>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Finance, HR, inventory, manufacturing, procurement, and management teams.</a:t>
                      </a:r>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0186162"/>
                  </a:ext>
                </a:extLst>
              </a:tr>
              <a:tr h="545282">
                <a:tc>
                  <a:txBody>
                    <a:bodyPr/>
                    <a:lstStyle/>
                    <a:p>
                      <a:pPr>
                        <a:buNone/>
                      </a:pPr>
                      <a:r>
                        <a:rPr lang="en-IN" sz="1600" b="1"/>
                        <a:t>3. Purpose</a:t>
                      </a:r>
                      <a:endParaRPr lang="en-IN" sz="1600"/>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Improves customer satisfaction, retention, and sales performance.</a:t>
                      </a:r>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Improves operational efficiency, productivity, and resource management.</a:t>
                      </a:r>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3551197"/>
                  </a:ext>
                </a:extLst>
              </a:tr>
              <a:tr h="708867">
                <a:tc>
                  <a:txBody>
                    <a:bodyPr/>
                    <a:lstStyle/>
                    <a:p>
                      <a:pPr>
                        <a:buNone/>
                      </a:pPr>
                      <a:r>
                        <a:rPr lang="en-IN" sz="1600" b="1"/>
                        <a:t>4. Data Managed</a:t>
                      </a:r>
                      <a:endParaRPr lang="en-IN" sz="1600"/>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Customer information, leads, sales opportunities, customer interactions, and support tickets.</a:t>
                      </a:r>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Financial data, inventory, payroll, procurement, production, and employee information.</a:t>
                      </a:r>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5071290"/>
                  </a:ext>
                </a:extLst>
              </a:tr>
              <a:tr h="708867">
                <a:tc>
                  <a:txBody>
                    <a:bodyPr/>
                    <a:lstStyle/>
                    <a:p>
                      <a:pPr>
                        <a:buNone/>
                      </a:pPr>
                      <a:r>
                        <a:rPr lang="en-IN" sz="1600" b="1"/>
                        <a:t>5. Business Goal</a:t>
                      </a:r>
                      <a:endParaRPr lang="en-IN" sz="1600"/>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Increase customer acquisition, loyalty, and revenue through better customer engagement.</a:t>
                      </a:r>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Streamline business operations by integrating all departments into a single system.</a:t>
                      </a:r>
                    </a:p>
                  </a:txBody>
                  <a:tcPr marL="54528" marR="54528" marT="27264" marB="27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1740544"/>
                  </a:ext>
                </a:extLst>
              </a:tr>
            </a:tbl>
          </a:graphicData>
        </a:graphic>
      </p:graphicFrame>
    </p:spTree>
    <p:extLst>
      <p:ext uri="{BB962C8B-B14F-4D97-AF65-F5344CB8AC3E}">
        <p14:creationId xmlns:p14="http://schemas.microsoft.com/office/powerpoint/2010/main" val="6638906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EA3A3-1BF2-E964-1530-A61E918993F9}"/>
              </a:ext>
            </a:extLst>
          </p:cNvPr>
          <p:cNvSpPr>
            <a:spLocks noGrp="1"/>
          </p:cNvSpPr>
          <p:nvPr>
            <p:ph type="title"/>
          </p:nvPr>
        </p:nvSpPr>
        <p:spPr/>
        <p:txBody>
          <a:bodyPr>
            <a:normAutofit fontScale="90000"/>
          </a:bodyPr>
          <a:lstStyle/>
          <a:p>
            <a:r>
              <a:rPr lang="en-US" b="1" dirty="0"/>
              <a:t>The Relationship between Business Strategy, IT Strategy and Alignment Capability</a:t>
            </a:r>
            <a:endParaRPr lang="en-IN" dirty="0"/>
          </a:p>
        </p:txBody>
      </p:sp>
      <p:sp>
        <p:nvSpPr>
          <p:cNvPr id="4" name="TextBox 3">
            <a:extLst>
              <a:ext uri="{FF2B5EF4-FFF2-40B4-BE49-F238E27FC236}">
                <a16:creationId xmlns:a16="http://schemas.microsoft.com/office/drawing/2014/main" id="{BDC81CCA-F007-D38C-1BCA-339823DC56E4}"/>
              </a:ext>
            </a:extLst>
          </p:cNvPr>
          <p:cNvSpPr txBox="1"/>
          <p:nvPr/>
        </p:nvSpPr>
        <p:spPr>
          <a:xfrm>
            <a:off x="680321" y="2107764"/>
            <a:ext cx="11391900" cy="1477328"/>
          </a:xfrm>
          <a:prstGeom prst="rect">
            <a:avLst/>
          </a:prstGeom>
          <a:noFill/>
        </p:spPr>
        <p:txBody>
          <a:bodyPr wrap="square">
            <a:spAutoFit/>
          </a:bodyPr>
          <a:lstStyle/>
          <a:p>
            <a:r>
              <a:rPr lang="en-IN" dirty="0"/>
              <a:t>Business strategy defines an organization's long-term goals and competitive direction. IT strategy supports these goals by providing the necessary technology, systems, and digital solutions. Alignment capability ensures that business and IT strategies work together effectively, enabling efficient operations, better decision-making, innovation, improved customer satisfaction, and sustainable competitive advantage in a rapidly changing business environment.</a:t>
            </a:r>
          </a:p>
        </p:txBody>
      </p:sp>
      <p:sp>
        <p:nvSpPr>
          <p:cNvPr id="7" name="TextBox 6">
            <a:extLst>
              <a:ext uri="{FF2B5EF4-FFF2-40B4-BE49-F238E27FC236}">
                <a16:creationId xmlns:a16="http://schemas.microsoft.com/office/drawing/2014/main" id="{3779C408-C8B5-1413-5569-4D2A57CF8144}"/>
              </a:ext>
            </a:extLst>
          </p:cNvPr>
          <p:cNvSpPr txBox="1"/>
          <p:nvPr/>
        </p:nvSpPr>
        <p:spPr>
          <a:xfrm>
            <a:off x="680321" y="3858690"/>
            <a:ext cx="10048875" cy="2308324"/>
          </a:xfrm>
          <a:prstGeom prst="rect">
            <a:avLst/>
          </a:prstGeom>
          <a:noFill/>
        </p:spPr>
        <p:txBody>
          <a:bodyPr wrap="square">
            <a:spAutoFit/>
          </a:bodyPr>
          <a:lstStyle/>
          <a:p>
            <a:r>
              <a:rPr lang="en-IN" b="1" dirty="0"/>
              <a:t>Business Strategy:</a:t>
            </a:r>
            <a:r>
              <a:rPr lang="en-IN" dirty="0"/>
              <a:t> Increase sales → </a:t>
            </a:r>
            <a:r>
              <a:rPr lang="en-IN" b="1" dirty="0"/>
              <a:t>IT Strategy:</a:t>
            </a:r>
            <a:r>
              <a:rPr lang="en-IN" dirty="0"/>
              <a:t> Develop an e-commerce website → </a:t>
            </a:r>
            <a:r>
              <a:rPr lang="en-IN" b="1" dirty="0"/>
              <a:t>Alignment:</a:t>
            </a:r>
            <a:r>
              <a:rPr lang="en-IN" dirty="0"/>
              <a:t> Enables online sales growth.</a:t>
            </a:r>
          </a:p>
          <a:p>
            <a:endParaRPr lang="en-IN" dirty="0"/>
          </a:p>
          <a:p>
            <a:r>
              <a:rPr lang="en-IN" dirty="0"/>
              <a:t> </a:t>
            </a:r>
            <a:r>
              <a:rPr lang="en-IN" b="1" dirty="0"/>
              <a:t>Business Strategy:</a:t>
            </a:r>
            <a:r>
              <a:rPr lang="en-IN" dirty="0"/>
              <a:t> Improve customer service → </a:t>
            </a:r>
            <a:r>
              <a:rPr lang="en-IN" b="1" dirty="0"/>
              <a:t>IT Strategy:</a:t>
            </a:r>
            <a:r>
              <a:rPr lang="en-IN" dirty="0"/>
              <a:t> Implement a CRM system → </a:t>
            </a:r>
            <a:r>
              <a:rPr lang="en-IN" b="1" dirty="0"/>
              <a:t>Alignment:</a:t>
            </a:r>
            <a:r>
              <a:rPr lang="en-IN" dirty="0"/>
              <a:t> Provides faster customer support. </a:t>
            </a:r>
          </a:p>
          <a:p>
            <a:endParaRPr lang="en-IN" dirty="0"/>
          </a:p>
          <a:p>
            <a:r>
              <a:rPr lang="en-IN" b="1" dirty="0"/>
              <a:t>Business Strategy:</a:t>
            </a:r>
            <a:r>
              <a:rPr lang="en-IN" dirty="0"/>
              <a:t> Reduce operational costs → </a:t>
            </a:r>
            <a:r>
              <a:rPr lang="en-IN" b="1" dirty="0"/>
              <a:t>IT Strategy:</a:t>
            </a:r>
            <a:r>
              <a:rPr lang="en-IN" dirty="0"/>
              <a:t> Implement an ERP system → </a:t>
            </a:r>
            <a:r>
              <a:rPr lang="en-IN" b="1" dirty="0"/>
              <a:t>Alignment:</a:t>
            </a:r>
            <a:r>
              <a:rPr lang="en-IN" dirty="0"/>
              <a:t> Automates business processes and saves costs. </a:t>
            </a:r>
          </a:p>
        </p:txBody>
      </p:sp>
    </p:spTree>
    <p:extLst>
      <p:ext uri="{BB962C8B-B14F-4D97-AF65-F5344CB8AC3E}">
        <p14:creationId xmlns:p14="http://schemas.microsoft.com/office/powerpoint/2010/main" val="26348734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9E279-C475-D429-8372-C02B6EE9523F}"/>
              </a:ext>
            </a:extLst>
          </p:cNvPr>
          <p:cNvSpPr>
            <a:spLocks noGrp="1"/>
          </p:cNvSpPr>
          <p:nvPr>
            <p:ph type="title"/>
          </p:nvPr>
        </p:nvSpPr>
        <p:spPr/>
        <p:txBody>
          <a:bodyPr/>
          <a:lstStyle/>
          <a:p>
            <a:r>
              <a:rPr lang="en-IN" b="1" dirty="0"/>
              <a:t>IT Strategy</a:t>
            </a:r>
            <a:r>
              <a:rPr lang="en-IN" sz="3200" b="1" dirty="0"/>
              <a:t>,</a:t>
            </a:r>
            <a:br>
              <a:rPr lang="en-IN" sz="3200" b="1" dirty="0"/>
            </a:br>
            <a:endParaRPr lang="en-IN" dirty="0"/>
          </a:p>
        </p:txBody>
      </p:sp>
      <p:sp>
        <p:nvSpPr>
          <p:cNvPr id="4" name="TextBox 3">
            <a:extLst>
              <a:ext uri="{FF2B5EF4-FFF2-40B4-BE49-F238E27FC236}">
                <a16:creationId xmlns:a16="http://schemas.microsoft.com/office/drawing/2014/main" id="{2D60E09C-03E0-21C6-2F5A-693272AB3162}"/>
              </a:ext>
            </a:extLst>
          </p:cNvPr>
          <p:cNvSpPr txBox="1"/>
          <p:nvPr/>
        </p:nvSpPr>
        <p:spPr>
          <a:xfrm>
            <a:off x="680321" y="1955363"/>
            <a:ext cx="8477250" cy="3139321"/>
          </a:xfrm>
          <a:prstGeom prst="rect">
            <a:avLst/>
          </a:prstGeom>
          <a:noFill/>
        </p:spPr>
        <p:txBody>
          <a:bodyPr wrap="square">
            <a:spAutoFit/>
          </a:bodyPr>
          <a:lstStyle/>
          <a:p>
            <a:pPr>
              <a:buNone/>
            </a:pPr>
            <a:endParaRPr lang="en-IN" b="1" dirty="0"/>
          </a:p>
          <a:p>
            <a:pPr>
              <a:buNone/>
            </a:pPr>
            <a:r>
              <a:rPr lang="en-IN" b="1" dirty="0"/>
              <a:t>IT Strategy</a:t>
            </a:r>
            <a:r>
              <a:rPr lang="en-IN" dirty="0"/>
              <a:t> is a long-term plan that defines how an organization uses information technology to support its business goals, improve efficiency, and gain a competitive advantage.</a:t>
            </a:r>
          </a:p>
          <a:p>
            <a:pPr>
              <a:buNone/>
            </a:pPr>
            <a:endParaRPr lang="en-IN" dirty="0"/>
          </a:p>
          <a:p>
            <a:pPr>
              <a:buNone/>
            </a:pPr>
            <a:r>
              <a:rPr lang="en-IN" b="1" dirty="0"/>
              <a:t>Key Points</a:t>
            </a:r>
          </a:p>
          <a:p>
            <a:pPr>
              <a:buFont typeface="Arial" panose="020B0604020202020204" pitchFamily="34" charset="0"/>
              <a:buChar char="•"/>
            </a:pPr>
            <a:r>
              <a:rPr lang="en-IN" dirty="0"/>
              <a:t>Aligns technology with business objectives. </a:t>
            </a:r>
          </a:p>
          <a:p>
            <a:pPr>
              <a:buFont typeface="Arial" panose="020B0604020202020204" pitchFamily="34" charset="0"/>
              <a:buChar char="•"/>
            </a:pPr>
            <a:r>
              <a:rPr lang="en-IN" dirty="0"/>
              <a:t>Improves operational efficiency. </a:t>
            </a:r>
          </a:p>
          <a:p>
            <a:pPr>
              <a:buFont typeface="Arial" panose="020B0604020202020204" pitchFamily="34" charset="0"/>
              <a:buChar char="•"/>
            </a:pPr>
            <a:r>
              <a:rPr lang="en-IN" dirty="0"/>
              <a:t>Supports innovation and digital transformation. </a:t>
            </a:r>
          </a:p>
          <a:p>
            <a:pPr>
              <a:buFont typeface="Arial" panose="020B0604020202020204" pitchFamily="34" charset="0"/>
              <a:buChar char="•"/>
            </a:pPr>
            <a:r>
              <a:rPr lang="en-IN" dirty="0"/>
              <a:t>Enhances data security and system reliability. </a:t>
            </a:r>
          </a:p>
          <a:p>
            <a:pPr>
              <a:buFont typeface="Arial" panose="020B0604020202020204" pitchFamily="34" charset="0"/>
              <a:buChar char="•"/>
            </a:pPr>
            <a:r>
              <a:rPr lang="en-IN" dirty="0"/>
              <a:t>Enables better decision-making through technology.</a:t>
            </a:r>
          </a:p>
        </p:txBody>
      </p:sp>
    </p:spTree>
    <p:extLst>
      <p:ext uri="{BB962C8B-B14F-4D97-AF65-F5344CB8AC3E}">
        <p14:creationId xmlns:p14="http://schemas.microsoft.com/office/powerpoint/2010/main" val="24712751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09FAD-F79D-9CE5-2339-8113121EEE80}"/>
              </a:ext>
            </a:extLst>
          </p:cNvPr>
          <p:cNvSpPr>
            <a:spLocks noGrp="1"/>
          </p:cNvSpPr>
          <p:nvPr>
            <p:ph type="title"/>
          </p:nvPr>
        </p:nvSpPr>
        <p:spPr/>
        <p:txBody>
          <a:bodyPr/>
          <a:lstStyle/>
          <a:p>
            <a:r>
              <a:rPr lang="en-IN" dirty="0"/>
              <a:t>Alignment Capability</a:t>
            </a:r>
            <a:br>
              <a:rPr lang="en-IN" dirty="0"/>
            </a:br>
            <a:endParaRPr lang="en-IN" dirty="0"/>
          </a:p>
        </p:txBody>
      </p:sp>
      <p:sp>
        <p:nvSpPr>
          <p:cNvPr id="6" name="TextBox 5">
            <a:extLst>
              <a:ext uri="{FF2B5EF4-FFF2-40B4-BE49-F238E27FC236}">
                <a16:creationId xmlns:a16="http://schemas.microsoft.com/office/drawing/2014/main" id="{C43B3DBD-781C-E035-DAA8-B9D7BBE462CD}"/>
              </a:ext>
            </a:extLst>
          </p:cNvPr>
          <p:cNvSpPr txBox="1"/>
          <p:nvPr/>
        </p:nvSpPr>
        <p:spPr>
          <a:xfrm>
            <a:off x="680321" y="2161513"/>
            <a:ext cx="9210675" cy="2862322"/>
          </a:xfrm>
          <a:prstGeom prst="rect">
            <a:avLst/>
          </a:prstGeom>
          <a:noFill/>
        </p:spPr>
        <p:txBody>
          <a:bodyPr wrap="square">
            <a:spAutoFit/>
          </a:bodyPr>
          <a:lstStyle/>
          <a:p>
            <a:pPr>
              <a:buNone/>
            </a:pPr>
            <a:r>
              <a:rPr lang="en-IN" b="1" dirty="0"/>
              <a:t>Alignment Capability</a:t>
            </a:r>
            <a:r>
              <a:rPr lang="en-IN" dirty="0"/>
              <a:t> is the ability of an organization to ensure that </a:t>
            </a:r>
            <a:r>
              <a:rPr lang="en-IN" b="1" dirty="0"/>
              <a:t>business strategy and IT strategy work together</a:t>
            </a:r>
            <a:r>
              <a:rPr lang="en-IN" dirty="0"/>
              <a:t> to achieve common goals and improve overall business performance.</a:t>
            </a:r>
          </a:p>
          <a:p>
            <a:pPr>
              <a:buNone/>
            </a:pPr>
            <a:endParaRPr lang="en-IN" dirty="0"/>
          </a:p>
          <a:p>
            <a:pPr>
              <a:buNone/>
            </a:pPr>
            <a:r>
              <a:rPr lang="en-IN" b="1" dirty="0"/>
              <a:t>Key Points</a:t>
            </a:r>
          </a:p>
          <a:p>
            <a:pPr>
              <a:buFont typeface="Arial" panose="020B0604020202020204" pitchFamily="34" charset="0"/>
              <a:buChar char="•"/>
            </a:pPr>
            <a:r>
              <a:rPr lang="en-IN" dirty="0"/>
              <a:t>Aligns business goals with IT initiatives. </a:t>
            </a:r>
          </a:p>
          <a:p>
            <a:pPr>
              <a:buFont typeface="Arial" panose="020B0604020202020204" pitchFamily="34" charset="0"/>
              <a:buChar char="•"/>
            </a:pPr>
            <a:r>
              <a:rPr lang="en-IN" dirty="0"/>
              <a:t>Improves communication between business and IT teams. </a:t>
            </a:r>
          </a:p>
          <a:p>
            <a:pPr>
              <a:buFont typeface="Arial" panose="020B0604020202020204" pitchFamily="34" charset="0"/>
              <a:buChar char="•"/>
            </a:pPr>
            <a:r>
              <a:rPr lang="en-IN" dirty="0"/>
              <a:t>Supports efficient use of technology. </a:t>
            </a:r>
          </a:p>
          <a:p>
            <a:pPr>
              <a:buFont typeface="Arial" panose="020B0604020202020204" pitchFamily="34" charset="0"/>
              <a:buChar char="•"/>
            </a:pPr>
            <a:r>
              <a:rPr lang="en-IN" dirty="0"/>
              <a:t>Enhances decision-making and productivity. </a:t>
            </a:r>
          </a:p>
          <a:p>
            <a:pPr>
              <a:buFont typeface="Arial" panose="020B0604020202020204" pitchFamily="34" charset="0"/>
              <a:buChar char="•"/>
            </a:pPr>
            <a:r>
              <a:rPr lang="en-IN" dirty="0"/>
              <a:t>Helps organizations achieve strategic objectives.</a:t>
            </a:r>
          </a:p>
        </p:txBody>
      </p:sp>
    </p:spTree>
    <p:extLst>
      <p:ext uri="{BB962C8B-B14F-4D97-AF65-F5344CB8AC3E}">
        <p14:creationId xmlns:p14="http://schemas.microsoft.com/office/powerpoint/2010/main" val="4445792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30F76-7E9F-2690-332F-F746BDAAD6F9}"/>
              </a:ext>
            </a:extLst>
          </p:cNvPr>
          <p:cNvSpPr>
            <a:spLocks noGrp="1"/>
          </p:cNvSpPr>
          <p:nvPr>
            <p:ph type="title"/>
          </p:nvPr>
        </p:nvSpPr>
        <p:spPr/>
        <p:txBody>
          <a:bodyPr>
            <a:normAutofit fontScale="90000"/>
          </a:bodyPr>
          <a:lstStyle/>
          <a:p>
            <a:r>
              <a:rPr lang="en-IN" b="1" dirty="0"/>
              <a:t>How IT Strategy and Alignment Capability Work Together</a:t>
            </a:r>
            <a:br>
              <a:rPr lang="en-IN" b="1" dirty="0"/>
            </a:br>
            <a:endParaRPr lang="en-IN" dirty="0"/>
          </a:p>
        </p:txBody>
      </p:sp>
      <p:sp>
        <p:nvSpPr>
          <p:cNvPr id="4" name="TextBox 3">
            <a:extLst>
              <a:ext uri="{FF2B5EF4-FFF2-40B4-BE49-F238E27FC236}">
                <a16:creationId xmlns:a16="http://schemas.microsoft.com/office/drawing/2014/main" id="{EAB4BC4B-818E-B0A3-228E-7A8A59163EE7}"/>
              </a:ext>
            </a:extLst>
          </p:cNvPr>
          <p:cNvSpPr txBox="1"/>
          <p:nvPr/>
        </p:nvSpPr>
        <p:spPr>
          <a:xfrm>
            <a:off x="680321" y="2114193"/>
            <a:ext cx="8801100" cy="3416320"/>
          </a:xfrm>
          <a:prstGeom prst="rect">
            <a:avLst/>
          </a:prstGeom>
          <a:noFill/>
        </p:spPr>
        <p:txBody>
          <a:bodyPr wrap="square">
            <a:spAutoFit/>
          </a:bodyPr>
          <a:lstStyle/>
          <a:p>
            <a:pPr>
              <a:buNone/>
            </a:pPr>
            <a:r>
              <a:rPr lang="en-IN" b="1" dirty="0"/>
              <a:t>IT Strategy</a:t>
            </a:r>
            <a:r>
              <a:rPr lang="en-IN" dirty="0"/>
              <a:t> defines </a:t>
            </a:r>
            <a:r>
              <a:rPr lang="en-IN" b="1" dirty="0"/>
              <a:t>what technology the organization will use</a:t>
            </a:r>
            <a:r>
              <a:rPr lang="en-IN" dirty="0"/>
              <a:t> to achieve business goals, while </a:t>
            </a:r>
            <a:r>
              <a:rPr lang="en-IN" b="1" dirty="0"/>
              <a:t>Alignment Capability</a:t>
            </a:r>
            <a:r>
              <a:rPr lang="en-IN" dirty="0"/>
              <a:t> ensures that these technology initiatives are closely matched with the organization's business strategy. Together, they help the business operate efficiently and achieve its objectives.</a:t>
            </a:r>
          </a:p>
          <a:p>
            <a:pPr>
              <a:buNone/>
            </a:pPr>
            <a:endParaRPr lang="en-IN" dirty="0"/>
          </a:p>
          <a:p>
            <a:pPr>
              <a:buNone/>
            </a:pPr>
            <a:r>
              <a:rPr lang="en-IN" b="1" dirty="0"/>
              <a:t>Working Process</a:t>
            </a:r>
          </a:p>
          <a:p>
            <a:pPr>
              <a:buFont typeface="+mj-lt"/>
              <a:buAutoNum type="arabicPeriod"/>
            </a:pPr>
            <a:r>
              <a:rPr lang="en-IN" b="1" dirty="0"/>
              <a:t>Business goals are defined</a:t>
            </a:r>
            <a:r>
              <a:rPr lang="en-IN" dirty="0"/>
              <a:t> (e.g., increase sales). </a:t>
            </a:r>
          </a:p>
          <a:p>
            <a:pPr>
              <a:buFont typeface="+mj-lt"/>
              <a:buAutoNum type="arabicPeriod"/>
            </a:pPr>
            <a:r>
              <a:rPr lang="en-IN" b="1" dirty="0"/>
              <a:t>IT strategy develops technology solutions</a:t>
            </a:r>
            <a:r>
              <a:rPr lang="en-IN" dirty="0"/>
              <a:t> (e.g., ERP, CRM, cloud computing). </a:t>
            </a:r>
          </a:p>
          <a:p>
            <a:pPr>
              <a:buFont typeface="+mj-lt"/>
              <a:buAutoNum type="arabicPeriod"/>
            </a:pPr>
            <a:r>
              <a:rPr lang="en-IN" b="1" dirty="0"/>
              <a:t>Alignment capability connects business and IT goals.</a:t>
            </a:r>
            <a:r>
              <a:rPr lang="en-IN" dirty="0"/>
              <a:t> </a:t>
            </a:r>
          </a:p>
          <a:p>
            <a:pPr>
              <a:buFont typeface="+mj-lt"/>
              <a:buAutoNum type="arabicPeriod"/>
            </a:pPr>
            <a:r>
              <a:rPr lang="en-IN" b="1" dirty="0"/>
              <a:t>Technology is implemented to support business operations.</a:t>
            </a:r>
            <a:r>
              <a:rPr lang="en-IN" dirty="0"/>
              <a:t> </a:t>
            </a:r>
          </a:p>
          <a:p>
            <a:pPr>
              <a:buFont typeface="+mj-lt"/>
              <a:buAutoNum type="arabicPeriod"/>
            </a:pPr>
            <a:r>
              <a:rPr lang="en-IN" b="1" dirty="0"/>
              <a:t>The organization achieves better efficiency, innovation, and competitive advantage.</a:t>
            </a:r>
            <a:endParaRPr lang="en-IN" dirty="0"/>
          </a:p>
        </p:txBody>
      </p:sp>
    </p:spTree>
    <p:extLst>
      <p:ext uri="{BB962C8B-B14F-4D97-AF65-F5344CB8AC3E}">
        <p14:creationId xmlns:p14="http://schemas.microsoft.com/office/powerpoint/2010/main" val="39110828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ACE80-BFC8-F44A-63AD-6DB6291EED6E}"/>
              </a:ext>
            </a:extLst>
          </p:cNvPr>
          <p:cNvSpPr>
            <a:spLocks noGrp="1"/>
          </p:cNvSpPr>
          <p:nvPr>
            <p:ph type="title"/>
          </p:nvPr>
        </p:nvSpPr>
        <p:spPr/>
        <p:txBody>
          <a:bodyPr/>
          <a:lstStyle/>
          <a:p>
            <a:r>
              <a:rPr lang="en-IN" b="1" dirty="0"/>
              <a:t>The Alignment Cycle</a:t>
            </a:r>
            <a:endParaRPr lang="en-IN" dirty="0"/>
          </a:p>
        </p:txBody>
      </p:sp>
      <p:sp>
        <p:nvSpPr>
          <p:cNvPr id="6" name="TextBox 5">
            <a:extLst>
              <a:ext uri="{FF2B5EF4-FFF2-40B4-BE49-F238E27FC236}">
                <a16:creationId xmlns:a16="http://schemas.microsoft.com/office/drawing/2014/main" id="{D8217D80-7B43-226B-0D1C-BE66DD506E43}"/>
              </a:ext>
            </a:extLst>
          </p:cNvPr>
          <p:cNvSpPr txBox="1"/>
          <p:nvPr/>
        </p:nvSpPr>
        <p:spPr>
          <a:xfrm>
            <a:off x="680320" y="2068116"/>
            <a:ext cx="10902079" cy="3970318"/>
          </a:xfrm>
          <a:prstGeom prst="rect">
            <a:avLst/>
          </a:prstGeom>
          <a:noFill/>
        </p:spPr>
        <p:txBody>
          <a:bodyPr wrap="square">
            <a:spAutoFit/>
          </a:bodyPr>
          <a:lstStyle/>
          <a:p>
            <a:pPr>
              <a:buNone/>
            </a:pPr>
            <a:r>
              <a:rPr lang="en-IN" b="1" dirty="0"/>
              <a:t>1. Business Strategy</a:t>
            </a:r>
          </a:p>
          <a:p>
            <a:pPr>
              <a:buFont typeface="Arial" panose="020B0604020202020204" pitchFamily="34" charset="0"/>
              <a:buChar char="•"/>
            </a:pPr>
            <a:r>
              <a:rPr lang="en-IN" dirty="0"/>
              <a:t>Define the organization's vision, goals, and objectives.</a:t>
            </a:r>
          </a:p>
          <a:p>
            <a:pPr>
              <a:buFont typeface="Arial" panose="020B0604020202020204" pitchFamily="34" charset="0"/>
              <a:buChar char="•"/>
            </a:pPr>
            <a:r>
              <a:rPr lang="en-IN" dirty="0"/>
              <a:t> </a:t>
            </a:r>
          </a:p>
          <a:p>
            <a:pPr>
              <a:buNone/>
            </a:pPr>
            <a:r>
              <a:rPr lang="en-IN" b="1" dirty="0"/>
              <a:t>2. IT Strategy</a:t>
            </a:r>
          </a:p>
          <a:p>
            <a:pPr>
              <a:buFont typeface="Arial" panose="020B0604020202020204" pitchFamily="34" charset="0"/>
              <a:buChar char="•"/>
            </a:pPr>
            <a:r>
              <a:rPr lang="en-IN" dirty="0"/>
              <a:t>Develop technology plans that support business goals. </a:t>
            </a:r>
          </a:p>
          <a:p>
            <a:pPr>
              <a:buFont typeface="Arial" panose="020B0604020202020204" pitchFamily="34" charset="0"/>
              <a:buChar char="•"/>
            </a:pPr>
            <a:endParaRPr lang="en-IN" dirty="0"/>
          </a:p>
          <a:p>
            <a:pPr>
              <a:buNone/>
            </a:pPr>
            <a:r>
              <a:rPr lang="en-IN" b="1" dirty="0"/>
              <a:t>3. Implementation</a:t>
            </a:r>
          </a:p>
          <a:p>
            <a:pPr>
              <a:buFont typeface="Arial" panose="020B0604020202020204" pitchFamily="34" charset="0"/>
              <a:buChar char="•"/>
            </a:pPr>
            <a:r>
              <a:rPr lang="en-IN" dirty="0"/>
              <a:t>Deploy IT solutions such as ERP, CRM, cloud computing, or analytics. </a:t>
            </a:r>
          </a:p>
          <a:p>
            <a:pPr>
              <a:buFont typeface="Arial" panose="020B0604020202020204" pitchFamily="34" charset="0"/>
              <a:buChar char="•"/>
            </a:pPr>
            <a:endParaRPr lang="en-IN" dirty="0"/>
          </a:p>
          <a:p>
            <a:pPr>
              <a:buNone/>
            </a:pPr>
            <a:r>
              <a:rPr lang="en-IN" b="1" dirty="0"/>
              <a:t>4. Performance Evaluation</a:t>
            </a:r>
          </a:p>
          <a:p>
            <a:pPr>
              <a:buFont typeface="Arial" panose="020B0604020202020204" pitchFamily="34" charset="0"/>
              <a:buChar char="•"/>
            </a:pPr>
            <a:r>
              <a:rPr lang="en-IN" dirty="0"/>
              <a:t>Measure business and IT performance using KPIs and feedback. </a:t>
            </a:r>
          </a:p>
          <a:p>
            <a:pPr>
              <a:buFont typeface="Arial" panose="020B0604020202020204" pitchFamily="34" charset="0"/>
              <a:buChar char="•"/>
            </a:pPr>
            <a:endParaRPr lang="en-IN" dirty="0"/>
          </a:p>
          <a:p>
            <a:pPr>
              <a:buNone/>
            </a:pPr>
            <a:r>
              <a:rPr lang="en-IN" b="1" dirty="0"/>
              <a:t>5. Continuous Improvement</a:t>
            </a:r>
          </a:p>
          <a:p>
            <a:pPr>
              <a:buFont typeface="Arial" panose="020B0604020202020204" pitchFamily="34" charset="0"/>
              <a:buChar char="•"/>
            </a:pPr>
            <a:r>
              <a:rPr lang="en-IN" dirty="0"/>
              <a:t>Update business and IT strategies based on results and changing business needs.</a:t>
            </a:r>
          </a:p>
        </p:txBody>
      </p:sp>
    </p:spTree>
    <p:extLst>
      <p:ext uri="{BB962C8B-B14F-4D97-AF65-F5344CB8AC3E}">
        <p14:creationId xmlns:p14="http://schemas.microsoft.com/office/powerpoint/2010/main" val="36922525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E259B-C816-6032-3436-714E324A49B0}"/>
              </a:ext>
            </a:extLst>
          </p:cNvPr>
          <p:cNvSpPr>
            <a:spLocks noGrp="1"/>
          </p:cNvSpPr>
          <p:nvPr>
            <p:ph type="title"/>
          </p:nvPr>
        </p:nvSpPr>
        <p:spPr/>
        <p:txBody>
          <a:bodyPr/>
          <a:lstStyle/>
          <a:p>
            <a:r>
              <a:rPr lang="en-US" dirty="0"/>
              <a:t>Data</a:t>
            </a:r>
            <a:endParaRPr lang="en-IN" dirty="0"/>
          </a:p>
        </p:txBody>
      </p:sp>
      <p:sp>
        <p:nvSpPr>
          <p:cNvPr id="4" name="TextBox 3">
            <a:extLst>
              <a:ext uri="{FF2B5EF4-FFF2-40B4-BE49-F238E27FC236}">
                <a16:creationId xmlns:a16="http://schemas.microsoft.com/office/drawing/2014/main" id="{FD618611-18E7-F458-2130-D643206BE897}"/>
              </a:ext>
            </a:extLst>
          </p:cNvPr>
          <p:cNvSpPr txBox="1"/>
          <p:nvPr/>
        </p:nvSpPr>
        <p:spPr>
          <a:xfrm>
            <a:off x="680321" y="2312938"/>
            <a:ext cx="10902079" cy="3046988"/>
          </a:xfrm>
          <a:prstGeom prst="rect">
            <a:avLst/>
          </a:prstGeom>
          <a:noFill/>
        </p:spPr>
        <p:txBody>
          <a:bodyPr wrap="square">
            <a:spAutoFit/>
          </a:bodyPr>
          <a:lstStyle/>
          <a:p>
            <a:pPr>
              <a:buNone/>
            </a:pPr>
            <a:r>
              <a:rPr lang="en-IN" sz="2400" b="1" dirty="0"/>
              <a:t>Data</a:t>
            </a:r>
            <a:r>
              <a:rPr lang="en-IN" sz="2400" dirty="0"/>
              <a:t> refers to raw facts, figures, observations, or symbols that can be processed to produce meaningful information. Data can exist in the form of numbers, text, images, audio, or videos.</a:t>
            </a:r>
          </a:p>
          <a:p>
            <a:pPr>
              <a:buNone/>
            </a:pPr>
            <a:endParaRPr lang="en-IN" sz="2400" dirty="0"/>
          </a:p>
          <a:p>
            <a:pPr>
              <a:buNone/>
            </a:pPr>
            <a:r>
              <a:rPr lang="en-IN" sz="2400" b="1" dirty="0"/>
              <a:t>Example:</a:t>
            </a:r>
            <a:endParaRPr lang="en-IN" sz="2400" dirty="0"/>
          </a:p>
          <a:p>
            <a:pPr>
              <a:buFont typeface="Arial" panose="020B0604020202020204" pitchFamily="34" charset="0"/>
              <a:buChar char="•"/>
            </a:pPr>
            <a:r>
              <a:rPr lang="en-IN" sz="2400" dirty="0"/>
              <a:t>Student Name: Rahul </a:t>
            </a:r>
          </a:p>
          <a:p>
            <a:pPr>
              <a:buFont typeface="Arial" panose="020B0604020202020204" pitchFamily="34" charset="0"/>
              <a:buChar char="•"/>
            </a:pPr>
            <a:r>
              <a:rPr lang="en-IN" sz="2400" dirty="0"/>
              <a:t>Age: 20 </a:t>
            </a:r>
          </a:p>
          <a:p>
            <a:pPr>
              <a:buFont typeface="Arial" panose="020B0604020202020204" pitchFamily="34" charset="0"/>
              <a:buChar char="•"/>
            </a:pPr>
            <a:r>
              <a:rPr lang="en-IN" sz="2400" dirty="0"/>
              <a:t>Marks: 85</a:t>
            </a:r>
          </a:p>
        </p:txBody>
      </p:sp>
    </p:spTree>
    <p:extLst>
      <p:ext uri="{BB962C8B-B14F-4D97-AF65-F5344CB8AC3E}">
        <p14:creationId xmlns:p14="http://schemas.microsoft.com/office/powerpoint/2010/main" val="34742636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7088F-D3CB-601D-CC5B-905461D22B81}"/>
              </a:ext>
            </a:extLst>
          </p:cNvPr>
          <p:cNvSpPr>
            <a:spLocks noGrp="1"/>
          </p:cNvSpPr>
          <p:nvPr>
            <p:ph type="title"/>
          </p:nvPr>
        </p:nvSpPr>
        <p:spPr/>
        <p:txBody>
          <a:bodyPr/>
          <a:lstStyle/>
          <a:p>
            <a:r>
              <a:rPr lang="en-US" dirty="0"/>
              <a:t>Data vs Information</a:t>
            </a:r>
            <a:endParaRPr lang="en-IN" dirty="0"/>
          </a:p>
        </p:txBody>
      </p:sp>
      <p:graphicFrame>
        <p:nvGraphicFramePr>
          <p:cNvPr id="5" name="Table 4">
            <a:extLst>
              <a:ext uri="{FF2B5EF4-FFF2-40B4-BE49-F238E27FC236}">
                <a16:creationId xmlns:a16="http://schemas.microsoft.com/office/drawing/2014/main" id="{5787AE33-1771-D0A6-910A-463624502C77}"/>
              </a:ext>
            </a:extLst>
          </p:cNvPr>
          <p:cNvGraphicFramePr>
            <a:graphicFrameLocks noGrp="1"/>
          </p:cNvGraphicFramePr>
          <p:nvPr>
            <p:extLst>
              <p:ext uri="{D42A27DB-BD31-4B8C-83A1-F6EECF244321}">
                <p14:modId xmlns:p14="http://schemas.microsoft.com/office/powerpoint/2010/main" val="1727099153"/>
              </p:ext>
            </p:extLst>
          </p:nvPr>
        </p:nvGraphicFramePr>
        <p:xfrm>
          <a:off x="983459" y="2324688"/>
          <a:ext cx="9009057" cy="3623088"/>
        </p:xfrm>
        <a:graphic>
          <a:graphicData uri="http://schemas.openxmlformats.org/drawingml/2006/table">
            <a:tbl>
              <a:tblPr/>
              <a:tblGrid>
                <a:gridCol w="3003019">
                  <a:extLst>
                    <a:ext uri="{9D8B030D-6E8A-4147-A177-3AD203B41FA5}">
                      <a16:colId xmlns:a16="http://schemas.microsoft.com/office/drawing/2014/main" val="3779539749"/>
                    </a:ext>
                  </a:extLst>
                </a:gridCol>
                <a:gridCol w="3003019">
                  <a:extLst>
                    <a:ext uri="{9D8B030D-6E8A-4147-A177-3AD203B41FA5}">
                      <a16:colId xmlns:a16="http://schemas.microsoft.com/office/drawing/2014/main" val="2740471798"/>
                    </a:ext>
                  </a:extLst>
                </a:gridCol>
                <a:gridCol w="3003019">
                  <a:extLst>
                    <a:ext uri="{9D8B030D-6E8A-4147-A177-3AD203B41FA5}">
                      <a16:colId xmlns:a16="http://schemas.microsoft.com/office/drawing/2014/main" val="3252703398"/>
                    </a:ext>
                  </a:extLst>
                </a:gridCol>
              </a:tblGrid>
              <a:tr h="342749">
                <a:tc>
                  <a:txBody>
                    <a:bodyPr/>
                    <a:lstStyle/>
                    <a:p>
                      <a:pPr>
                        <a:buNone/>
                      </a:pPr>
                      <a:r>
                        <a:rPr lang="en-IN" sz="1700" b="1"/>
                        <a:t>Basis</a:t>
                      </a:r>
                      <a:endParaRPr lang="en-IN" sz="1700"/>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b="1"/>
                        <a:t>Data</a:t>
                      </a:r>
                      <a:endParaRPr lang="en-IN" sz="1700"/>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b="1"/>
                        <a:t>Information</a:t>
                      </a:r>
                      <a:endParaRPr lang="en-IN" sz="1700"/>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6900068"/>
                  </a:ext>
                </a:extLst>
              </a:tr>
              <a:tr h="599810">
                <a:tc>
                  <a:txBody>
                    <a:bodyPr/>
                    <a:lstStyle/>
                    <a:p>
                      <a:pPr>
                        <a:buNone/>
                      </a:pPr>
                      <a:r>
                        <a:rPr lang="en-IN" sz="1700" b="1"/>
                        <a:t>Definition</a:t>
                      </a:r>
                      <a:endParaRPr lang="en-IN" sz="1700"/>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a:t>Raw facts and figures without context.</a:t>
                      </a:r>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a:t>Processed and organized data that has meaning.</a:t>
                      </a:r>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9821794"/>
                  </a:ext>
                </a:extLst>
              </a:tr>
              <a:tr h="599810">
                <a:tc>
                  <a:txBody>
                    <a:bodyPr/>
                    <a:lstStyle/>
                    <a:p>
                      <a:pPr>
                        <a:buNone/>
                      </a:pPr>
                      <a:r>
                        <a:rPr lang="en-IN" sz="1700" b="1"/>
                        <a:t>Meaning</a:t>
                      </a:r>
                      <a:endParaRPr lang="en-IN" sz="1700"/>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a:t>Does not provide useful insights on its own.</a:t>
                      </a:r>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a:t>Provides meaningful insights for decision-making.</a:t>
                      </a:r>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2161809"/>
                  </a:ext>
                </a:extLst>
              </a:tr>
              <a:tr h="599810">
                <a:tc>
                  <a:txBody>
                    <a:bodyPr/>
                    <a:lstStyle/>
                    <a:p>
                      <a:pPr>
                        <a:buNone/>
                      </a:pPr>
                      <a:r>
                        <a:rPr lang="en-IN" sz="1700" b="1"/>
                        <a:t>Processing</a:t>
                      </a:r>
                      <a:endParaRPr lang="en-IN" sz="1700"/>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a:t>Unprocessed and unorganized.</a:t>
                      </a:r>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a:t>Processed, organized, and interpreted.</a:t>
                      </a:r>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9887933"/>
                  </a:ext>
                </a:extLst>
              </a:tr>
              <a:tr h="599810">
                <a:tc>
                  <a:txBody>
                    <a:bodyPr/>
                    <a:lstStyle/>
                    <a:p>
                      <a:pPr>
                        <a:buNone/>
                      </a:pPr>
                      <a:r>
                        <a:rPr lang="en-IN" sz="1700" b="1"/>
                        <a:t>Purpose</a:t>
                      </a:r>
                      <a:endParaRPr lang="en-IN" sz="1700"/>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a:t>Used as input for processing.</a:t>
                      </a:r>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a:t>Used as output to support decisions.</a:t>
                      </a:r>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4190071"/>
                  </a:ext>
                </a:extLst>
              </a:tr>
              <a:tr h="856872">
                <a:tc>
                  <a:txBody>
                    <a:bodyPr/>
                    <a:lstStyle/>
                    <a:p>
                      <a:pPr>
                        <a:buNone/>
                      </a:pPr>
                      <a:r>
                        <a:rPr lang="en-IN" sz="1700" b="1"/>
                        <a:t>Example</a:t>
                      </a:r>
                      <a:endParaRPr lang="en-IN" sz="1700"/>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dirty="0"/>
                        <a:t>Marks: 85, 90, 78</a:t>
                      </a:r>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dirty="0"/>
                        <a:t>Average marks = 84.3, indicating good performance.</a:t>
                      </a:r>
                    </a:p>
                  </a:txBody>
                  <a:tcPr marL="85687" marR="85687" marT="42844" marB="42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618013"/>
                  </a:ext>
                </a:extLst>
              </a:tr>
            </a:tbl>
          </a:graphicData>
        </a:graphic>
      </p:graphicFrame>
    </p:spTree>
    <p:extLst>
      <p:ext uri="{BB962C8B-B14F-4D97-AF65-F5344CB8AC3E}">
        <p14:creationId xmlns:p14="http://schemas.microsoft.com/office/powerpoint/2010/main" val="36715763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8625E-F87C-83D0-5BCE-3CC73680CC20}"/>
              </a:ext>
            </a:extLst>
          </p:cNvPr>
          <p:cNvSpPr>
            <a:spLocks noGrp="1"/>
          </p:cNvSpPr>
          <p:nvPr>
            <p:ph type="title"/>
          </p:nvPr>
        </p:nvSpPr>
        <p:spPr/>
        <p:txBody>
          <a:bodyPr/>
          <a:lstStyle/>
          <a:p>
            <a:r>
              <a:rPr lang="en-US" b="1" dirty="0"/>
              <a:t>Structured, Unstructured data</a:t>
            </a:r>
            <a:endParaRPr lang="en-IN" dirty="0"/>
          </a:p>
        </p:txBody>
      </p:sp>
      <p:sp>
        <p:nvSpPr>
          <p:cNvPr id="4" name="TextBox 3">
            <a:extLst>
              <a:ext uri="{FF2B5EF4-FFF2-40B4-BE49-F238E27FC236}">
                <a16:creationId xmlns:a16="http://schemas.microsoft.com/office/drawing/2014/main" id="{05087D77-8101-D904-CC17-614A6C85458E}"/>
              </a:ext>
            </a:extLst>
          </p:cNvPr>
          <p:cNvSpPr txBox="1"/>
          <p:nvPr/>
        </p:nvSpPr>
        <p:spPr>
          <a:xfrm>
            <a:off x="680320" y="1834166"/>
            <a:ext cx="8572500" cy="2585323"/>
          </a:xfrm>
          <a:prstGeom prst="rect">
            <a:avLst/>
          </a:prstGeom>
          <a:noFill/>
        </p:spPr>
        <p:txBody>
          <a:bodyPr wrap="square">
            <a:spAutoFit/>
          </a:bodyPr>
          <a:lstStyle/>
          <a:p>
            <a:endParaRPr lang="en-IN" b="1" dirty="0"/>
          </a:p>
          <a:p>
            <a:r>
              <a:rPr lang="en-IN" b="1" dirty="0"/>
              <a:t>Structured Data:</a:t>
            </a:r>
          </a:p>
          <a:p>
            <a:r>
              <a:rPr lang="en-IN" b="1" dirty="0"/>
              <a:t> </a:t>
            </a:r>
            <a:r>
              <a:rPr lang="en-IN" dirty="0"/>
              <a:t>It  is data that is organized in a fixed format, usually in rows and columns, making it easy to store, search, and </a:t>
            </a:r>
            <a:r>
              <a:rPr lang="en-IN" dirty="0" err="1"/>
              <a:t>analyze</a:t>
            </a:r>
            <a:r>
              <a:rPr lang="en-IN" dirty="0"/>
              <a:t> using databases.</a:t>
            </a:r>
          </a:p>
          <a:p>
            <a:endParaRPr lang="en-IN" dirty="0"/>
          </a:p>
          <a:p>
            <a:r>
              <a:rPr lang="en-IN" b="1" dirty="0"/>
              <a:t>Examples:</a:t>
            </a:r>
            <a:endParaRPr lang="en-IN" dirty="0"/>
          </a:p>
          <a:p>
            <a:r>
              <a:rPr lang="en-IN" dirty="0"/>
              <a:t>Employee database </a:t>
            </a:r>
          </a:p>
          <a:p>
            <a:r>
              <a:rPr lang="en-IN" dirty="0"/>
              <a:t>Customer records</a:t>
            </a:r>
          </a:p>
          <a:p>
            <a:endParaRPr lang="en-IN" dirty="0"/>
          </a:p>
        </p:txBody>
      </p:sp>
      <p:sp>
        <p:nvSpPr>
          <p:cNvPr id="6" name="TextBox 5">
            <a:extLst>
              <a:ext uri="{FF2B5EF4-FFF2-40B4-BE49-F238E27FC236}">
                <a16:creationId xmlns:a16="http://schemas.microsoft.com/office/drawing/2014/main" id="{1CB62B87-C871-8C36-EEFA-94A7A9D14A1F}"/>
              </a:ext>
            </a:extLst>
          </p:cNvPr>
          <p:cNvSpPr txBox="1"/>
          <p:nvPr/>
        </p:nvSpPr>
        <p:spPr>
          <a:xfrm>
            <a:off x="680320" y="4291310"/>
            <a:ext cx="10911605" cy="2585323"/>
          </a:xfrm>
          <a:prstGeom prst="rect">
            <a:avLst/>
          </a:prstGeom>
          <a:noFill/>
        </p:spPr>
        <p:txBody>
          <a:bodyPr wrap="square">
            <a:spAutoFit/>
          </a:bodyPr>
          <a:lstStyle/>
          <a:p>
            <a:r>
              <a:rPr lang="en-IN" b="1" dirty="0"/>
              <a:t>Unstructured Data:</a:t>
            </a:r>
          </a:p>
          <a:p>
            <a:r>
              <a:rPr lang="en-IN" dirty="0"/>
              <a:t>It is data that has no predefined format or structure. It is difficult to store and </a:t>
            </a:r>
            <a:r>
              <a:rPr lang="en-IN" dirty="0" err="1"/>
              <a:t>analyze</a:t>
            </a:r>
            <a:r>
              <a:rPr lang="en-IN" dirty="0"/>
              <a:t> using traditional databases.</a:t>
            </a:r>
          </a:p>
          <a:p>
            <a:endParaRPr lang="en-IN" dirty="0"/>
          </a:p>
          <a:p>
            <a:r>
              <a:rPr lang="en-IN" b="1" dirty="0"/>
              <a:t>Examples:</a:t>
            </a:r>
            <a:endParaRPr lang="en-IN" dirty="0"/>
          </a:p>
          <a:p>
            <a:r>
              <a:rPr lang="en-IN" dirty="0"/>
              <a:t>Emails </a:t>
            </a:r>
          </a:p>
          <a:p>
            <a:r>
              <a:rPr lang="en-IN" dirty="0"/>
              <a:t>Images </a:t>
            </a:r>
          </a:p>
          <a:p>
            <a:r>
              <a:rPr lang="en-IN" dirty="0"/>
              <a:t>Videos</a:t>
            </a:r>
          </a:p>
          <a:p>
            <a:endParaRPr lang="en-IN" dirty="0"/>
          </a:p>
        </p:txBody>
      </p:sp>
    </p:spTree>
    <p:extLst>
      <p:ext uri="{BB962C8B-B14F-4D97-AF65-F5344CB8AC3E}">
        <p14:creationId xmlns:p14="http://schemas.microsoft.com/office/powerpoint/2010/main" val="39579060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1973E7E-0D32-C73F-8BB8-BAEC9529940B}"/>
              </a:ext>
            </a:extLst>
          </p:cNvPr>
          <p:cNvSpPr>
            <a:spLocks noGrp="1"/>
          </p:cNvSpPr>
          <p:nvPr>
            <p:ph type="title"/>
          </p:nvPr>
        </p:nvSpPr>
        <p:spPr>
          <a:xfrm>
            <a:off x="681038" y="752475"/>
            <a:ext cx="9613900" cy="1081088"/>
          </a:xfrm>
        </p:spPr>
        <p:txBody>
          <a:bodyPr/>
          <a:lstStyle/>
          <a:p>
            <a:r>
              <a:rPr lang="en-US" b="1" dirty="0"/>
              <a:t>Semi-structured </a:t>
            </a:r>
            <a:endParaRPr lang="en-IN" dirty="0"/>
          </a:p>
        </p:txBody>
      </p:sp>
      <p:sp>
        <p:nvSpPr>
          <p:cNvPr id="5" name="TextBox 4">
            <a:extLst>
              <a:ext uri="{FF2B5EF4-FFF2-40B4-BE49-F238E27FC236}">
                <a16:creationId xmlns:a16="http://schemas.microsoft.com/office/drawing/2014/main" id="{13B975AA-8470-1B20-7A5E-2FA73D02366E}"/>
              </a:ext>
            </a:extLst>
          </p:cNvPr>
          <p:cNvSpPr txBox="1"/>
          <p:nvPr/>
        </p:nvSpPr>
        <p:spPr>
          <a:xfrm>
            <a:off x="681038" y="2091035"/>
            <a:ext cx="8920162" cy="646331"/>
          </a:xfrm>
          <a:prstGeom prst="rect">
            <a:avLst/>
          </a:prstGeom>
          <a:noFill/>
        </p:spPr>
        <p:txBody>
          <a:bodyPr wrap="square">
            <a:spAutoFit/>
          </a:bodyPr>
          <a:lstStyle/>
          <a:p>
            <a:r>
              <a:rPr lang="en-IN" b="1" dirty="0"/>
              <a:t>Semi-Structured Data</a:t>
            </a:r>
            <a:r>
              <a:rPr lang="en-IN" dirty="0"/>
              <a:t>: it is data that does not follow a strict table structure but contains tags, labels, or metadata that help organize and identify the data.</a:t>
            </a:r>
          </a:p>
        </p:txBody>
      </p:sp>
      <p:sp>
        <p:nvSpPr>
          <p:cNvPr id="7" name="TextBox 6">
            <a:extLst>
              <a:ext uri="{FF2B5EF4-FFF2-40B4-BE49-F238E27FC236}">
                <a16:creationId xmlns:a16="http://schemas.microsoft.com/office/drawing/2014/main" id="{E201C7FA-E765-E963-30E5-198F8D3F6394}"/>
              </a:ext>
            </a:extLst>
          </p:cNvPr>
          <p:cNvSpPr txBox="1"/>
          <p:nvPr/>
        </p:nvSpPr>
        <p:spPr>
          <a:xfrm>
            <a:off x="681038" y="2920306"/>
            <a:ext cx="6096000" cy="1200329"/>
          </a:xfrm>
          <a:prstGeom prst="rect">
            <a:avLst/>
          </a:prstGeom>
          <a:noFill/>
        </p:spPr>
        <p:txBody>
          <a:bodyPr wrap="square">
            <a:spAutoFit/>
          </a:bodyPr>
          <a:lstStyle/>
          <a:p>
            <a:pPr>
              <a:buNone/>
            </a:pPr>
            <a:r>
              <a:rPr lang="en-IN" b="1" dirty="0"/>
              <a:t>Examples:</a:t>
            </a:r>
            <a:endParaRPr lang="en-IN" dirty="0"/>
          </a:p>
          <a:p>
            <a:pPr>
              <a:buFont typeface="Arial" panose="020B0604020202020204" pitchFamily="34" charset="0"/>
              <a:buChar char="•"/>
            </a:pPr>
            <a:r>
              <a:rPr lang="en-IN" dirty="0"/>
              <a:t>XML files </a:t>
            </a:r>
          </a:p>
          <a:p>
            <a:pPr>
              <a:buFont typeface="Arial" panose="020B0604020202020204" pitchFamily="34" charset="0"/>
              <a:buChar char="•"/>
            </a:pPr>
            <a:r>
              <a:rPr lang="en-IN" dirty="0"/>
              <a:t>JSON files </a:t>
            </a:r>
          </a:p>
          <a:p>
            <a:pPr>
              <a:buFont typeface="Arial" panose="020B0604020202020204" pitchFamily="34" charset="0"/>
              <a:buChar char="•"/>
            </a:pPr>
            <a:r>
              <a:rPr lang="en-IN" dirty="0"/>
              <a:t>HTML documents</a:t>
            </a:r>
          </a:p>
        </p:txBody>
      </p:sp>
    </p:spTree>
    <p:extLst>
      <p:ext uri="{BB962C8B-B14F-4D97-AF65-F5344CB8AC3E}">
        <p14:creationId xmlns:p14="http://schemas.microsoft.com/office/powerpoint/2010/main" val="16173517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611ED-9AF1-607F-F451-13BE95C5CD8C}"/>
              </a:ext>
            </a:extLst>
          </p:cNvPr>
          <p:cNvSpPr>
            <a:spLocks noGrp="1"/>
          </p:cNvSpPr>
          <p:nvPr>
            <p:ph type="title"/>
          </p:nvPr>
        </p:nvSpPr>
        <p:spPr/>
        <p:txBody>
          <a:bodyPr/>
          <a:lstStyle/>
          <a:p>
            <a:r>
              <a:rPr lang="en-US" b="1" dirty="0"/>
              <a:t>Difference between Structured, Semi-structured and Unstructured data</a:t>
            </a:r>
            <a:endParaRPr lang="en-IN" dirty="0"/>
          </a:p>
        </p:txBody>
      </p:sp>
      <p:graphicFrame>
        <p:nvGraphicFramePr>
          <p:cNvPr id="3" name="Table 2">
            <a:extLst>
              <a:ext uri="{FF2B5EF4-FFF2-40B4-BE49-F238E27FC236}">
                <a16:creationId xmlns:a16="http://schemas.microsoft.com/office/drawing/2014/main" id="{F0AE113C-98DB-924B-09EC-515394B7DCF2}"/>
              </a:ext>
            </a:extLst>
          </p:cNvPr>
          <p:cNvGraphicFramePr>
            <a:graphicFrameLocks noGrp="1"/>
          </p:cNvGraphicFramePr>
          <p:nvPr>
            <p:extLst>
              <p:ext uri="{D42A27DB-BD31-4B8C-83A1-F6EECF244321}">
                <p14:modId xmlns:p14="http://schemas.microsoft.com/office/powerpoint/2010/main" val="3605599948"/>
              </p:ext>
            </p:extLst>
          </p:nvPr>
        </p:nvGraphicFramePr>
        <p:xfrm>
          <a:off x="680321" y="2219801"/>
          <a:ext cx="9613900" cy="3566160"/>
        </p:xfrm>
        <a:graphic>
          <a:graphicData uri="http://schemas.openxmlformats.org/drawingml/2006/table">
            <a:tbl>
              <a:tblPr/>
              <a:tblGrid>
                <a:gridCol w="2403475">
                  <a:extLst>
                    <a:ext uri="{9D8B030D-6E8A-4147-A177-3AD203B41FA5}">
                      <a16:colId xmlns:a16="http://schemas.microsoft.com/office/drawing/2014/main" val="1990705230"/>
                    </a:ext>
                  </a:extLst>
                </a:gridCol>
                <a:gridCol w="2403475">
                  <a:extLst>
                    <a:ext uri="{9D8B030D-6E8A-4147-A177-3AD203B41FA5}">
                      <a16:colId xmlns:a16="http://schemas.microsoft.com/office/drawing/2014/main" val="1697819357"/>
                    </a:ext>
                  </a:extLst>
                </a:gridCol>
                <a:gridCol w="2403475">
                  <a:extLst>
                    <a:ext uri="{9D8B030D-6E8A-4147-A177-3AD203B41FA5}">
                      <a16:colId xmlns:a16="http://schemas.microsoft.com/office/drawing/2014/main" val="181061755"/>
                    </a:ext>
                  </a:extLst>
                </a:gridCol>
                <a:gridCol w="2403475">
                  <a:extLst>
                    <a:ext uri="{9D8B030D-6E8A-4147-A177-3AD203B41FA5}">
                      <a16:colId xmlns:a16="http://schemas.microsoft.com/office/drawing/2014/main" val="2096574410"/>
                    </a:ext>
                  </a:extLst>
                </a:gridCol>
              </a:tblGrid>
              <a:tr h="0">
                <a:tc>
                  <a:txBody>
                    <a:bodyPr/>
                    <a:lstStyle/>
                    <a:p>
                      <a:pPr>
                        <a:buNone/>
                      </a:pPr>
                      <a:r>
                        <a:rPr lang="en-IN" b="1"/>
                        <a:t>Feature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Structured Data</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Semi-Structured Data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Unstructured Data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137966"/>
                  </a:ext>
                </a:extLst>
              </a:tr>
              <a:tr h="0">
                <a:tc>
                  <a:txBody>
                    <a:bodyPr/>
                    <a:lstStyle/>
                    <a:p>
                      <a:pPr>
                        <a:buNone/>
                      </a:pPr>
                      <a:r>
                        <a:rPr lang="en-IN"/>
                        <a:t>Structure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Fixed rows and columns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Flexible with tags or metadata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 predefined structure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7407527"/>
                  </a:ext>
                </a:extLst>
              </a:tr>
              <a:tr h="0">
                <a:tc>
                  <a:txBody>
                    <a:bodyPr/>
                    <a:lstStyle/>
                    <a:p>
                      <a:pPr>
                        <a:buNone/>
                      </a:pPr>
                      <a:r>
                        <a:rPr lang="en-IN"/>
                        <a:t>Schema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Predefined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Partial/Flexible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 schema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1145274"/>
                  </a:ext>
                </a:extLst>
              </a:tr>
              <a:tr h="0">
                <a:tc>
                  <a:txBody>
                    <a:bodyPr/>
                    <a:lstStyle/>
                    <a:p>
                      <a:pPr>
                        <a:buNone/>
                      </a:pPr>
                      <a:r>
                        <a:rPr lang="en-IN"/>
                        <a:t>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Relational databases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XML, JSON, NoSQL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Files, images, videos, documents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566697"/>
                  </a:ext>
                </a:extLst>
              </a:tr>
              <a:tr h="0">
                <a:tc>
                  <a:txBody>
                    <a:bodyPr/>
                    <a:lstStyle/>
                    <a:p>
                      <a:pPr>
                        <a:buNone/>
                      </a:pPr>
                      <a:r>
                        <a:rPr lang="en-IN"/>
                        <a:t>Query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Easy using SQL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Difficult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1818909"/>
                  </a:ext>
                </a:extLst>
              </a:tr>
              <a:tr h="0">
                <a:tc>
                  <a:txBody>
                    <a:bodyPr/>
                    <a:lstStyle/>
                    <a:p>
                      <a:pPr>
                        <a:buNone/>
                      </a:pPr>
                      <a:r>
                        <a:rPr lang="en-IN"/>
                        <a:t>Examples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Student records, Bank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XML, JSON, HTML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Images, Videos, Emails, Social media posts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7835309"/>
                  </a:ext>
                </a:extLst>
              </a:tr>
            </a:tbl>
          </a:graphicData>
        </a:graphic>
      </p:graphicFrame>
    </p:spTree>
    <p:extLst>
      <p:ext uri="{BB962C8B-B14F-4D97-AF65-F5344CB8AC3E}">
        <p14:creationId xmlns:p14="http://schemas.microsoft.com/office/powerpoint/2010/main" val="37927396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03C8D-7E83-882C-D4D4-E3EA3E428368}"/>
              </a:ext>
            </a:extLst>
          </p:cNvPr>
          <p:cNvSpPr>
            <a:spLocks noGrp="1"/>
          </p:cNvSpPr>
          <p:nvPr>
            <p:ph type="title"/>
          </p:nvPr>
        </p:nvSpPr>
        <p:spPr/>
        <p:txBody>
          <a:bodyPr/>
          <a:lstStyle/>
          <a:p>
            <a:r>
              <a:rPr lang="en-US" dirty="0"/>
              <a:t>Common Data Sources </a:t>
            </a:r>
            <a:endParaRPr lang="en-IN" dirty="0"/>
          </a:p>
        </p:txBody>
      </p:sp>
      <p:sp>
        <p:nvSpPr>
          <p:cNvPr id="4" name="TextBox 3">
            <a:extLst>
              <a:ext uri="{FF2B5EF4-FFF2-40B4-BE49-F238E27FC236}">
                <a16:creationId xmlns:a16="http://schemas.microsoft.com/office/drawing/2014/main" id="{F0343BCC-C632-6BFB-85CF-D7FE129D8447}"/>
              </a:ext>
            </a:extLst>
          </p:cNvPr>
          <p:cNvSpPr txBox="1"/>
          <p:nvPr/>
        </p:nvSpPr>
        <p:spPr>
          <a:xfrm>
            <a:off x="680321" y="2056686"/>
            <a:ext cx="9753600" cy="3970318"/>
          </a:xfrm>
          <a:prstGeom prst="rect">
            <a:avLst/>
          </a:prstGeom>
          <a:noFill/>
        </p:spPr>
        <p:txBody>
          <a:bodyPr wrap="square">
            <a:spAutoFit/>
          </a:bodyPr>
          <a:lstStyle/>
          <a:p>
            <a:pPr>
              <a:buNone/>
            </a:pPr>
            <a:r>
              <a:rPr lang="en-IN" b="1" dirty="0"/>
              <a:t>Common Data Sources</a:t>
            </a:r>
            <a:r>
              <a:rPr lang="en-IN" dirty="0"/>
              <a:t> are the different sources from which organizations collect data for analysis, reporting, and decision-making.</a:t>
            </a:r>
          </a:p>
          <a:p>
            <a:pPr>
              <a:buNone/>
            </a:pPr>
            <a:endParaRPr lang="en-IN" dirty="0"/>
          </a:p>
          <a:p>
            <a:pPr>
              <a:buNone/>
            </a:pPr>
            <a:r>
              <a:rPr lang="en-IN" b="1" dirty="0"/>
              <a:t>1. Internal Data</a:t>
            </a:r>
          </a:p>
          <a:p>
            <a:r>
              <a:rPr lang="en-IN" dirty="0"/>
              <a:t>Data generated and collected within an organization through its daily business operations.</a:t>
            </a:r>
            <a:r>
              <a:rPr lang="en-IN" b="1" dirty="0"/>
              <a:t> Examples: </a:t>
            </a:r>
            <a:r>
              <a:rPr lang="en-IN" dirty="0"/>
              <a:t>ERP data ,CRM records etc. </a:t>
            </a:r>
          </a:p>
          <a:p>
            <a:endParaRPr lang="en-IN" b="1" dirty="0"/>
          </a:p>
          <a:p>
            <a:r>
              <a:rPr lang="en-IN" b="1" dirty="0"/>
              <a:t>2. Third-Party Analytics</a:t>
            </a:r>
          </a:p>
          <a:p>
            <a:r>
              <a:rPr lang="en-IN" dirty="0"/>
              <a:t> Data and insights collected and </a:t>
            </a:r>
            <a:r>
              <a:rPr lang="en-IN" dirty="0" err="1"/>
              <a:t>analyzed</a:t>
            </a:r>
            <a:r>
              <a:rPr lang="en-IN" dirty="0"/>
              <a:t> by external analytics providers to help businesses understand customer </a:t>
            </a:r>
            <a:r>
              <a:rPr lang="en-IN" dirty="0" err="1"/>
              <a:t>behavior</a:t>
            </a:r>
            <a:r>
              <a:rPr lang="en-IN" dirty="0"/>
              <a:t> and market trends. </a:t>
            </a:r>
            <a:r>
              <a:rPr lang="en-IN" b="1" dirty="0"/>
              <a:t>Examples: </a:t>
            </a:r>
            <a:r>
              <a:rPr lang="en-IN" dirty="0"/>
              <a:t>Google Analytics ,Adobe Analytics</a:t>
            </a:r>
          </a:p>
          <a:p>
            <a:endParaRPr lang="en-IN" dirty="0"/>
          </a:p>
          <a:p>
            <a:endParaRPr lang="en-IN" dirty="0"/>
          </a:p>
          <a:p>
            <a:pPr>
              <a:buNone/>
            </a:pPr>
            <a:endParaRPr lang="en-IN" dirty="0"/>
          </a:p>
        </p:txBody>
      </p:sp>
    </p:spTree>
    <p:extLst>
      <p:ext uri="{BB962C8B-B14F-4D97-AF65-F5344CB8AC3E}">
        <p14:creationId xmlns:p14="http://schemas.microsoft.com/office/powerpoint/2010/main" val="28313272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96E15F2-AB74-44BF-4594-C5AF64928B15}"/>
              </a:ext>
            </a:extLst>
          </p:cNvPr>
          <p:cNvSpPr>
            <a:spLocks noGrp="1"/>
          </p:cNvSpPr>
          <p:nvPr>
            <p:ph type="title"/>
          </p:nvPr>
        </p:nvSpPr>
        <p:spPr>
          <a:xfrm>
            <a:off x="223838" y="809625"/>
            <a:ext cx="9613900" cy="1081088"/>
          </a:xfrm>
        </p:spPr>
        <p:txBody>
          <a:bodyPr/>
          <a:lstStyle/>
          <a:p>
            <a:r>
              <a:rPr lang="en-US" dirty="0"/>
              <a:t>Common Data Sources </a:t>
            </a:r>
            <a:endParaRPr lang="en-IN" dirty="0"/>
          </a:p>
        </p:txBody>
      </p:sp>
      <p:sp>
        <p:nvSpPr>
          <p:cNvPr id="5" name="TextBox 4">
            <a:extLst>
              <a:ext uri="{FF2B5EF4-FFF2-40B4-BE49-F238E27FC236}">
                <a16:creationId xmlns:a16="http://schemas.microsoft.com/office/drawing/2014/main" id="{80BB398F-F4F9-467F-1398-B5C7FF70EA82}"/>
              </a:ext>
            </a:extLst>
          </p:cNvPr>
          <p:cNvSpPr txBox="1"/>
          <p:nvPr/>
        </p:nvSpPr>
        <p:spPr>
          <a:xfrm>
            <a:off x="223838" y="4018301"/>
            <a:ext cx="10958512" cy="923330"/>
          </a:xfrm>
          <a:prstGeom prst="rect">
            <a:avLst/>
          </a:prstGeom>
          <a:noFill/>
        </p:spPr>
        <p:txBody>
          <a:bodyPr wrap="square">
            <a:spAutoFit/>
          </a:bodyPr>
          <a:lstStyle/>
          <a:p>
            <a:pPr>
              <a:buNone/>
            </a:pPr>
            <a:r>
              <a:rPr lang="en-IN" b="1" dirty="0"/>
              <a:t>4. Open Data</a:t>
            </a:r>
          </a:p>
          <a:p>
            <a:pPr>
              <a:buNone/>
            </a:pPr>
            <a:r>
              <a:rPr lang="en-IN" dirty="0"/>
              <a:t>Publicly available data that anyone can access, use, and share without significant restrictions. </a:t>
            </a:r>
            <a:r>
              <a:rPr lang="en-IN" b="1" dirty="0"/>
              <a:t>Examples: </a:t>
            </a:r>
            <a:r>
              <a:rPr lang="en-IN" dirty="0"/>
              <a:t>Government census data, Weather data ,World Bank datasets</a:t>
            </a:r>
          </a:p>
        </p:txBody>
      </p:sp>
      <p:sp>
        <p:nvSpPr>
          <p:cNvPr id="7" name="TextBox 6">
            <a:extLst>
              <a:ext uri="{FF2B5EF4-FFF2-40B4-BE49-F238E27FC236}">
                <a16:creationId xmlns:a16="http://schemas.microsoft.com/office/drawing/2014/main" id="{3FE6EEA1-E071-2294-CBA4-8435337C84F3}"/>
              </a:ext>
            </a:extLst>
          </p:cNvPr>
          <p:cNvSpPr txBox="1"/>
          <p:nvPr/>
        </p:nvSpPr>
        <p:spPr>
          <a:xfrm>
            <a:off x="223838" y="2518886"/>
            <a:ext cx="10339387" cy="923330"/>
          </a:xfrm>
          <a:prstGeom prst="rect">
            <a:avLst/>
          </a:prstGeom>
          <a:noFill/>
        </p:spPr>
        <p:txBody>
          <a:bodyPr wrap="square">
            <a:spAutoFit/>
          </a:bodyPr>
          <a:lstStyle/>
          <a:p>
            <a:r>
              <a:rPr lang="en-IN" sz="1800" b="1" dirty="0"/>
              <a:t>3. External Data</a:t>
            </a:r>
          </a:p>
          <a:p>
            <a:r>
              <a:rPr lang="en-IN" sz="1800" dirty="0"/>
              <a:t>Data collected from sources outside the organization to support business planning and decision-making. </a:t>
            </a:r>
            <a:r>
              <a:rPr lang="en-IN" sz="1800" b="1" dirty="0"/>
              <a:t>Examples: </a:t>
            </a:r>
            <a:r>
              <a:rPr lang="en-IN" sz="1800" dirty="0"/>
              <a:t>Market research reports ,Competitor information</a:t>
            </a:r>
          </a:p>
        </p:txBody>
      </p:sp>
    </p:spTree>
    <p:extLst>
      <p:ext uri="{BB962C8B-B14F-4D97-AF65-F5344CB8AC3E}">
        <p14:creationId xmlns:p14="http://schemas.microsoft.com/office/powerpoint/2010/main" val="492194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77683-33A6-D864-A8ED-0937570AEA7B}"/>
              </a:ext>
            </a:extLst>
          </p:cNvPr>
          <p:cNvSpPr>
            <a:spLocks noGrp="1"/>
          </p:cNvSpPr>
          <p:nvPr>
            <p:ph type="title"/>
          </p:nvPr>
        </p:nvSpPr>
        <p:spPr/>
        <p:txBody>
          <a:bodyPr/>
          <a:lstStyle/>
          <a:p>
            <a:r>
              <a:rPr lang="en-US" dirty="0"/>
              <a:t>Comparison of Data Sources</a:t>
            </a:r>
            <a:endParaRPr lang="en-IN" dirty="0"/>
          </a:p>
        </p:txBody>
      </p:sp>
      <p:graphicFrame>
        <p:nvGraphicFramePr>
          <p:cNvPr id="3" name="Table 2">
            <a:extLst>
              <a:ext uri="{FF2B5EF4-FFF2-40B4-BE49-F238E27FC236}">
                <a16:creationId xmlns:a16="http://schemas.microsoft.com/office/drawing/2014/main" id="{C675908C-E3FD-F8B0-9F0E-49BC8E03F122}"/>
              </a:ext>
            </a:extLst>
          </p:cNvPr>
          <p:cNvGraphicFramePr>
            <a:graphicFrameLocks noGrp="1"/>
          </p:cNvGraphicFramePr>
          <p:nvPr>
            <p:extLst>
              <p:ext uri="{D42A27DB-BD31-4B8C-83A1-F6EECF244321}">
                <p14:modId xmlns:p14="http://schemas.microsoft.com/office/powerpoint/2010/main" val="684882139"/>
              </p:ext>
            </p:extLst>
          </p:nvPr>
        </p:nvGraphicFramePr>
        <p:xfrm>
          <a:off x="681038" y="2673191"/>
          <a:ext cx="9613899" cy="2926080"/>
        </p:xfrm>
        <a:graphic>
          <a:graphicData uri="http://schemas.openxmlformats.org/drawingml/2006/table">
            <a:tbl>
              <a:tblPr/>
              <a:tblGrid>
                <a:gridCol w="3204633">
                  <a:extLst>
                    <a:ext uri="{9D8B030D-6E8A-4147-A177-3AD203B41FA5}">
                      <a16:colId xmlns:a16="http://schemas.microsoft.com/office/drawing/2014/main" val="4121059018"/>
                    </a:ext>
                  </a:extLst>
                </a:gridCol>
                <a:gridCol w="3204633">
                  <a:extLst>
                    <a:ext uri="{9D8B030D-6E8A-4147-A177-3AD203B41FA5}">
                      <a16:colId xmlns:a16="http://schemas.microsoft.com/office/drawing/2014/main" val="2366077065"/>
                    </a:ext>
                  </a:extLst>
                </a:gridCol>
                <a:gridCol w="3204633">
                  <a:extLst>
                    <a:ext uri="{9D8B030D-6E8A-4147-A177-3AD203B41FA5}">
                      <a16:colId xmlns:a16="http://schemas.microsoft.com/office/drawing/2014/main" val="3363454507"/>
                    </a:ext>
                  </a:extLst>
                </a:gridCol>
              </a:tblGrid>
              <a:tr h="0">
                <a:tc>
                  <a:txBody>
                    <a:bodyPr/>
                    <a:lstStyle/>
                    <a:p>
                      <a:pPr>
                        <a:buNone/>
                      </a:pPr>
                      <a:r>
                        <a:rPr lang="en-IN" b="1"/>
                        <a:t>Data Source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Description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Examples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1638835"/>
                  </a:ext>
                </a:extLst>
              </a:tr>
              <a:tr h="0">
                <a:tc>
                  <a:txBody>
                    <a:bodyPr/>
                    <a:lstStyle/>
                    <a:p>
                      <a:pPr>
                        <a:buNone/>
                      </a:pPr>
                      <a:r>
                        <a:rPr lang="en-IN" b="1"/>
                        <a:t>Internal Data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Data generated within the organization.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ERP, CRM, Sales, HR, 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2804289"/>
                  </a:ext>
                </a:extLst>
              </a:tr>
              <a:tr h="0">
                <a:tc>
                  <a:txBody>
                    <a:bodyPr/>
                    <a:lstStyle/>
                    <a:p>
                      <a:pPr>
                        <a:buNone/>
                      </a:pPr>
                      <a:r>
                        <a:rPr lang="en-IN" b="1"/>
                        <a:t>Third-Party Analytics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Analytics and insights from external service providers.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Google Analytics, Adobe Analytics, SEMrush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7134460"/>
                  </a:ext>
                </a:extLst>
              </a:tr>
              <a:tr h="0">
                <a:tc>
                  <a:txBody>
                    <a:bodyPr/>
                    <a:lstStyle/>
                    <a:p>
                      <a:pPr>
                        <a:buNone/>
                      </a:pPr>
                      <a:r>
                        <a:rPr lang="en-IN" b="1"/>
                        <a:t>External Data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Data collected from outside organizations.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Market reports, competitor data, economic statistics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6385440"/>
                  </a:ext>
                </a:extLst>
              </a:tr>
              <a:tr h="0">
                <a:tc>
                  <a:txBody>
                    <a:bodyPr/>
                    <a:lstStyle/>
                    <a:p>
                      <a:pPr>
                        <a:buNone/>
                      </a:pPr>
                      <a:r>
                        <a:rPr lang="en-IN" b="1"/>
                        <a:t>Open Data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Freely available public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Census data, weather reports, World Bank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8705225"/>
                  </a:ext>
                </a:extLst>
              </a:tr>
            </a:tbl>
          </a:graphicData>
        </a:graphic>
      </p:graphicFrame>
    </p:spTree>
    <p:extLst>
      <p:ext uri="{BB962C8B-B14F-4D97-AF65-F5344CB8AC3E}">
        <p14:creationId xmlns:p14="http://schemas.microsoft.com/office/powerpoint/2010/main" val="28265703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D7915-51FD-9325-E222-E92ECB801B81}"/>
              </a:ext>
            </a:extLst>
          </p:cNvPr>
          <p:cNvSpPr>
            <a:spLocks noGrp="1"/>
          </p:cNvSpPr>
          <p:nvPr>
            <p:ph type="title"/>
          </p:nvPr>
        </p:nvSpPr>
        <p:spPr/>
        <p:txBody>
          <a:bodyPr/>
          <a:lstStyle/>
          <a:p>
            <a:r>
              <a:rPr lang="en-IN" b="1" dirty="0"/>
              <a:t>Data Collection</a:t>
            </a:r>
            <a:endParaRPr lang="en-IN" dirty="0"/>
          </a:p>
        </p:txBody>
      </p:sp>
      <p:sp>
        <p:nvSpPr>
          <p:cNvPr id="4" name="TextBox 3">
            <a:extLst>
              <a:ext uri="{FF2B5EF4-FFF2-40B4-BE49-F238E27FC236}">
                <a16:creationId xmlns:a16="http://schemas.microsoft.com/office/drawing/2014/main" id="{06848EE2-E29F-997D-6122-B4C2C99A944D}"/>
              </a:ext>
            </a:extLst>
          </p:cNvPr>
          <p:cNvSpPr txBox="1"/>
          <p:nvPr/>
        </p:nvSpPr>
        <p:spPr>
          <a:xfrm>
            <a:off x="680321" y="2090171"/>
            <a:ext cx="9001125" cy="1200329"/>
          </a:xfrm>
          <a:prstGeom prst="rect">
            <a:avLst/>
          </a:prstGeom>
          <a:noFill/>
        </p:spPr>
        <p:txBody>
          <a:bodyPr wrap="square">
            <a:spAutoFit/>
          </a:bodyPr>
          <a:lstStyle/>
          <a:p>
            <a:r>
              <a:rPr lang="en-IN" b="1" dirty="0"/>
              <a:t>Data collection</a:t>
            </a:r>
            <a:r>
              <a:rPr lang="en-IN" dirty="0"/>
              <a:t> is the systematic process of gathering, measuring, and recording information from various sources to answer research questions, support decision-making, or solve problems. The collected data is </a:t>
            </a:r>
            <a:r>
              <a:rPr lang="en-IN" dirty="0" err="1"/>
              <a:t>analyzed</a:t>
            </a:r>
            <a:r>
              <a:rPr lang="en-IN" dirty="0"/>
              <a:t> to identify patterns, trends, and insights.</a:t>
            </a:r>
          </a:p>
        </p:txBody>
      </p:sp>
      <p:sp>
        <p:nvSpPr>
          <p:cNvPr id="6" name="TextBox 5">
            <a:extLst>
              <a:ext uri="{FF2B5EF4-FFF2-40B4-BE49-F238E27FC236}">
                <a16:creationId xmlns:a16="http://schemas.microsoft.com/office/drawing/2014/main" id="{9D16A5E3-9567-CEF1-9E37-125DFDF4B8D3}"/>
              </a:ext>
            </a:extLst>
          </p:cNvPr>
          <p:cNvSpPr txBox="1"/>
          <p:nvPr/>
        </p:nvSpPr>
        <p:spPr>
          <a:xfrm>
            <a:off x="680321" y="3872210"/>
            <a:ext cx="11178304" cy="1200329"/>
          </a:xfrm>
          <a:prstGeom prst="rect">
            <a:avLst/>
          </a:prstGeom>
          <a:noFill/>
        </p:spPr>
        <p:txBody>
          <a:bodyPr wrap="square">
            <a:spAutoFit/>
          </a:bodyPr>
          <a:lstStyle/>
          <a:p>
            <a:r>
              <a:rPr lang="en-IN" b="1" dirty="0"/>
              <a:t>Qualitative data collection: </a:t>
            </a:r>
          </a:p>
          <a:p>
            <a:r>
              <a:rPr lang="en-IN" dirty="0"/>
              <a:t>It gathers </a:t>
            </a:r>
            <a:r>
              <a:rPr lang="en-IN" b="1" dirty="0"/>
              <a:t>non-numerical information</a:t>
            </a:r>
            <a:r>
              <a:rPr lang="en-IN" dirty="0"/>
              <a:t> to understand opinions, experiences, </a:t>
            </a:r>
            <a:r>
              <a:rPr lang="en-IN" dirty="0" err="1"/>
              <a:t>behaviors</a:t>
            </a:r>
            <a:r>
              <a:rPr lang="en-IN" dirty="0"/>
              <a:t>, and motivations.</a:t>
            </a:r>
            <a:r>
              <a:rPr lang="en-IN" b="1" dirty="0"/>
              <a:t> Examples: </a:t>
            </a:r>
            <a:r>
              <a:rPr lang="en-IN" dirty="0"/>
              <a:t>Customer feedback on a product , Employee satisfaction interviews</a:t>
            </a:r>
          </a:p>
          <a:p>
            <a:endParaRPr lang="en-IN" dirty="0"/>
          </a:p>
        </p:txBody>
      </p:sp>
      <p:sp>
        <p:nvSpPr>
          <p:cNvPr id="8" name="TextBox 7">
            <a:extLst>
              <a:ext uri="{FF2B5EF4-FFF2-40B4-BE49-F238E27FC236}">
                <a16:creationId xmlns:a16="http://schemas.microsoft.com/office/drawing/2014/main" id="{A19E37FD-584A-F6EB-32A8-30F5273EFD32}"/>
              </a:ext>
            </a:extLst>
          </p:cNvPr>
          <p:cNvSpPr txBox="1"/>
          <p:nvPr/>
        </p:nvSpPr>
        <p:spPr>
          <a:xfrm>
            <a:off x="680321" y="3429000"/>
            <a:ext cx="6096000" cy="369332"/>
          </a:xfrm>
          <a:prstGeom prst="rect">
            <a:avLst/>
          </a:prstGeom>
          <a:noFill/>
        </p:spPr>
        <p:txBody>
          <a:bodyPr wrap="square">
            <a:spAutoFit/>
          </a:bodyPr>
          <a:lstStyle/>
          <a:p>
            <a:r>
              <a:rPr lang="en-US" sz="1800" b="1" dirty="0">
                <a:solidFill>
                  <a:schemeClr val="tx1"/>
                </a:solidFill>
              </a:rPr>
              <a:t>Types of Data (Based on Nature)</a:t>
            </a:r>
            <a:endParaRPr lang="en-IN" dirty="0"/>
          </a:p>
        </p:txBody>
      </p:sp>
      <p:sp>
        <p:nvSpPr>
          <p:cNvPr id="10" name="TextBox 9">
            <a:extLst>
              <a:ext uri="{FF2B5EF4-FFF2-40B4-BE49-F238E27FC236}">
                <a16:creationId xmlns:a16="http://schemas.microsoft.com/office/drawing/2014/main" id="{E7BEB464-1DE6-F36A-7F83-768966A67FB4}"/>
              </a:ext>
            </a:extLst>
          </p:cNvPr>
          <p:cNvSpPr txBox="1"/>
          <p:nvPr/>
        </p:nvSpPr>
        <p:spPr>
          <a:xfrm>
            <a:off x="680321" y="5054084"/>
            <a:ext cx="11006854" cy="1200329"/>
          </a:xfrm>
          <a:prstGeom prst="rect">
            <a:avLst/>
          </a:prstGeom>
          <a:noFill/>
        </p:spPr>
        <p:txBody>
          <a:bodyPr wrap="square">
            <a:spAutoFit/>
          </a:bodyPr>
          <a:lstStyle/>
          <a:p>
            <a:r>
              <a:rPr lang="en-IN" b="1" dirty="0"/>
              <a:t>Quantitative data collection :</a:t>
            </a:r>
          </a:p>
          <a:p>
            <a:r>
              <a:rPr lang="en-IN" b="1" dirty="0"/>
              <a:t> </a:t>
            </a:r>
            <a:r>
              <a:rPr lang="en-IN" dirty="0"/>
              <a:t>It gathers </a:t>
            </a:r>
            <a:r>
              <a:rPr lang="en-IN" b="1" dirty="0"/>
              <a:t>numerical information</a:t>
            </a:r>
            <a:r>
              <a:rPr lang="en-IN" dirty="0"/>
              <a:t> that can be measured and </a:t>
            </a:r>
            <a:r>
              <a:rPr lang="en-IN" dirty="0" err="1"/>
              <a:t>analyzed</a:t>
            </a:r>
            <a:r>
              <a:rPr lang="en-IN" dirty="0"/>
              <a:t> statistically.</a:t>
            </a:r>
          </a:p>
          <a:p>
            <a:r>
              <a:rPr lang="en-IN" b="1" dirty="0"/>
              <a:t> Examples: </a:t>
            </a:r>
            <a:r>
              <a:rPr lang="en-IN" dirty="0"/>
              <a:t>Monthly sales figures , Number of website visitors</a:t>
            </a:r>
          </a:p>
          <a:p>
            <a:pPr>
              <a:buNone/>
            </a:pPr>
            <a:endParaRPr lang="en-IN" dirty="0"/>
          </a:p>
        </p:txBody>
      </p:sp>
    </p:spTree>
    <p:extLst>
      <p:ext uri="{BB962C8B-B14F-4D97-AF65-F5344CB8AC3E}">
        <p14:creationId xmlns:p14="http://schemas.microsoft.com/office/powerpoint/2010/main" val="42328150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B1046-25D6-EF1E-2E32-19F567EEB0BB}"/>
              </a:ext>
            </a:extLst>
          </p:cNvPr>
          <p:cNvSpPr>
            <a:spLocks noGrp="1"/>
          </p:cNvSpPr>
          <p:nvPr>
            <p:ph type="title"/>
          </p:nvPr>
        </p:nvSpPr>
        <p:spPr/>
        <p:txBody>
          <a:bodyPr/>
          <a:lstStyle/>
          <a:p>
            <a:r>
              <a:rPr lang="en-US" dirty="0"/>
              <a:t>Types of Data Collection</a:t>
            </a:r>
            <a:endParaRPr lang="en-IN" dirty="0"/>
          </a:p>
        </p:txBody>
      </p:sp>
      <p:sp>
        <p:nvSpPr>
          <p:cNvPr id="6" name="TextBox 5">
            <a:extLst>
              <a:ext uri="{FF2B5EF4-FFF2-40B4-BE49-F238E27FC236}">
                <a16:creationId xmlns:a16="http://schemas.microsoft.com/office/drawing/2014/main" id="{D0E70420-022A-244A-92BD-784D787EF668}"/>
              </a:ext>
            </a:extLst>
          </p:cNvPr>
          <p:cNvSpPr txBox="1"/>
          <p:nvPr/>
        </p:nvSpPr>
        <p:spPr>
          <a:xfrm>
            <a:off x="680321" y="1941463"/>
            <a:ext cx="10877550" cy="2308324"/>
          </a:xfrm>
          <a:prstGeom prst="rect">
            <a:avLst/>
          </a:prstGeom>
          <a:noFill/>
        </p:spPr>
        <p:txBody>
          <a:bodyPr wrap="square">
            <a:spAutoFit/>
          </a:bodyPr>
          <a:lstStyle/>
          <a:p>
            <a:pPr>
              <a:buNone/>
            </a:pPr>
            <a:r>
              <a:rPr lang="en-IN" b="1" dirty="0"/>
              <a:t>Primary data :</a:t>
            </a:r>
            <a:r>
              <a:rPr lang="en-IN" dirty="0"/>
              <a:t>Primary data is </a:t>
            </a:r>
            <a:r>
              <a:rPr lang="en-IN" b="1" dirty="0"/>
              <a:t>original data collected directly</a:t>
            </a:r>
            <a:r>
              <a:rPr lang="en-IN" dirty="0"/>
              <a:t> by the researcher for a specific purpose.</a:t>
            </a:r>
          </a:p>
          <a:p>
            <a:pPr>
              <a:buNone/>
            </a:pPr>
            <a:r>
              <a:rPr lang="en-IN" b="1" dirty="0"/>
              <a:t>Characteristics:</a:t>
            </a:r>
            <a:endParaRPr lang="en-IN" dirty="0"/>
          </a:p>
          <a:p>
            <a:pPr>
              <a:buFont typeface="Arial" panose="020B0604020202020204" pitchFamily="34" charset="0"/>
              <a:buChar char="•"/>
            </a:pPr>
            <a:r>
              <a:rPr lang="en-IN" dirty="0"/>
              <a:t>First-hand information </a:t>
            </a:r>
          </a:p>
          <a:p>
            <a:pPr>
              <a:buFont typeface="Arial" panose="020B0604020202020204" pitchFamily="34" charset="0"/>
              <a:buChar char="•"/>
            </a:pPr>
            <a:r>
              <a:rPr lang="en-IN" dirty="0"/>
              <a:t>Highly relevant </a:t>
            </a:r>
          </a:p>
          <a:p>
            <a:pPr>
              <a:buFont typeface="Arial" panose="020B0604020202020204" pitchFamily="34" charset="0"/>
              <a:buChar char="•"/>
            </a:pPr>
            <a:r>
              <a:rPr lang="en-IN" dirty="0"/>
              <a:t>More accurate for the study </a:t>
            </a:r>
          </a:p>
          <a:p>
            <a:pPr>
              <a:buFont typeface="Arial" panose="020B0604020202020204" pitchFamily="34" charset="0"/>
              <a:buChar char="•"/>
            </a:pPr>
            <a:r>
              <a:rPr lang="en-IN" dirty="0"/>
              <a:t>Time-consuming and costly</a:t>
            </a:r>
          </a:p>
          <a:p>
            <a:r>
              <a:rPr lang="en-IN" b="1" dirty="0"/>
              <a:t>Common Methods: </a:t>
            </a:r>
            <a:r>
              <a:rPr lang="en-IN" dirty="0"/>
              <a:t>Surveys , Interviews , Observations. </a:t>
            </a:r>
          </a:p>
          <a:p>
            <a:endParaRPr lang="en-IN" dirty="0"/>
          </a:p>
        </p:txBody>
      </p:sp>
      <p:sp>
        <p:nvSpPr>
          <p:cNvPr id="8" name="TextBox 7">
            <a:extLst>
              <a:ext uri="{FF2B5EF4-FFF2-40B4-BE49-F238E27FC236}">
                <a16:creationId xmlns:a16="http://schemas.microsoft.com/office/drawing/2014/main" id="{BEDCD71E-79AC-3805-D9ED-5FEE758EF7FB}"/>
              </a:ext>
            </a:extLst>
          </p:cNvPr>
          <p:cNvSpPr txBox="1"/>
          <p:nvPr/>
        </p:nvSpPr>
        <p:spPr>
          <a:xfrm>
            <a:off x="657225" y="4073447"/>
            <a:ext cx="10553700" cy="2031325"/>
          </a:xfrm>
          <a:prstGeom prst="rect">
            <a:avLst/>
          </a:prstGeom>
          <a:noFill/>
        </p:spPr>
        <p:txBody>
          <a:bodyPr wrap="square">
            <a:spAutoFit/>
          </a:bodyPr>
          <a:lstStyle/>
          <a:p>
            <a:pPr>
              <a:buNone/>
            </a:pPr>
            <a:r>
              <a:rPr lang="en-IN" b="1" dirty="0"/>
              <a:t>Secondary data : </a:t>
            </a:r>
            <a:r>
              <a:rPr lang="en-IN" dirty="0"/>
              <a:t>Secondary data is </a:t>
            </a:r>
            <a:r>
              <a:rPr lang="en-IN" b="1" dirty="0"/>
              <a:t>data previously collected by others</a:t>
            </a:r>
            <a:r>
              <a:rPr lang="en-IN" dirty="0"/>
              <a:t> and reused for research.</a:t>
            </a:r>
          </a:p>
          <a:p>
            <a:pPr>
              <a:buNone/>
            </a:pPr>
            <a:r>
              <a:rPr lang="en-IN" b="1" dirty="0"/>
              <a:t>Characteristics:</a:t>
            </a:r>
            <a:endParaRPr lang="en-IN" dirty="0"/>
          </a:p>
          <a:p>
            <a:pPr>
              <a:buFont typeface="Arial" panose="020B0604020202020204" pitchFamily="34" charset="0"/>
              <a:buChar char="•"/>
            </a:pPr>
            <a:r>
              <a:rPr lang="en-IN" dirty="0"/>
              <a:t>Already available </a:t>
            </a:r>
          </a:p>
          <a:p>
            <a:pPr>
              <a:buFont typeface="Arial" panose="020B0604020202020204" pitchFamily="34" charset="0"/>
              <a:buChar char="•"/>
            </a:pPr>
            <a:r>
              <a:rPr lang="en-IN" dirty="0"/>
              <a:t>Quick and inexpensive </a:t>
            </a:r>
          </a:p>
          <a:p>
            <a:pPr>
              <a:buFont typeface="Arial" panose="020B0604020202020204" pitchFamily="34" charset="0"/>
              <a:buChar char="•"/>
            </a:pPr>
            <a:r>
              <a:rPr lang="en-IN" dirty="0"/>
              <a:t>May not exactly match research needs </a:t>
            </a:r>
          </a:p>
          <a:p>
            <a:pPr>
              <a:buFont typeface="Arial" panose="020B0604020202020204" pitchFamily="34" charset="0"/>
              <a:buChar char="•"/>
            </a:pPr>
            <a:r>
              <a:rPr lang="en-IN" dirty="0"/>
              <a:t>Limited control over quality </a:t>
            </a:r>
          </a:p>
          <a:p>
            <a:pPr>
              <a:buNone/>
            </a:pPr>
            <a:r>
              <a:rPr lang="en-IN" b="1" dirty="0"/>
              <a:t>Common Sources: </a:t>
            </a:r>
            <a:r>
              <a:rPr lang="en-IN" dirty="0"/>
              <a:t>Government reports , Research journals , Books.</a:t>
            </a:r>
          </a:p>
        </p:txBody>
      </p:sp>
    </p:spTree>
    <p:extLst>
      <p:ext uri="{BB962C8B-B14F-4D97-AF65-F5344CB8AC3E}">
        <p14:creationId xmlns:p14="http://schemas.microsoft.com/office/powerpoint/2010/main" val="26236523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3C01C-DC48-2211-324C-B5D2A25C5AEC}"/>
              </a:ext>
            </a:extLst>
          </p:cNvPr>
          <p:cNvSpPr>
            <a:spLocks noGrp="1"/>
          </p:cNvSpPr>
          <p:nvPr>
            <p:ph type="title"/>
          </p:nvPr>
        </p:nvSpPr>
        <p:spPr/>
        <p:txBody>
          <a:bodyPr/>
          <a:lstStyle/>
          <a:p>
            <a:r>
              <a:rPr lang="en-US" dirty="0"/>
              <a:t>Data Life Cycle Management (DLM)</a:t>
            </a:r>
            <a:endParaRPr lang="en-IN" dirty="0"/>
          </a:p>
        </p:txBody>
      </p:sp>
      <p:pic>
        <p:nvPicPr>
          <p:cNvPr id="4" name="Picture 3">
            <a:extLst>
              <a:ext uri="{FF2B5EF4-FFF2-40B4-BE49-F238E27FC236}">
                <a16:creationId xmlns:a16="http://schemas.microsoft.com/office/drawing/2014/main" id="{B3CA4FF5-8209-8CAD-A83F-487E97B9F697}"/>
              </a:ext>
            </a:extLst>
          </p:cNvPr>
          <p:cNvPicPr>
            <a:picLocks noChangeAspect="1"/>
          </p:cNvPicPr>
          <p:nvPr/>
        </p:nvPicPr>
        <p:blipFill>
          <a:blip r:embed="rId2"/>
          <a:stretch>
            <a:fillRect/>
          </a:stretch>
        </p:blipFill>
        <p:spPr>
          <a:xfrm>
            <a:off x="7231442" y="3314701"/>
            <a:ext cx="4370008" cy="3204726"/>
          </a:xfrm>
          <a:prstGeom prst="rect">
            <a:avLst/>
          </a:prstGeom>
        </p:spPr>
      </p:pic>
      <p:sp>
        <p:nvSpPr>
          <p:cNvPr id="6" name="TextBox 5">
            <a:extLst>
              <a:ext uri="{FF2B5EF4-FFF2-40B4-BE49-F238E27FC236}">
                <a16:creationId xmlns:a16="http://schemas.microsoft.com/office/drawing/2014/main" id="{348481B4-FD0F-6B5B-889E-1FA4F0F2753C}"/>
              </a:ext>
            </a:extLst>
          </p:cNvPr>
          <p:cNvSpPr txBox="1"/>
          <p:nvPr/>
        </p:nvSpPr>
        <p:spPr>
          <a:xfrm>
            <a:off x="680321" y="2047786"/>
            <a:ext cx="10287000" cy="646331"/>
          </a:xfrm>
          <a:prstGeom prst="rect">
            <a:avLst/>
          </a:prstGeom>
          <a:noFill/>
        </p:spPr>
        <p:txBody>
          <a:bodyPr wrap="square">
            <a:spAutoFit/>
          </a:bodyPr>
          <a:lstStyle/>
          <a:p>
            <a:r>
              <a:rPr lang="en-IN" b="1" dirty="0"/>
              <a:t>Data Life Cycle Management (DLM)</a:t>
            </a:r>
            <a:r>
              <a:rPr lang="en-IN" dirty="0"/>
              <a:t> is the process of managing data from its creation to its final disposal, ensuring it remains accurate, secure, and useful throughout its life cycle.</a:t>
            </a:r>
          </a:p>
        </p:txBody>
      </p:sp>
      <p:sp>
        <p:nvSpPr>
          <p:cNvPr id="12" name="TextBox 11">
            <a:extLst>
              <a:ext uri="{FF2B5EF4-FFF2-40B4-BE49-F238E27FC236}">
                <a16:creationId xmlns:a16="http://schemas.microsoft.com/office/drawing/2014/main" id="{EC32B9E7-E1C3-C594-3618-D3796A9ADC13}"/>
              </a:ext>
            </a:extLst>
          </p:cNvPr>
          <p:cNvSpPr txBox="1"/>
          <p:nvPr/>
        </p:nvSpPr>
        <p:spPr>
          <a:xfrm>
            <a:off x="703417" y="2936312"/>
            <a:ext cx="6096000" cy="1754326"/>
          </a:xfrm>
          <a:prstGeom prst="rect">
            <a:avLst/>
          </a:prstGeom>
          <a:noFill/>
        </p:spPr>
        <p:txBody>
          <a:bodyPr wrap="square">
            <a:spAutoFit/>
          </a:bodyPr>
          <a:lstStyle/>
          <a:p>
            <a:pPr>
              <a:buNone/>
            </a:pPr>
            <a:r>
              <a:rPr lang="en-IN" b="1" dirty="0"/>
              <a:t>Data Life Cycle Management (5 Stages)</a:t>
            </a:r>
          </a:p>
          <a:p>
            <a:pPr>
              <a:buFont typeface="+mj-lt"/>
              <a:buAutoNum type="arabicPeriod"/>
            </a:pPr>
            <a:r>
              <a:rPr lang="en-IN" b="1" dirty="0"/>
              <a:t>Data Creation</a:t>
            </a:r>
            <a:r>
              <a:rPr lang="en-IN" dirty="0"/>
              <a:t> – Data is generated or collected. </a:t>
            </a:r>
          </a:p>
          <a:p>
            <a:pPr>
              <a:buFont typeface="+mj-lt"/>
              <a:buAutoNum type="arabicPeriod"/>
            </a:pPr>
            <a:r>
              <a:rPr lang="en-IN" b="1" dirty="0"/>
              <a:t>Data Storage</a:t>
            </a:r>
            <a:r>
              <a:rPr lang="en-IN" dirty="0"/>
              <a:t> – Data is securely stored. </a:t>
            </a:r>
          </a:p>
          <a:p>
            <a:pPr>
              <a:buFont typeface="+mj-lt"/>
              <a:buAutoNum type="arabicPeriod"/>
            </a:pPr>
            <a:r>
              <a:rPr lang="en-IN" b="1" dirty="0"/>
              <a:t>Data Usage</a:t>
            </a:r>
            <a:r>
              <a:rPr lang="en-IN" dirty="0"/>
              <a:t> – Data is processed and </a:t>
            </a:r>
            <a:r>
              <a:rPr lang="en-IN" dirty="0" err="1"/>
              <a:t>analyzed</a:t>
            </a:r>
            <a:r>
              <a:rPr lang="en-IN" dirty="0"/>
              <a:t>. </a:t>
            </a:r>
          </a:p>
          <a:p>
            <a:pPr>
              <a:buFont typeface="+mj-lt"/>
              <a:buAutoNum type="arabicPeriod"/>
            </a:pPr>
            <a:r>
              <a:rPr lang="en-IN" b="1" dirty="0"/>
              <a:t>Data Archiving</a:t>
            </a:r>
            <a:r>
              <a:rPr lang="en-IN" dirty="0"/>
              <a:t> – Inactive data is stored for future use. </a:t>
            </a:r>
          </a:p>
          <a:p>
            <a:pPr>
              <a:buFont typeface="+mj-lt"/>
              <a:buAutoNum type="arabicPeriod"/>
            </a:pPr>
            <a:r>
              <a:rPr lang="en-IN" b="1" dirty="0"/>
              <a:t>Data Disposal</a:t>
            </a:r>
            <a:r>
              <a:rPr lang="en-IN" dirty="0"/>
              <a:t> – Unnecessary data is securely deleted.</a:t>
            </a:r>
          </a:p>
        </p:txBody>
      </p:sp>
    </p:spTree>
    <p:extLst>
      <p:ext uri="{BB962C8B-B14F-4D97-AF65-F5344CB8AC3E}">
        <p14:creationId xmlns:p14="http://schemas.microsoft.com/office/powerpoint/2010/main" val="20820896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61685-A5A9-65F5-2037-9C03550C7EFD}"/>
              </a:ext>
            </a:extLst>
          </p:cNvPr>
          <p:cNvSpPr>
            <a:spLocks noGrp="1"/>
          </p:cNvSpPr>
          <p:nvPr>
            <p:ph type="title"/>
          </p:nvPr>
        </p:nvSpPr>
        <p:spPr/>
        <p:txBody>
          <a:bodyPr/>
          <a:lstStyle/>
          <a:p>
            <a:r>
              <a:rPr lang="en-IN" b="1" dirty="0"/>
              <a:t>Business Analyst</a:t>
            </a:r>
            <a:br>
              <a:rPr lang="en-IN" b="1" dirty="0"/>
            </a:br>
            <a:endParaRPr lang="en-IN" dirty="0"/>
          </a:p>
        </p:txBody>
      </p:sp>
      <p:sp>
        <p:nvSpPr>
          <p:cNvPr id="4" name="TextBox 3">
            <a:extLst>
              <a:ext uri="{FF2B5EF4-FFF2-40B4-BE49-F238E27FC236}">
                <a16:creationId xmlns:a16="http://schemas.microsoft.com/office/drawing/2014/main" id="{9CB6B814-0F09-71FF-23D0-DF50CDF88F91}"/>
              </a:ext>
            </a:extLst>
          </p:cNvPr>
          <p:cNvSpPr txBox="1"/>
          <p:nvPr/>
        </p:nvSpPr>
        <p:spPr>
          <a:xfrm>
            <a:off x="652462" y="1997839"/>
            <a:ext cx="10887075" cy="3785652"/>
          </a:xfrm>
          <a:prstGeom prst="rect">
            <a:avLst/>
          </a:prstGeom>
          <a:noFill/>
        </p:spPr>
        <p:txBody>
          <a:bodyPr wrap="square">
            <a:spAutoFit/>
          </a:bodyPr>
          <a:lstStyle/>
          <a:p>
            <a:pPr>
              <a:buNone/>
            </a:pPr>
            <a:r>
              <a:rPr lang="en-IN" sz="2000" b="1" dirty="0"/>
              <a:t>Business Analyst : </a:t>
            </a:r>
            <a:r>
              <a:rPr lang="en-IN" sz="2000" dirty="0"/>
              <a:t>A </a:t>
            </a:r>
            <a:r>
              <a:rPr lang="en-IN" sz="2000" b="1" dirty="0"/>
              <a:t>Business Analyst (BA)</a:t>
            </a:r>
            <a:r>
              <a:rPr lang="en-IN" sz="2000" dirty="0"/>
              <a:t> is a professional who identifies business needs, </a:t>
            </a:r>
            <a:r>
              <a:rPr lang="en-IN" sz="2000" dirty="0" err="1"/>
              <a:t>analyzes</a:t>
            </a:r>
            <a:r>
              <a:rPr lang="en-IN" sz="2000" dirty="0"/>
              <a:t> problems, and recommends solutions to improve processes, products, or services by bridging the gap between business stakeholders and IT teams.</a:t>
            </a:r>
          </a:p>
          <a:p>
            <a:pPr>
              <a:buNone/>
            </a:pPr>
            <a:endParaRPr lang="en-IN" sz="2000" dirty="0"/>
          </a:p>
          <a:p>
            <a:pPr>
              <a:buNone/>
            </a:pPr>
            <a:r>
              <a:rPr lang="en-IN" sz="2000" b="1" dirty="0"/>
              <a:t>Responsibilities of a Business Analyst </a:t>
            </a:r>
          </a:p>
          <a:p>
            <a:pPr marL="342900" indent="-342900">
              <a:buFont typeface="+mj-lt"/>
              <a:buAutoNum type="arabicPeriod"/>
            </a:pPr>
            <a:r>
              <a:rPr lang="en-IN" sz="2000" b="1" dirty="0"/>
              <a:t>Gather Requirements</a:t>
            </a:r>
            <a:r>
              <a:rPr lang="en-IN" sz="2000" dirty="0"/>
              <a:t> – Collect and document business needs. </a:t>
            </a:r>
          </a:p>
          <a:p>
            <a:pPr>
              <a:buFont typeface="+mj-lt"/>
              <a:buAutoNum type="arabicPeriod"/>
            </a:pPr>
            <a:r>
              <a:rPr lang="en-IN" sz="2000" b="1" dirty="0" err="1"/>
              <a:t>Analyze</a:t>
            </a:r>
            <a:r>
              <a:rPr lang="en-IN" sz="2000" b="1" dirty="0"/>
              <a:t> Business Processes</a:t>
            </a:r>
            <a:r>
              <a:rPr lang="en-IN" sz="2000" dirty="0"/>
              <a:t> – Identify problems and improvement opportunities. </a:t>
            </a:r>
          </a:p>
          <a:p>
            <a:pPr>
              <a:buFont typeface="+mj-lt"/>
              <a:buAutoNum type="arabicPeriod"/>
            </a:pPr>
            <a:r>
              <a:rPr lang="en-IN" sz="2000" b="1" dirty="0"/>
              <a:t>Communicate with Stakeholders</a:t>
            </a:r>
            <a:r>
              <a:rPr lang="en-IN" sz="2000" dirty="0"/>
              <a:t> – Coordinate between clients, management, and IT teams. </a:t>
            </a:r>
          </a:p>
          <a:p>
            <a:pPr>
              <a:buFont typeface="+mj-lt"/>
              <a:buAutoNum type="arabicPeriod"/>
            </a:pPr>
            <a:r>
              <a:rPr lang="en-IN" sz="2000" b="1" dirty="0"/>
              <a:t>Recommend Solutions</a:t>
            </a:r>
            <a:r>
              <a:rPr lang="en-IN" sz="2000" dirty="0"/>
              <a:t> – Suggest effective business and technical solutions. </a:t>
            </a:r>
          </a:p>
          <a:p>
            <a:pPr>
              <a:buFont typeface="+mj-lt"/>
              <a:buAutoNum type="arabicPeriod"/>
            </a:pPr>
            <a:r>
              <a:rPr lang="en-IN" sz="2000" b="1" dirty="0"/>
              <a:t>Support Project Implementation</a:t>
            </a:r>
            <a:r>
              <a:rPr lang="en-IN" sz="2000" dirty="0"/>
              <a:t> – Assist in testing, deployment, and ensuring requirements are met. </a:t>
            </a:r>
          </a:p>
        </p:txBody>
      </p:sp>
    </p:spTree>
    <p:extLst>
      <p:ext uri="{BB962C8B-B14F-4D97-AF65-F5344CB8AC3E}">
        <p14:creationId xmlns:p14="http://schemas.microsoft.com/office/powerpoint/2010/main" val="18339077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5F921-A66C-F536-167A-E5FCBDB1EC8A}"/>
              </a:ext>
            </a:extLst>
          </p:cNvPr>
          <p:cNvSpPr>
            <a:spLocks noGrp="1"/>
          </p:cNvSpPr>
          <p:nvPr>
            <p:ph type="title"/>
          </p:nvPr>
        </p:nvSpPr>
        <p:spPr/>
        <p:txBody>
          <a:bodyPr/>
          <a:lstStyle/>
          <a:p>
            <a:r>
              <a:rPr lang="en-US" dirty="0"/>
              <a:t>Skills Of Business Analyst , Tools Used by Business Analyst</a:t>
            </a:r>
            <a:endParaRPr lang="en-IN" dirty="0"/>
          </a:p>
        </p:txBody>
      </p:sp>
      <p:sp>
        <p:nvSpPr>
          <p:cNvPr id="4" name="TextBox 3">
            <a:extLst>
              <a:ext uri="{FF2B5EF4-FFF2-40B4-BE49-F238E27FC236}">
                <a16:creationId xmlns:a16="http://schemas.microsoft.com/office/drawing/2014/main" id="{B52AFF8E-EA52-33E1-DEB5-9BE1FF1D09DD}"/>
              </a:ext>
            </a:extLst>
          </p:cNvPr>
          <p:cNvSpPr txBox="1"/>
          <p:nvPr/>
        </p:nvSpPr>
        <p:spPr>
          <a:xfrm>
            <a:off x="680321" y="2037993"/>
            <a:ext cx="9144000" cy="2308324"/>
          </a:xfrm>
          <a:prstGeom prst="rect">
            <a:avLst/>
          </a:prstGeom>
          <a:noFill/>
        </p:spPr>
        <p:txBody>
          <a:bodyPr wrap="square">
            <a:spAutoFit/>
          </a:bodyPr>
          <a:lstStyle/>
          <a:p>
            <a:pPr>
              <a:buNone/>
            </a:pPr>
            <a:r>
              <a:rPr lang="en-IN" sz="1600" b="1" dirty="0"/>
              <a:t>Skills of a Business Analyst</a:t>
            </a:r>
          </a:p>
          <a:p>
            <a:pPr>
              <a:buFont typeface="+mj-lt"/>
              <a:buAutoNum type="arabicPeriod"/>
            </a:pPr>
            <a:r>
              <a:rPr lang="en-IN" sz="1600" b="1" dirty="0"/>
              <a:t>Analytical Skills</a:t>
            </a:r>
            <a:r>
              <a:rPr lang="en-IN" sz="1600" dirty="0"/>
              <a:t> – </a:t>
            </a:r>
            <a:r>
              <a:rPr lang="en-IN" sz="1600" dirty="0" err="1"/>
              <a:t>Analyze</a:t>
            </a:r>
            <a:r>
              <a:rPr lang="en-IN" sz="1600" dirty="0"/>
              <a:t> data and solve business problems. </a:t>
            </a:r>
          </a:p>
          <a:p>
            <a:pPr>
              <a:buFont typeface="+mj-lt"/>
              <a:buAutoNum type="arabicPeriod"/>
            </a:pPr>
            <a:r>
              <a:rPr lang="en-IN" sz="1600" b="1" dirty="0"/>
              <a:t>Communication Skills</a:t>
            </a:r>
            <a:r>
              <a:rPr lang="en-IN" sz="1600" dirty="0"/>
              <a:t> – Clearly communicate with stakeholders and teams. </a:t>
            </a:r>
          </a:p>
          <a:p>
            <a:pPr>
              <a:buFont typeface="+mj-lt"/>
              <a:buAutoNum type="arabicPeriod"/>
            </a:pPr>
            <a:r>
              <a:rPr lang="en-IN" sz="1600" b="1" dirty="0"/>
              <a:t>Problem-Solving Skills</a:t>
            </a:r>
            <a:r>
              <a:rPr lang="en-IN" sz="1600" dirty="0"/>
              <a:t> – Identify issues and recommend effective solutions. </a:t>
            </a:r>
          </a:p>
          <a:p>
            <a:pPr>
              <a:buFont typeface="+mj-lt"/>
              <a:buAutoNum type="arabicPeriod"/>
            </a:pPr>
            <a:r>
              <a:rPr lang="en-IN" sz="1600" b="1" dirty="0"/>
              <a:t>Technical Skills</a:t>
            </a:r>
            <a:r>
              <a:rPr lang="en-IN" sz="1600" dirty="0"/>
              <a:t> – Understand databases, software, and business systems. </a:t>
            </a:r>
          </a:p>
          <a:p>
            <a:pPr>
              <a:buFont typeface="+mj-lt"/>
              <a:buAutoNum type="arabicPeriod"/>
            </a:pPr>
            <a:r>
              <a:rPr lang="en-IN" sz="1600" b="1" dirty="0"/>
              <a:t>Documentation Skills</a:t>
            </a:r>
            <a:r>
              <a:rPr lang="en-IN" sz="1600" dirty="0"/>
              <a:t> – Prepare reports, requirements, and process documents. </a:t>
            </a:r>
          </a:p>
          <a:p>
            <a:pPr>
              <a:buFont typeface="+mj-lt"/>
              <a:buAutoNum type="arabicPeriod"/>
            </a:pPr>
            <a:r>
              <a:rPr lang="en-IN" sz="1600" b="1" dirty="0"/>
              <a:t>Decision-Making Skills</a:t>
            </a:r>
            <a:r>
              <a:rPr lang="en-IN" sz="1600" dirty="0"/>
              <a:t> – Evaluate options and support business decisions. </a:t>
            </a:r>
          </a:p>
          <a:p>
            <a:pPr>
              <a:buFont typeface="+mj-lt"/>
              <a:buAutoNum type="arabicPeriod"/>
            </a:pPr>
            <a:r>
              <a:rPr lang="en-IN" sz="1600" b="1" dirty="0"/>
              <a:t>Time Management</a:t>
            </a:r>
            <a:r>
              <a:rPr lang="en-IN" sz="1600" dirty="0"/>
              <a:t> – Manage tasks and meet project deadlines. </a:t>
            </a:r>
          </a:p>
          <a:p>
            <a:pPr>
              <a:buFont typeface="+mj-lt"/>
              <a:buAutoNum type="arabicPeriod"/>
            </a:pPr>
            <a:r>
              <a:rPr lang="en-IN" sz="1600" b="1" dirty="0"/>
              <a:t>Negotiation Skills</a:t>
            </a:r>
            <a:r>
              <a:rPr lang="en-IN" sz="1600" dirty="0"/>
              <a:t> – Balance stakeholder needs and project goals.</a:t>
            </a:r>
          </a:p>
        </p:txBody>
      </p:sp>
      <p:sp>
        <p:nvSpPr>
          <p:cNvPr id="6" name="TextBox 5">
            <a:extLst>
              <a:ext uri="{FF2B5EF4-FFF2-40B4-BE49-F238E27FC236}">
                <a16:creationId xmlns:a16="http://schemas.microsoft.com/office/drawing/2014/main" id="{4D42F15E-41F1-B311-070E-8A75F9E6AB92}"/>
              </a:ext>
            </a:extLst>
          </p:cNvPr>
          <p:cNvSpPr txBox="1"/>
          <p:nvPr/>
        </p:nvSpPr>
        <p:spPr>
          <a:xfrm>
            <a:off x="680320" y="4451092"/>
            <a:ext cx="9613861" cy="2062103"/>
          </a:xfrm>
          <a:prstGeom prst="rect">
            <a:avLst/>
          </a:prstGeom>
          <a:noFill/>
        </p:spPr>
        <p:txBody>
          <a:bodyPr wrap="square">
            <a:spAutoFit/>
          </a:bodyPr>
          <a:lstStyle/>
          <a:p>
            <a:pPr>
              <a:buNone/>
            </a:pPr>
            <a:r>
              <a:rPr lang="en-IN" sz="1600" b="1" dirty="0"/>
              <a:t>Tools Used by Business Analysts</a:t>
            </a:r>
          </a:p>
          <a:p>
            <a:pPr>
              <a:buFont typeface="+mj-lt"/>
              <a:buAutoNum type="arabicPeriod"/>
            </a:pPr>
            <a:r>
              <a:rPr lang="en-IN" sz="1600" b="1" dirty="0"/>
              <a:t>Microsoft Excel</a:t>
            </a:r>
            <a:r>
              <a:rPr lang="en-IN" sz="1600" dirty="0"/>
              <a:t> – Data analysis and reporting. </a:t>
            </a:r>
          </a:p>
          <a:p>
            <a:pPr>
              <a:buFont typeface="+mj-lt"/>
              <a:buAutoNum type="arabicPeriod"/>
            </a:pPr>
            <a:r>
              <a:rPr lang="en-IN" sz="1600" b="1" dirty="0"/>
              <a:t>Microsoft Visio</a:t>
            </a:r>
            <a:r>
              <a:rPr lang="en-IN" sz="1600" dirty="0"/>
              <a:t> – Process flowcharts and diagrams. </a:t>
            </a:r>
          </a:p>
          <a:p>
            <a:pPr>
              <a:buFont typeface="+mj-lt"/>
              <a:buAutoNum type="arabicPeriod"/>
            </a:pPr>
            <a:r>
              <a:rPr lang="en-IN" sz="1600" b="1" dirty="0"/>
              <a:t>Jira</a:t>
            </a:r>
            <a:r>
              <a:rPr lang="en-IN" sz="1600" dirty="0"/>
              <a:t> – Project and requirement tracking. </a:t>
            </a:r>
          </a:p>
          <a:p>
            <a:pPr>
              <a:buFont typeface="+mj-lt"/>
              <a:buAutoNum type="arabicPeriod"/>
            </a:pPr>
            <a:r>
              <a:rPr lang="en-IN" sz="1600" b="1" dirty="0"/>
              <a:t>Trello</a:t>
            </a:r>
            <a:r>
              <a:rPr lang="en-IN" sz="1600" dirty="0"/>
              <a:t> – Task and project management. </a:t>
            </a:r>
          </a:p>
          <a:p>
            <a:pPr>
              <a:buFont typeface="+mj-lt"/>
              <a:buAutoNum type="arabicPeriod"/>
            </a:pPr>
            <a:r>
              <a:rPr lang="en-IN" sz="1600" b="1" dirty="0"/>
              <a:t>Microsoft Power BI</a:t>
            </a:r>
            <a:r>
              <a:rPr lang="en-IN" sz="1600" dirty="0"/>
              <a:t> – Data visualization and dashboards. </a:t>
            </a:r>
          </a:p>
          <a:p>
            <a:pPr>
              <a:buFont typeface="+mj-lt"/>
              <a:buAutoNum type="arabicPeriod"/>
            </a:pPr>
            <a:r>
              <a:rPr lang="en-IN" sz="1600" b="1" dirty="0"/>
              <a:t>Tableau</a:t>
            </a:r>
            <a:r>
              <a:rPr lang="en-IN" sz="1600" dirty="0"/>
              <a:t> – Business intelligence and analytics. </a:t>
            </a:r>
          </a:p>
          <a:p>
            <a:pPr>
              <a:buFont typeface="+mj-lt"/>
              <a:buAutoNum type="arabicPeriod"/>
            </a:pPr>
            <a:r>
              <a:rPr lang="en-IN" sz="1600" b="1" dirty="0"/>
              <a:t>SQL</a:t>
            </a:r>
            <a:r>
              <a:rPr lang="en-IN" sz="1600" dirty="0"/>
              <a:t> – Querying and managing databases.</a:t>
            </a:r>
          </a:p>
        </p:txBody>
      </p:sp>
    </p:spTree>
    <p:extLst>
      <p:ext uri="{BB962C8B-B14F-4D97-AF65-F5344CB8AC3E}">
        <p14:creationId xmlns:p14="http://schemas.microsoft.com/office/powerpoint/2010/main" val="32344084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73BC5-C33C-182E-6725-32E3706C4F2B}"/>
              </a:ext>
            </a:extLst>
          </p:cNvPr>
          <p:cNvSpPr>
            <a:spLocks noGrp="1"/>
          </p:cNvSpPr>
          <p:nvPr>
            <p:ph type="title"/>
          </p:nvPr>
        </p:nvSpPr>
        <p:spPr/>
        <p:txBody>
          <a:bodyPr/>
          <a:lstStyle/>
          <a:p>
            <a:r>
              <a:rPr lang="en-US" b="1" dirty="0"/>
              <a:t>Collaboration and Relationship-Building in Business Analysis</a:t>
            </a:r>
            <a:endParaRPr lang="en-IN" dirty="0"/>
          </a:p>
        </p:txBody>
      </p:sp>
      <p:sp>
        <p:nvSpPr>
          <p:cNvPr id="4" name="TextBox 3">
            <a:extLst>
              <a:ext uri="{FF2B5EF4-FFF2-40B4-BE49-F238E27FC236}">
                <a16:creationId xmlns:a16="http://schemas.microsoft.com/office/drawing/2014/main" id="{55B6CB65-4577-D080-D1F0-FE2134A2AA6C}"/>
              </a:ext>
            </a:extLst>
          </p:cNvPr>
          <p:cNvSpPr txBox="1"/>
          <p:nvPr/>
        </p:nvSpPr>
        <p:spPr>
          <a:xfrm>
            <a:off x="680321" y="2065020"/>
            <a:ext cx="10229850" cy="4524315"/>
          </a:xfrm>
          <a:prstGeom prst="rect">
            <a:avLst/>
          </a:prstGeom>
          <a:noFill/>
        </p:spPr>
        <p:txBody>
          <a:bodyPr wrap="square">
            <a:spAutoFit/>
          </a:bodyPr>
          <a:lstStyle/>
          <a:p>
            <a:pPr>
              <a:buNone/>
            </a:pPr>
            <a:r>
              <a:rPr lang="en-IN" b="1" dirty="0"/>
              <a:t>Collaboration and relationship-building</a:t>
            </a:r>
            <a:r>
              <a:rPr lang="en-IN" dirty="0"/>
              <a:t> in Business Analysis involve working effectively with stakeholders, teams, and clients to understand business needs, build trust, and achieve project goals.</a:t>
            </a:r>
          </a:p>
          <a:p>
            <a:pPr>
              <a:buNone/>
            </a:pPr>
            <a:r>
              <a:rPr lang="en-IN" b="1" dirty="0"/>
              <a:t>Key Points </a:t>
            </a:r>
          </a:p>
          <a:p>
            <a:pPr>
              <a:buFont typeface="+mj-lt"/>
              <a:buAutoNum type="arabicPeriod"/>
            </a:pPr>
            <a:r>
              <a:rPr lang="en-IN" b="1" dirty="0"/>
              <a:t>Effective Communication</a:t>
            </a:r>
            <a:r>
              <a:rPr lang="en-IN" dirty="0"/>
              <a:t> – Share information clearly with stakeholders and teams. </a:t>
            </a:r>
          </a:p>
          <a:p>
            <a:pPr>
              <a:buFont typeface="+mj-lt"/>
              <a:buAutoNum type="arabicPeriod"/>
            </a:pPr>
            <a:r>
              <a:rPr lang="en-IN" b="1" dirty="0"/>
              <a:t>Stakeholder Engagement</a:t>
            </a:r>
            <a:r>
              <a:rPr lang="en-IN" dirty="0"/>
              <a:t> – Build strong relationships with clients and users. </a:t>
            </a:r>
          </a:p>
          <a:p>
            <a:pPr>
              <a:buFont typeface="+mj-lt"/>
              <a:buAutoNum type="arabicPeriod"/>
            </a:pPr>
            <a:r>
              <a:rPr lang="en-IN" b="1" dirty="0"/>
              <a:t>Team Collaboration</a:t>
            </a:r>
            <a:r>
              <a:rPr lang="en-IN" dirty="0"/>
              <a:t> – Work closely with developers, testers, and managers. </a:t>
            </a:r>
          </a:p>
          <a:p>
            <a:pPr>
              <a:buFont typeface="+mj-lt"/>
              <a:buAutoNum type="arabicPeriod"/>
            </a:pPr>
            <a:r>
              <a:rPr lang="en-IN" b="1" dirty="0"/>
              <a:t>Conflict Resolution</a:t>
            </a:r>
            <a:r>
              <a:rPr lang="en-IN" dirty="0"/>
              <a:t> – Resolve disagreements and find mutually beneficial solutions. </a:t>
            </a:r>
          </a:p>
          <a:p>
            <a:pPr>
              <a:buFont typeface="+mj-lt"/>
              <a:buAutoNum type="arabicPeriod"/>
            </a:pPr>
            <a:r>
              <a:rPr lang="en-IN" b="1" dirty="0"/>
              <a:t>Trust Building</a:t>
            </a:r>
            <a:r>
              <a:rPr lang="en-IN" dirty="0"/>
              <a:t> – Maintain honesty, transparency, and professionalism to strengthen relationships. </a:t>
            </a:r>
          </a:p>
          <a:p>
            <a:pPr>
              <a:buNone/>
            </a:pPr>
            <a:r>
              <a:rPr lang="en-IN" b="1" dirty="0"/>
              <a:t>Benefits</a:t>
            </a:r>
          </a:p>
          <a:p>
            <a:pPr>
              <a:buFont typeface="Arial" panose="020B0604020202020204" pitchFamily="34" charset="0"/>
              <a:buChar char="•"/>
            </a:pPr>
            <a:r>
              <a:rPr lang="en-IN" dirty="0"/>
              <a:t>Better teamwork </a:t>
            </a:r>
          </a:p>
          <a:p>
            <a:pPr>
              <a:buFont typeface="Arial" panose="020B0604020202020204" pitchFamily="34" charset="0"/>
              <a:buChar char="•"/>
            </a:pPr>
            <a:r>
              <a:rPr lang="en-IN" dirty="0"/>
              <a:t>Clear requirements </a:t>
            </a:r>
          </a:p>
          <a:p>
            <a:pPr>
              <a:buFont typeface="Arial" panose="020B0604020202020204" pitchFamily="34" charset="0"/>
              <a:buChar char="•"/>
            </a:pPr>
            <a:r>
              <a:rPr lang="en-IN" dirty="0"/>
              <a:t>Faster decision-making </a:t>
            </a:r>
          </a:p>
          <a:p>
            <a:pPr>
              <a:buFont typeface="Arial" panose="020B0604020202020204" pitchFamily="34" charset="0"/>
              <a:buChar char="•"/>
            </a:pPr>
            <a:r>
              <a:rPr lang="en-IN" dirty="0"/>
              <a:t>Higher project success </a:t>
            </a:r>
          </a:p>
          <a:p>
            <a:pPr>
              <a:buFont typeface="Arial" panose="020B0604020202020204" pitchFamily="34" charset="0"/>
              <a:buChar char="•"/>
            </a:pPr>
            <a:r>
              <a:rPr lang="en-IN" dirty="0"/>
              <a:t>Improved customer satisfaction</a:t>
            </a:r>
          </a:p>
        </p:txBody>
      </p:sp>
    </p:spTree>
    <p:extLst>
      <p:ext uri="{BB962C8B-B14F-4D97-AF65-F5344CB8AC3E}">
        <p14:creationId xmlns:p14="http://schemas.microsoft.com/office/powerpoint/2010/main" val="12535621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7B11A-75D7-448E-F244-FEC8838DB900}"/>
              </a:ext>
            </a:extLst>
          </p:cNvPr>
          <p:cNvSpPr>
            <a:spLocks noGrp="1"/>
          </p:cNvSpPr>
          <p:nvPr>
            <p:ph type="title"/>
          </p:nvPr>
        </p:nvSpPr>
        <p:spPr/>
        <p:txBody>
          <a:bodyPr/>
          <a:lstStyle/>
          <a:p>
            <a:r>
              <a:rPr lang="en-IN" dirty="0"/>
              <a:t>Business Analysis Methodologies</a:t>
            </a:r>
          </a:p>
        </p:txBody>
      </p:sp>
      <p:sp>
        <p:nvSpPr>
          <p:cNvPr id="4" name="TextBox 3">
            <a:extLst>
              <a:ext uri="{FF2B5EF4-FFF2-40B4-BE49-F238E27FC236}">
                <a16:creationId xmlns:a16="http://schemas.microsoft.com/office/drawing/2014/main" id="{45D4E2DA-8D3D-23EE-A0F8-F70B15D875F7}"/>
              </a:ext>
            </a:extLst>
          </p:cNvPr>
          <p:cNvSpPr txBox="1"/>
          <p:nvPr/>
        </p:nvSpPr>
        <p:spPr>
          <a:xfrm>
            <a:off x="680321" y="2333685"/>
            <a:ext cx="10553700" cy="4524315"/>
          </a:xfrm>
          <a:prstGeom prst="rect">
            <a:avLst/>
          </a:prstGeom>
          <a:noFill/>
        </p:spPr>
        <p:txBody>
          <a:bodyPr wrap="square">
            <a:spAutoFit/>
          </a:bodyPr>
          <a:lstStyle/>
          <a:p>
            <a:pPr marL="342900" indent="-342900">
              <a:buAutoNum type="arabicPeriod"/>
            </a:pPr>
            <a:r>
              <a:rPr lang="en-IN" sz="1600" b="1" dirty="0"/>
              <a:t>Waterfall Methodology</a:t>
            </a:r>
          </a:p>
          <a:p>
            <a:endParaRPr lang="en-IN" sz="1600" b="1" dirty="0"/>
          </a:p>
          <a:p>
            <a:pPr>
              <a:buNone/>
            </a:pPr>
            <a:r>
              <a:rPr lang="en-IN" sz="1600" b="1" dirty="0"/>
              <a:t>Definition:</a:t>
            </a:r>
            <a:br>
              <a:rPr lang="en-IN" sz="1600" dirty="0"/>
            </a:br>
            <a:r>
              <a:rPr lang="en-IN" sz="1600" dirty="0"/>
              <a:t>Waterfall is a </a:t>
            </a:r>
            <a:r>
              <a:rPr lang="en-IN" sz="1600" b="1" dirty="0"/>
              <a:t>linear and sequential</a:t>
            </a:r>
            <a:r>
              <a:rPr lang="en-IN" sz="1600" dirty="0"/>
              <a:t> approach where each phase is completed before moving to the next.</a:t>
            </a:r>
          </a:p>
          <a:p>
            <a:pPr>
              <a:buNone/>
            </a:pPr>
            <a:endParaRPr lang="en-IN" sz="1600" dirty="0"/>
          </a:p>
          <a:p>
            <a:pPr>
              <a:buNone/>
            </a:pPr>
            <a:r>
              <a:rPr lang="en-IN" sz="1600" b="1" dirty="0"/>
              <a:t>Key Features:</a:t>
            </a:r>
            <a:endParaRPr lang="en-IN" sz="1600" dirty="0"/>
          </a:p>
          <a:p>
            <a:pPr>
              <a:buFont typeface="Arial" panose="020B0604020202020204" pitchFamily="34" charset="0"/>
              <a:buChar char="•"/>
            </a:pPr>
            <a:r>
              <a:rPr lang="en-IN" sz="1600" dirty="0"/>
              <a:t>Fixed requirements </a:t>
            </a:r>
          </a:p>
          <a:p>
            <a:pPr>
              <a:buFont typeface="Arial" panose="020B0604020202020204" pitchFamily="34" charset="0"/>
              <a:buChar char="•"/>
            </a:pPr>
            <a:r>
              <a:rPr lang="en-IN" sz="1600" dirty="0"/>
              <a:t>Sequential process </a:t>
            </a:r>
          </a:p>
          <a:p>
            <a:pPr>
              <a:buFont typeface="Arial" panose="020B0604020202020204" pitchFamily="34" charset="0"/>
              <a:buChar char="•"/>
            </a:pPr>
            <a:r>
              <a:rPr lang="en-IN" sz="1600" dirty="0"/>
              <a:t>Detailed documentation </a:t>
            </a:r>
          </a:p>
          <a:p>
            <a:pPr>
              <a:buFont typeface="Arial" panose="020B0604020202020204" pitchFamily="34" charset="0"/>
              <a:buChar char="•"/>
            </a:pPr>
            <a:r>
              <a:rPr lang="en-IN" sz="1600" dirty="0"/>
              <a:t>Limited customer involvement </a:t>
            </a:r>
          </a:p>
          <a:p>
            <a:endParaRPr lang="en-IN" sz="1600" dirty="0"/>
          </a:p>
          <a:p>
            <a:pPr>
              <a:buNone/>
            </a:pPr>
            <a:r>
              <a:rPr lang="en-IN" sz="1600" b="1" dirty="0"/>
              <a:t>Advantages:</a:t>
            </a:r>
            <a:endParaRPr lang="en-IN" sz="1600" dirty="0"/>
          </a:p>
          <a:p>
            <a:pPr>
              <a:buFont typeface="Arial" panose="020B0604020202020204" pitchFamily="34" charset="0"/>
              <a:buChar char="•"/>
            </a:pPr>
            <a:r>
              <a:rPr lang="en-IN" sz="1600" dirty="0"/>
              <a:t>Easy to manage </a:t>
            </a:r>
          </a:p>
          <a:p>
            <a:pPr>
              <a:buFont typeface="Arial" panose="020B0604020202020204" pitchFamily="34" charset="0"/>
              <a:buChar char="•"/>
            </a:pPr>
            <a:r>
              <a:rPr lang="en-IN" sz="1600" dirty="0"/>
              <a:t>Clear project milestones </a:t>
            </a:r>
          </a:p>
          <a:p>
            <a:pPr>
              <a:buFont typeface="Arial" panose="020B0604020202020204" pitchFamily="34" charset="0"/>
              <a:buChar char="•"/>
            </a:pPr>
            <a:endParaRPr lang="en-IN" sz="1600" dirty="0"/>
          </a:p>
          <a:p>
            <a:pPr>
              <a:buNone/>
            </a:pPr>
            <a:r>
              <a:rPr lang="en-IN" sz="1600" b="1" dirty="0"/>
              <a:t>Disadvantages:</a:t>
            </a:r>
            <a:endParaRPr lang="en-IN" sz="1600" dirty="0"/>
          </a:p>
          <a:p>
            <a:pPr>
              <a:buFont typeface="Arial" panose="020B0604020202020204" pitchFamily="34" charset="0"/>
              <a:buChar char="•"/>
            </a:pPr>
            <a:r>
              <a:rPr lang="en-IN" sz="1600" dirty="0"/>
              <a:t>Difficult to make changes </a:t>
            </a:r>
          </a:p>
          <a:p>
            <a:pPr>
              <a:buFont typeface="Arial" panose="020B0604020202020204" pitchFamily="34" charset="0"/>
              <a:buChar char="•"/>
            </a:pPr>
            <a:r>
              <a:rPr lang="en-IN" sz="1600" dirty="0"/>
              <a:t>Late testing may reveal issues </a:t>
            </a:r>
          </a:p>
        </p:txBody>
      </p:sp>
      <p:sp>
        <p:nvSpPr>
          <p:cNvPr id="6" name="TextBox 5">
            <a:extLst>
              <a:ext uri="{FF2B5EF4-FFF2-40B4-BE49-F238E27FC236}">
                <a16:creationId xmlns:a16="http://schemas.microsoft.com/office/drawing/2014/main" id="{91ED92B5-1543-9AD4-DEC7-B96F7564217A}"/>
              </a:ext>
            </a:extLst>
          </p:cNvPr>
          <p:cNvSpPr txBox="1"/>
          <p:nvPr/>
        </p:nvSpPr>
        <p:spPr>
          <a:xfrm>
            <a:off x="680321" y="2006371"/>
            <a:ext cx="6096000" cy="338554"/>
          </a:xfrm>
          <a:prstGeom prst="rect">
            <a:avLst/>
          </a:prstGeom>
          <a:noFill/>
        </p:spPr>
        <p:txBody>
          <a:bodyPr wrap="square">
            <a:spAutoFit/>
          </a:bodyPr>
          <a:lstStyle/>
          <a:p>
            <a:pPr marL="0" indent="0">
              <a:buNone/>
            </a:pPr>
            <a:r>
              <a:rPr lang="en-US" sz="1600" dirty="0">
                <a:solidFill>
                  <a:schemeClr val="tx1"/>
                </a:solidFill>
              </a:rPr>
              <a:t>Business analysis uses methodologies like </a:t>
            </a:r>
            <a:r>
              <a:rPr lang="en-US" sz="1600" b="1" dirty="0">
                <a:solidFill>
                  <a:schemeClr val="tx1"/>
                </a:solidFill>
              </a:rPr>
              <a:t>Agile</a:t>
            </a:r>
            <a:r>
              <a:rPr lang="en-US" sz="1600" dirty="0">
                <a:solidFill>
                  <a:schemeClr val="tx1"/>
                </a:solidFill>
              </a:rPr>
              <a:t> and </a:t>
            </a:r>
            <a:r>
              <a:rPr lang="en-US" sz="1600" b="1" dirty="0">
                <a:solidFill>
                  <a:schemeClr val="tx1"/>
                </a:solidFill>
              </a:rPr>
              <a:t>Water fall</a:t>
            </a:r>
            <a:r>
              <a:rPr lang="en-US" sz="1600" dirty="0">
                <a:solidFill>
                  <a:schemeClr val="tx1"/>
                </a:solidFill>
              </a:rPr>
              <a:t> .</a:t>
            </a:r>
            <a:endParaRPr lang="en-US" sz="1600" b="1" dirty="0">
              <a:solidFill>
                <a:schemeClr val="tx1"/>
              </a:solidFill>
            </a:endParaRPr>
          </a:p>
        </p:txBody>
      </p:sp>
    </p:spTree>
    <p:extLst>
      <p:ext uri="{BB962C8B-B14F-4D97-AF65-F5344CB8AC3E}">
        <p14:creationId xmlns:p14="http://schemas.microsoft.com/office/powerpoint/2010/main" val="17120610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87E37-A58A-9894-2A49-255F57539F0D}"/>
              </a:ext>
            </a:extLst>
          </p:cNvPr>
          <p:cNvSpPr>
            <a:spLocks noGrp="1"/>
          </p:cNvSpPr>
          <p:nvPr>
            <p:ph type="title"/>
          </p:nvPr>
        </p:nvSpPr>
        <p:spPr/>
        <p:txBody>
          <a:bodyPr/>
          <a:lstStyle/>
          <a:p>
            <a:r>
              <a:rPr lang="en-US" dirty="0"/>
              <a:t>Business Analysis Methodologies</a:t>
            </a:r>
            <a:endParaRPr lang="en-IN" dirty="0"/>
          </a:p>
        </p:txBody>
      </p:sp>
      <p:sp>
        <p:nvSpPr>
          <p:cNvPr id="4" name="TextBox 3">
            <a:extLst>
              <a:ext uri="{FF2B5EF4-FFF2-40B4-BE49-F238E27FC236}">
                <a16:creationId xmlns:a16="http://schemas.microsoft.com/office/drawing/2014/main" id="{19ED03BD-F088-1ECB-868E-EB0FD4E19C8E}"/>
              </a:ext>
            </a:extLst>
          </p:cNvPr>
          <p:cNvSpPr txBox="1"/>
          <p:nvPr/>
        </p:nvSpPr>
        <p:spPr>
          <a:xfrm>
            <a:off x="680321" y="1980069"/>
            <a:ext cx="11225929" cy="4770537"/>
          </a:xfrm>
          <a:prstGeom prst="rect">
            <a:avLst/>
          </a:prstGeom>
          <a:noFill/>
        </p:spPr>
        <p:txBody>
          <a:bodyPr wrap="square">
            <a:spAutoFit/>
          </a:bodyPr>
          <a:lstStyle/>
          <a:p>
            <a:pPr>
              <a:buNone/>
            </a:pPr>
            <a:r>
              <a:rPr lang="en-IN" sz="1600" b="1" dirty="0"/>
              <a:t>2. Agile Methodology</a:t>
            </a:r>
          </a:p>
          <a:p>
            <a:pPr>
              <a:buNone/>
            </a:pPr>
            <a:endParaRPr lang="en-IN" sz="1600" b="1" dirty="0"/>
          </a:p>
          <a:p>
            <a:pPr>
              <a:buNone/>
            </a:pPr>
            <a:r>
              <a:rPr lang="en-IN" sz="1600" b="1" dirty="0"/>
              <a:t>Definition:</a:t>
            </a:r>
            <a:br>
              <a:rPr lang="en-IN" sz="1600" dirty="0"/>
            </a:br>
            <a:r>
              <a:rPr lang="en-IN" sz="1600" dirty="0"/>
              <a:t>Agile is an </a:t>
            </a:r>
            <a:r>
              <a:rPr lang="en-IN" sz="1600" b="1" dirty="0"/>
              <a:t>iterative and flexible</a:t>
            </a:r>
            <a:r>
              <a:rPr lang="en-IN" sz="1600" dirty="0"/>
              <a:t> approach where projects are completed in small, continuous cycles called </a:t>
            </a:r>
            <a:r>
              <a:rPr lang="en-IN" sz="1600" b="1" dirty="0"/>
              <a:t>sprints</a:t>
            </a:r>
            <a:r>
              <a:rPr lang="en-IN" sz="1600" dirty="0"/>
              <a:t>.</a:t>
            </a:r>
          </a:p>
          <a:p>
            <a:pPr>
              <a:buNone/>
            </a:pPr>
            <a:endParaRPr lang="en-IN" sz="1600" dirty="0"/>
          </a:p>
          <a:p>
            <a:pPr>
              <a:buNone/>
            </a:pPr>
            <a:r>
              <a:rPr lang="en-IN" sz="1600" b="1" dirty="0"/>
              <a:t>Key Features:</a:t>
            </a:r>
            <a:endParaRPr lang="en-IN" sz="1600" dirty="0"/>
          </a:p>
          <a:p>
            <a:pPr>
              <a:buFont typeface="Arial" panose="020B0604020202020204" pitchFamily="34" charset="0"/>
              <a:buChar char="•"/>
            </a:pPr>
            <a:r>
              <a:rPr lang="en-IN" sz="1600" dirty="0"/>
              <a:t>Flexible requirements </a:t>
            </a:r>
          </a:p>
          <a:p>
            <a:pPr>
              <a:buFont typeface="Arial" panose="020B0604020202020204" pitchFamily="34" charset="0"/>
              <a:buChar char="•"/>
            </a:pPr>
            <a:r>
              <a:rPr lang="en-IN" sz="1600" dirty="0"/>
              <a:t>Continuous customer feedback </a:t>
            </a:r>
          </a:p>
          <a:p>
            <a:pPr>
              <a:buFont typeface="Arial" panose="020B0604020202020204" pitchFamily="34" charset="0"/>
              <a:buChar char="•"/>
            </a:pPr>
            <a:r>
              <a:rPr lang="en-IN" sz="1600" dirty="0"/>
              <a:t>Frequent product releases </a:t>
            </a:r>
          </a:p>
          <a:p>
            <a:pPr>
              <a:buFont typeface="Arial" panose="020B0604020202020204" pitchFamily="34" charset="0"/>
              <a:buChar char="•"/>
            </a:pPr>
            <a:r>
              <a:rPr lang="en-IN" sz="1600" dirty="0"/>
              <a:t>Team collaboration </a:t>
            </a:r>
          </a:p>
          <a:p>
            <a:pPr>
              <a:buFont typeface="Arial" panose="020B0604020202020204" pitchFamily="34" charset="0"/>
              <a:buChar char="•"/>
            </a:pPr>
            <a:r>
              <a:rPr lang="en-IN" sz="1600" dirty="0"/>
              <a:t>Quick adaptation to changes</a:t>
            </a:r>
          </a:p>
          <a:p>
            <a:endParaRPr lang="en-IN" sz="1600" dirty="0"/>
          </a:p>
          <a:p>
            <a:pPr>
              <a:buNone/>
            </a:pPr>
            <a:r>
              <a:rPr lang="en-IN" sz="1600" b="1" dirty="0"/>
              <a:t>Advantages:</a:t>
            </a:r>
            <a:endParaRPr lang="en-IN" sz="1600" dirty="0"/>
          </a:p>
          <a:p>
            <a:pPr>
              <a:buFont typeface="Arial" panose="020B0604020202020204" pitchFamily="34" charset="0"/>
              <a:buChar char="•"/>
            </a:pPr>
            <a:r>
              <a:rPr lang="en-IN" sz="1600" dirty="0"/>
              <a:t>Adapts to changing requirements </a:t>
            </a:r>
          </a:p>
          <a:p>
            <a:pPr>
              <a:buFont typeface="Arial" panose="020B0604020202020204" pitchFamily="34" charset="0"/>
              <a:buChar char="•"/>
            </a:pPr>
            <a:r>
              <a:rPr lang="en-IN" sz="1600" dirty="0"/>
              <a:t>Faster delivery </a:t>
            </a:r>
          </a:p>
          <a:p>
            <a:endParaRPr lang="en-IN" sz="1600" dirty="0"/>
          </a:p>
          <a:p>
            <a:pPr>
              <a:buNone/>
            </a:pPr>
            <a:r>
              <a:rPr lang="en-IN" sz="1600" b="1" dirty="0"/>
              <a:t>Disadvantages:</a:t>
            </a:r>
            <a:endParaRPr lang="en-IN" sz="1600" dirty="0"/>
          </a:p>
          <a:p>
            <a:pPr>
              <a:buFont typeface="Arial" panose="020B0604020202020204" pitchFamily="34" charset="0"/>
              <a:buChar char="•"/>
            </a:pPr>
            <a:r>
              <a:rPr lang="en-IN" sz="1600" dirty="0"/>
              <a:t>Requires active customer involvement </a:t>
            </a:r>
          </a:p>
          <a:p>
            <a:pPr>
              <a:buFont typeface="Arial" panose="020B0604020202020204" pitchFamily="34" charset="0"/>
              <a:buChar char="•"/>
            </a:pPr>
            <a:r>
              <a:rPr lang="en-IN" sz="1600" dirty="0"/>
              <a:t>Less predictable cost and schedule </a:t>
            </a:r>
          </a:p>
        </p:txBody>
      </p:sp>
    </p:spTree>
    <p:extLst>
      <p:ext uri="{BB962C8B-B14F-4D97-AF65-F5344CB8AC3E}">
        <p14:creationId xmlns:p14="http://schemas.microsoft.com/office/powerpoint/2010/main" val="39666470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0BB89-23E4-96CD-143E-BC6CCBAE1C50}"/>
              </a:ext>
            </a:extLst>
          </p:cNvPr>
          <p:cNvSpPr>
            <a:spLocks noGrp="1"/>
          </p:cNvSpPr>
          <p:nvPr>
            <p:ph type="title"/>
          </p:nvPr>
        </p:nvSpPr>
        <p:spPr/>
        <p:txBody>
          <a:bodyPr/>
          <a:lstStyle/>
          <a:p>
            <a:r>
              <a:rPr lang="en-US" b="1" dirty="0"/>
              <a:t>Key Differences Between Waterfall and Agile</a:t>
            </a:r>
            <a:endParaRPr lang="en-IN" dirty="0"/>
          </a:p>
        </p:txBody>
      </p:sp>
      <p:graphicFrame>
        <p:nvGraphicFramePr>
          <p:cNvPr id="3" name="Table 2">
            <a:extLst>
              <a:ext uri="{FF2B5EF4-FFF2-40B4-BE49-F238E27FC236}">
                <a16:creationId xmlns:a16="http://schemas.microsoft.com/office/drawing/2014/main" id="{A16573EE-3257-FCB6-59CD-56D097FEF709}"/>
              </a:ext>
            </a:extLst>
          </p:cNvPr>
          <p:cNvGraphicFramePr>
            <a:graphicFrameLocks noGrp="1"/>
          </p:cNvGraphicFramePr>
          <p:nvPr>
            <p:extLst>
              <p:ext uri="{D42A27DB-BD31-4B8C-83A1-F6EECF244321}">
                <p14:modId xmlns:p14="http://schemas.microsoft.com/office/powerpoint/2010/main" val="1694571809"/>
              </p:ext>
            </p:extLst>
          </p:nvPr>
        </p:nvGraphicFramePr>
        <p:xfrm>
          <a:off x="1228811" y="2066925"/>
          <a:ext cx="8516880" cy="4525558"/>
        </p:xfrm>
        <a:graphic>
          <a:graphicData uri="http://schemas.openxmlformats.org/drawingml/2006/table">
            <a:tbl>
              <a:tblPr/>
              <a:tblGrid>
                <a:gridCol w="4258440">
                  <a:extLst>
                    <a:ext uri="{9D8B030D-6E8A-4147-A177-3AD203B41FA5}">
                      <a16:colId xmlns:a16="http://schemas.microsoft.com/office/drawing/2014/main" val="3126233821"/>
                    </a:ext>
                  </a:extLst>
                </a:gridCol>
                <a:gridCol w="4258440">
                  <a:extLst>
                    <a:ext uri="{9D8B030D-6E8A-4147-A177-3AD203B41FA5}">
                      <a16:colId xmlns:a16="http://schemas.microsoft.com/office/drawing/2014/main" val="2244077114"/>
                    </a:ext>
                  </a:extLst>
                </a:gridCol>
              </a:tblGrid>
              <a:tr h="307213">
                <a:tc>
                  <a:txBody>
                    <a:bodyPr/>
                    <a:lstStyle/>
                    <a:p>
                      <a:pPr>
                        <a:buNone/>
                      </a:pPr>
                      <a:r>
                        <a:rPr lang="en-IN" sz="1750" b="1"/>
                        <a:t>Waterfall</a:t>
                      </a:r>
                      <a:endParaRPr lang="en-IN" sz="1750"/>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50" b="1" dirty="0"/>
                        <a:t>Agile</a:t>
                      </a:r>
                      <a:endParaRPr lang="en-IN" sz="1750" dirty="0"/>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2591519"/>
                  </a:ext>
                </a:extLst>
              </a:tr>
              <a:tr h="307213">
                <a:tc>
                  <a:txBody>
                    <a:bodyPr/>
                    <a:lstStyle/>
                    <a:p>
                      <a:pPr>
                        <a:buNone/>
                      </a:pPr>
                      <a:r>
                        <a:rPr lang="en-IN" sz="1750"/>
                        <a:t>Linear and sequential approach</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50"/>
                        <a:t>Iterative and incremental approach</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910116"/>
                  </a:ext>
                </a:extLst>
              </a:tr>
              <a:tr h="307213">
                <a:tc>
                  <a:txBody>
                    <a:bodyPr/>
                    <a:lstStyle/>
                    <a:p>
                      <a:pPr>
                        <a:buNone/>
                      </a:pPr>
                      <a:r>
                        <a:rPr lang="en-IN" sz="1750"/>
                        <a:t>Requirements are fixed at the beginning</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50"/>
                        <a:t>Requirements can change during the project</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7188151"/>
                  </a:ext>
                </a:extLst>
              </a:tr>
              <a:tr h="307213">
                <a:tc>
                  <a:txBody>
                    <a:bodyPr/>
                    <a:lstStyle/>
                    <a:p>
                      <a:pPr>
                        <a:buNone/>
                      </a:pPr>
                      <a:r>
                        <a:rPr lang="en-IN" sz="1750" dirty="0"/>
                        <a:t>Testing is done after development</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50"/>
                        <a:t>Testing is done continuously</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6080547"/>
                  </a:ext>
                </a:extLst>
              </a:tr>
              <a:tr h="307213">
                <a:tc>
                  <a:txBody>
                    <a:bodyPr/>
                    <a:lstStyle/>
                    <a:p>
                      <a:pPr>
                        <a:buNone/>
                      </a:pPr>
                      <a:r>
                        <a:rPr lang="en-IN" sz="1750"/>
                        <a:t>Customer involvement is limited</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50"/>
                        <a:t>Customer involvement is continuous</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504221"/>
                  </a:ext>
                </a:extLst>
              </a:tr>
              <a:tr h="307213">
                <a:tc>
                  <a:txBody>
                    <a:bodyPr/>
                    <a:lstStyle/>
                    <a:p>
                      <a:pPr>
                        <a:buNone/>
                      </a:pPr>
                      <a:r>
                        <a:rPr lang="en-IN" sz="1750"/>
                        <a:t>Documentation is extensive</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50"/>
                        <a:t>Documentation is minimal and flexible</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1472575"/>
                  </a:ext>
                </a:extLst>
              </a:tr>
              <a:tr h="307213">
                <a:tc>
                  <a:txBody>
                    <a:bodyPr/>
                    <a:lstStyle/>
                    <a:p>
                      <a:pPr>
                        <a:buNone/>
                      </a:pPr>
                      <a:r>
                        <a:rPr lang="en-IN" sz="1750"/>
                        <a:t>Changes are difficult and costly</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50"/>
                        <a:t>Changes are easy and less costly</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7245356"/>
                  </a:ext>
                </a:extLst>
              </a:tr>
              <a:tr h="537623">
                <a:tc>
                  <a:txBody>
                    <a:bodyPr/>
                    <a:lstStyle/>
                    <a:p>
                      <a:pPr>
                        <a:buNone/>
                      </a:pPr>
                      <a:r>
                        <a:rPr lang="en-IN" sz="1750"/>
                        <a:t>Product is delivered at the end</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50"/>
                        <a:t>Product is delivered in small, frequent releases</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6037539"/>
                  </a:ext>
                </a:extLst>
              </a:tr>
              <a:tr h="307213">
                <a:tc>
                  <a:txBody>
                    <a:bodyPr/>
                    <a:lstStyle/>
                    <a:p>
                      <a:pPr>
                        <a:buNone/>
                      </a:pPr>
                      <a:r>
                        <a:rPr lang="en-IN" sz="1750"/>
                        <a:t>Best for stable and well-defined projects</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50"/>
                        <a:t>Best for dynamic and changing projects</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2327274"/>
                  </a:ext>
                </a:extLst>
              </a:tr>
              <a:tr h="307213">
                <a:tc>
                  <a:txBody>
                    <a:bodyPr/>
                    <a:lstStyle/>
                    <a:p>
                      <a:pPr>
                        <a:buNone/>
                      </a:pPr>
                      <a:r>
                        <a:rPr lang="en-IN" sz="1750"/>
                        <a:t>Lower flexibility</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50"/>
                        <a:t>Higher flexibility</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558537"/>
                  </a:ext>
                </a:extLst>
              </a:tr>
              <a:tr h="537623">
                <a:tc>
                  <a:txBody>
                    <a:bodyPr/>
                    <a:lstStyle/>
                    <a:p>
                      <a:pPr>
                        <a:buNone/>
                      </a:pPr>
                      <a:r>
                        <a:rPr lang="en-IN" sz="1750"/>
                        <a:t>Progress is measured by completed phases</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50" dirty="0"/>
                        <a:t>Progress is measured by completed sprints/features</a:t>
                      </a:r>
                    </a:p>
                  </a:txBody>
                  <a:tcPr marL="71977" marR="71977" marT="35989" marB="359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8635555"/>
                  </a:ext>
                </a:extLst>
              </a:tr>
            </a:tbl>
          </a:graphicData>
        </a:graphic>
      </p:graphicFrame>
    </p:spTree>
    <p:extLst>
      <p:ext uri="{BB962C8B-B14F-4D97-AF65-F5344CB8AC3E}">
        <p14:creationId xmlns:p14="http://schemas.microsoft.com/office/powerpoint/2010/main" val="9360060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37CB6-8ECC-A443-3867-B3AD4ECF710E}"/>
              </a:ext>
            </a:extLst>
          </p:cNvPr>
          <p:cNvSpPr>
            <a:spLocks noGrp="1"/>
          </p:cNvSpPr>
          <p:nvPr>
            <p:ph type="title"/>
          </p:nvPr>
        </p:nvSpPr>
        <p:spPr/>
        <p:txBody>
          <a:bodyPr/>
          <a:lstStyle/>
          <a:p>
            <a:r>
              <a:rPr lang="en-US" dirty="0"/>
              <a:t>When to use Waterfall , Agile</a:t>
            </a:r>
            <a:endParaRPr lang="en-IN" dirty="0"/>
          </a:p>
        </p:txBody>
      </p:sp>
      <p:sp>
        <p:nvSpPr>
          <p:cNvPr id="4" name="TextBox 3">
            <a:extLst>
              <a:ext uri="{FF2B5EF4-FFF2-40B4-BE49-F238E27FC236}">
                <a16:creationId xmlns:a16="http://schemas.microsoft.com/office/drawing/2014/main" id="{58593841-FCC8-9EF3-78E7-26A94855D7B1}"/>
              </a:ext>
            </a:extLst>
          </p:cNvPr>
          <p:cNvSpPr txBox="1"/>
          <p:nvPr/>
        </p:nvSpPr>
        <p:spPr>
          <a:xfrm>
            <a:off x="585071" y="2280051"/>
            <a:ext cx="8492254" cy="1754326"/>
          </a:xfrm>
          <a:prstGeom prst="rect">
            <a:avLst/>
          </a:prstGeom>
          <a:noFill/>
        </p:spPr>
        <p:txBody>
          <a:bodyPr wrap="square">
            <a:spAutoFit/>
          </a:bodyPr>
          <a:lstStyle/>
          <a:p>
            <a:pPr>
              <a:buNone/>
            </a:pPr>
            <a:r>
              <a:rPr lang="en-IN" b="1" dirty="0"/>
              <a:t>When to Use Waterfall</a:t>
            </a:r>
          </a:p>
          <a:p>
            <a:pPr>
              <a:buFont typeface="Arial" panose="020B0604020202020204" pitchFamily="34" charset="0"/>
              <a:buChar char="•"/>
            </a:pPr>
            <a:r>
              <a:rPr lang="en-IN" dirty="0"/>
              <a:t>Project requirements are </a:t>
            </a:r>
            <a:r>
              <a:rPr lang="en-IN" b="1" dirty="0"/>
              <a:t>clear and fixed</a:t>
            </a:r>
            <a:r>
              <a:rPr lang="en-IN" dirty="0"/>
              <a:t>. </a:t>
            </a:r>
          </a:p>
          <a:p>
            <a:pPr>
              <a:buFont typeface="Arial" panose="020B0604020202020204" pitchFamily="34" charset="0"/>
              <a:buChar char="•"/>
            </a:pPr>
            <a:r>
              <a:rPr lang="en-IN" dirty="0"/>
              <a:t>Changes are </a:t>
            </a:r>
            <a:r>
              <a:rPr lang="en-IN" b="1" dirty="0"/>
              <a:t>rare or minimal</a:t>
            </a:r>
            <a:r>
              <a:rPr lang="en-IN" dirty="0"/>
              <a:t>. </a:t>
            </a:r>
          </a:p>
          <a:p>
            <a:pPr>
              <a:buFont typeface="Arial" panose="020B0604020202020204" pitchFamily="34" charset="0"/>
              <a:buChar char="•"/>
            </a:pPr>
            <a:r>
              <a:rPr lang="en-IN" dirty="0"/>
              <a:t>The project has a </a:t>
            </a:r>
            <a:r>
              <a:rPr lang="en-IN" b="1" dirty="0"/>
              <a:t>fixed budget and timeline</a:t>
            </a:r>
            <a:r>
              <a:rPr lang="en-IN" dirty="0"/>
              <a:t>. </a:t>
            </a:r>
          </a:p>
          <a:p>
            <a:pPr>
              <a:buFont typeface="Arial" panose="020B0604020202020204" pitchFamily="34" charset="0"/>
              <a:buChar char="•"/>
            </a:pPr>
            <a:r>
              <a:rPr lang="en-IN" dirty="0"/>
              <a:t>Extensive documentation is required. </a:t>
            </a:r>
          </a:p>
          <a:p>
            <a:pPr>
              <a:buFont typeface="Arial" panose="020B0604020202020204" pitchFamily="34" charset="0"/>
              <a:buChar char="•"/>
            </a:pPr>
            <a:r>
              <a:rPr lang="en-IN" dirty="0"/>
              <a:t>Suitable for </a:t>
            </a:r>
            <a:r>
              <a:rPr lang="en-IN" b="1" dirty="0"/>
              <a:t>construction, government, banking, and manufacturing</a:t>
            </a:r>
            <a:r>
              <a:rPr lang="en-IN" dirty="0"/>
              <a:t> projects.</a:t>
            </a:r>
          </a:p>
        </p:txBody>
      </p:sp>
      <p:sp>
        <p:nvSpPr>
          <p:cNvPr id="6" name="TextBox 5">
            <a:extLst>
              <a:ext uri="{FF2B5EF4-FFF2-40B4-BE49-F238E27FC236}">
                <a16:creationId xmlns:a16="http://schemas.microsoft.com/office/drawing/2014/main" id="{CFE10BA8-AFF4-07C5-7D81-27D4683F5D00}"/>
              </a:ext>
            </a:extLst>
          </p:cNvPr>
          <p:cNvSpPr txBox="1"/>
          <p:nvPr/>
        </p:nvSpPr>
        <p:spPr>
          <a:xfrm>
            <a:off x="680321" y="4480263"/>
            <a:ext cx="10702054" cy="1754326"/>
          </a:xfrm>
          <a:prstGeom prst="rect">
            <a:avLst/>
          </a:prstGeom>
          <a:noFill/>
        </p:spPr>
        <p:txBody>
          <a:bodyPr wrap="square">
            <a:spAutoFit/>
          </a:bodyPr>
          <a:lstStyle/>
          <a:p>
            <a:pPr>
              <a:buNone/>
            </a:pPr>
            <a:r>
              <a:rPr lang="en-IN" b="1" dirty="0"/>
              <a:t>When to Use Agile</a:t>
            </a:r>
          </a:p>
          <a:p>
            <a:pPr>
              <a:buFont typeface="Arial" panose="020B0604020202020204" pitchFamily="34" charset="0"/>
              <a:buChar char="•"/>
            </a:pPr>
            <a:r>
              <a:rPr lang="en-IN" dirty="0"/>
              <a:t>Project requirements are </a:t>
            </a:r>
            <a:r>
              <a:rPr lang="en-IN" b="1" dirty="0"/>
              <a:t>likely to change</a:t>
            </a:r>
            <a:r>
              <a:rPr lang="en-IN" dirty="0"/>
              <a:t>. </a:t>
            </a:r>
          </a:p>
          <a:p>
            <a:pPr>
              <a:buFont typeface="Arial" panose="020B0604020202020204" pitchFamily="34" charset="0"/>
              <a:buChar char="•"/>
            </a:pPr>
            <a:r>
              <a:rPr lang="en-IN" dirty="0"/>
              <a:t>Frequent customer feedback is needed. </a:t>
            </a:r>
          </a:p>
          <a:p>
            <a:pPr>
              <a:buFont typeface="Arial" panose="020B0604020202020204" pitchFamily="34" charset="0"/>
              <a:buChar char="•"/>
            </a:pPr>
            <a:r>
              <a:rPr lang="en-IN" dirty="0"/>
              <a:t>Quick and continuous delivery is important. </a:t>
            </a:r>
          </a:p>
          <a:p>
            <a:pPr>
              <a:buFont typeface="Arial" panose="020B0604020202020204" pitchFamily="34" charset="0"/>
              <a:buChar char="•"/>
            </a:pPr>
            <a:r>
              <a:rPr lang="en-IN" dirty="0"/>
              <a:t>Team collaboration and flexibility are priorities. </a:t>
            </a:r>
          </a:p>
          <a:p>
            <a:pPr>
              <a:buFont typeface="Arial" panose="020B0604020202020204" pitchFamily="34" charset="0"/>
              <a:buChar char="•"/>
            </a:pPr>
            <a:r>
              <a:rPr lang="en-IN" dirty="0"/>
              <a:t>Suitable for </a:t>
            </a:r>
            <a:r>
              <a:rPr lang="en-IN" b="1" dirty="0"/>
              <a:t>software development, mobile apps, websites, and startups</a:t>
            </a:r>
            <a:r>
              <a:rPr lang="en-IN" dirty="0"/>
              <a:t>.</a:t>
            </a:r>
          </a:p>
        </p:txBody>
      </p:sp>
    </p:spTree>
    <p:extLst>
      <p:ext uri="{BB962C8B-B14F-4D97-AF65-F5344CB8AC3E}">
        <p14:creationId xmlns:p14="http://schemas.microsoft.com/office/powerpoint/2010/main" val="11200322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1845D-6667-2088-8AEC-711A78D7C3D1}"/>
              </a:ext>
            </a:extLst>
          </p:cNvPr>
          <p:cNvSpPr>
            <a:spLocks noGrp="1"/>
          </p:cNvSpPr>
          <p:nvPr>
            <p:ph type="title"/>
          </p:nvPr>
        </p:nvSpPr>
        <p:spPr/>
        <p:txBody>
          <a:bodyPr/>
          <a:lstStyle/>
          <a:p>
            <a:r>
              <a:rPr lang="en-US" dirty="0"/>
              <a:t>Stakeholder Management</a:t>
            </a:r>
            <a:endParaRPr lang="en-IN" dirty="0"/>
          </a:p>
        </p:txBody>
      </p:sp>
      <p:sp>
        <p:nvSpPr>
          <p:cNvPr id="4" name="TextBox 3">
            <a:extLst>
              <a:ext uri="{FF2B5EF4-FFF2-40B4-BE49-F238E27FC236}">
                <a16:creationId xmlns:a16="http://schemas.microsoft.com/office/drawing/2014/main" id="{14D36E1C-F284-EA34-D092-927CB48C9DB1}"/>
              </a:ext>
            </a:extLst>
          </p:cNvPr>
          <p:cNvSpPr txBox="1"/>
          <p:nvPr/>
        </p:nvSpPr>
        <p:spPr>
          <a:xfrm>
            <a:off x="680320" y="2024093"/>
            <a:ext cx="11168779" cy="4708981"/>
          </a:xfrm>
          <a:prstGeom prst="rect">
            <a:avLst/>
          </a:prstGeom>
          <a:noFill/>
        </p:spPr>
        <p:txBody>
          <a:bodyPr wrap="square">
            <a:spAutoFit/>
          </a:bodyPr>
          <a:lstStyle/>
          <a:p>
            <a:pPr>
              <a:buNone/>
            </a:pPr>
            <a:r>
              <a:rPr lang="en-IN" sz="2500" b="1" dirty="0"/>
              <a:t>Stakeholder Management</a:t>
            </a:r>
            <a:r>
              <a:rPr lang="en-IN" sz="2500" dirty="0"/>
              <a:t> is the process of identifying, engaging, communicating, and maintaining positive relationships with individuals or groups who are affected by or can influence a project.</a:t>
            </a:r>
          </a:p>
          <a:p>
            <a:pPr>
              <a:buNone/>
            </a:pPr>
            <a:br>
              <a:rPr lang="en-IN" sz="2500" dirty="0"/>
            </a:br>
            <a:endParaRPr lang="en-IN" sz="2500" dirty="0"/>
          </a:p>
          <a:p>
            <a:pPr>
              <a:buNone/>
            </a:pPr>
            <a:r>
              <a:rPr lang="en-IN" sz="2500" b="1" dirty="0"/>
              <a:t>Benefits of Stakeholder Management</a:t>
            </a:r>
          </a:p>
          <a:p>
            <a:pPr>
              <a:buFont typeface="+mj-lt"/>
              <a:buAutoNum type="arabicPeriod"/>
            </a:pPr>
            <a:r>
              <a:rPr lang="en-IN" sz="2500" b="1" dirty="0"/>
              <a:t>Improves Communication</a:t>
            </a:r>
            <a:r>
              <a:rPr lang="en-IN" sz="2500" dirty="0"/>
              <a:t> – Ensures clear information sharing. </a:t>
            </a:r>
          </a:p>
          <a:p>
            <a:pPr>
              <a:buFont typeface="+mj-lt"/>
              <a:buAutoNum type="arabicPeriod"/>
            </a:pPr>
            <a:r>
              <a:rPr lang="en-IN" sz="2500" b="1" dirty="0"/>
              <a:t>Builds Trust</a:t>
            </a:r>
            <a:r>
              <a:rPr lang="en-IN" sz="2500" dirty="0"/>
              <a:t> – Creates strong relationships with stakeholders. </a:t>
            </a:r>
          </a:p>
          <a:p>
            <a:pPr>
              <a:buFont typeface="+mj-lt"/>
              <a:buAutoNum type="arabicPeriod"/>
            </a:pPr>
            <a:r>
              <a:rPr lang="en-IN" sz="2500" b="1" dirty="0"/>
              <a:t>Reduces Risks</a:t>
            </a:r>
            <a:r>
              <a:rPr lang="en-IN" sz="2500" dirty="0"/>
              <a:t> – Identifies and resolves issues early. </a:t>
            </a:r>
          </a:p>
          <a:p>
            <a:pPr>
              <a:buFont typeface="+mj-lt"/>
              <a:buAutoNum type="arabicPeriod"/>
            </a:pPr>
            <a:r>
              <a:rPr lang="en-IN" sz="2500" b="1" dirty="0"/>
              <a:t>Supports Better Decisions</a:t>
            </a:r>
            <a:r>
              <a:rPr lang="en-IN" sz="2500" dirty="0"/>
              <a:t> – Incorporates stakeholder feedback. </a:t>
            </a:r>
          </a:p>
          <a:p>
            <a:pPr>
              <a:buFont typeface="+mj-lt"/>
              <a:buAutoNum type="arabicPeriod"/>
            </a:pPr>
            <a:r>
              <a:rPr lang="en-IN" sz="2500" b="1" dirty="0"/>
              <a:t>Increases Project Success</a:t>
            </a:r>
            <a:r>
              <a:rPr lang="en-IN" sz="2500" dirty="0"/>
              <a:t> – Improves stakeholder satisfaction and project outcomes. </a:t>
            </a:r>
          </a:p>
        </p:txBody>
      </p:sp>
    </p:spTree>
    <p:extLst>
      <p:ext uri="{BB962C8B-B14F-4D97-AF65-F5344CB8AC3E}">
        <p14:creationId xmlns:p14="http://schemas.microsoft.com/office/powerpoint/2010/main" val="2687650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289CB-5AB6-EF61-4217-9828AE4B5FBF}"/>
              </a:ext>
            </a:extLst>
          </p:cNvPr>
          <p:cNvSpPr>
            <a:spLocks noGrp="1"/>
          </p:cNvSpPr>
          <p:nvPr>
            <p:ph type="title"/>
          </p:nvPr>
        </p:nvSpPr>
        <p:spPr/>
        <p:txBody>
          <a:bodyPr/>
          <a:lstStyle/>
          <a:p>
            <a:r>
              <a:rPr lang="en-US" dirty="0"/>
              <a:t>Key Aspects Of Stakeholder Management </a:t>
            </a:r>
            <a:endParaRPr lang="en-IN" dirty="0"/>
          </a:p>
        </p:txBody>
      </p:sp>
      <p:sp>
        <p:nvSpPr>
          <p:cNvPr id="4" name="TextBox 3">
            <a:extLst>
              <a:ext uri="{FF2B5EF4-FFF2-40B4-BE49-F238E27FC236}">
                <a16:creationId xmlns:a16="http://schemas.microsoft.com/office/drawing/2014/main" id="{FE66027A-5CC1-EA3B-C90F-BBDE564199AB}"/>
              </a:ext>
            </a:extLst>
          </p:cNvPr>
          <p:cNvSpPr txBox="1"/>
          <p:nvPr/>
        </p:nvSpPr>
        <p:spPr>
          <a:xfrm>
            <a:off x="680321" y="2297490"/>
            <a:ext cx="8854204" cy="4324261"/>
          </a:xfrm>
          <a:prstGeom prst="rect">
            <a:avLst/>
          </a:prstGeom>
          <a:noFill/>
        </p:spPr>
        <p:txBody>
          <a:bodyPr wrap="square">
            <a:spAutoFit/>
          </a:bodyPr>
          <a:lstStyle/>
          <a:p>
            <a:pPr>
              <a:buNone/>
            </a:pPr>
            <a:r>
              <a:rPr lang="en-IN" sz="2500" b="1" dirty="0"/>
              <a:t>Key Aspects of Stakeholder Management</a:t>
            </a:r>
          </a:p>
          <a:p>
            <a:pPr>
              <a:buFont typeface="+mj-lt"/>
              <a:buAutoNum type="arabicPeriod"/>
            </a:pPr>
            <a:r>
              <a:rPr lang="en-IN" sz="2500" b="1" dirty="0"/>
              <a:t>Stakeholder Identification</a:t>
            </a:r>
            <a:r>
              <a:rPr lang="en-IN" sz="2500" dirty="0"/>
              <a:t> – Identify all relevant stakeholders. </a:t>
            </a:r>
          </a:p>
          <a:p>
            <a:pPr>
              <a:buFont typeface="+mj-lt"/>
              <a:buAutoNum type="arabicPeriod"/>
            </a:pPr>
            <a:r>
              <a:rPr lang="en-IN" sz="2500" b="1" dirty="0"/>
              <a:t>Stakeholder Analysis</a:t>
            </a:r>
            <a:r>
              <a:rPr lang="en-IN" sz="2500" dirty="0"/>
              <a:t> – Understand their needs, interests, and influence. </a:t>
            </a:r>
          </a:p>
          <a:p>
            <a:pPr>
              <a:buFont typeface="+mj-lt"/>
              <a:buAutoNum type="arabicPeriod"/>
            </a:pPr>
            <a:r>
              <a:rPr lang="en-IN" sz="2500" b="1" dirty="0"/>
              <a:t>Communication Planning</a:t>
            </a:r>
            <a:r>
              <a:rPr lang="en-IN" sz="2500" dirty="0"/>
              <a:t> – Decide how and when to communicate. </a:t>
            </a:r>
          </a:p>
          <a:p>
            <a:pPr>
              <a:buFont typeface="+mj-lt"/>
              <a:buAutoNum type="arabicPeriod"/>
            </a:pPr>
            <a:r>
              <a:rPr lang="en-IN" sz="2500" b="1" dirty="0"/>
              <a:t>Stakeholder Engagement</a:t>
            </a:r>
            <a:r>
              <a:rPr lang="en-IN" sz="2500" dirty="0"/>
              <a:t> – Involve stakeholders throughout the project. </a:t>
            </a:r>
          </a:p>
          <a:p>
            <a:pPr>
              <a:buFont typeface="+mj-lt"/>
              <a:buAutoNum type="arabicPeriod"/>
            </a:pPr>
            <a:r>
              <a:rPr lang="en-IN" sz="2500" b="1" dirty="0"/>
              <a:t>Relationship Management</a:t>
            </a:r>
            <a:r>
              <a:rPr lang="en-IN" sz="2500" dirty="0"/>
              <a:t> – Build trust, resolve conflicts, and maintain long-term relationships. </a:t>
            </a:r>
          </a:p>
        </p:txBody>
      </p:sp>
    </p:spTree>
    <p:extLst>
      <p:ext uri="{BB962C8B-B14F-4D97-AF65-F5344CB8AC3E}">
        <p14:creationId xmlns:p14="http://schemas.microsoft.com/office/powerpoint/2010/main" val="22897031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E3C56-1DAF-6571-F670-AE54602B406C}"/>
              </a:ext>
            </a:extLst>
          </p:cNvPr>
          <p:cNvSpPr>
            <a:spLocks noGrp="1"/>
          </p:cNvSpPr>
          <p:nvPr>
            <p:ph type="title"/>
          </p:nvPr>
        </p:nvSpPr>
        <p:spPr/>
        <p:txBody>
          <a:bodyPr/>
          <a:lstStyle/>
          <a:p>
            <a:r>
              <a:rPr lang="en-US" dirty="0"/>
              <a:t>SCENARIO ANALYSIS AND PURPOSE OF SCENARIO ANALYSIS</a:t>
            </a:r>
            <a:endParaRPr lang="en-IN" dirty="0"/>
          </a:p>
        </p:txBody>
      </p:sp>
      <p:sp>
        <p:nvSpPr>
          <p:cNvPr id="4" name="TextBox 3">
            <a:extLst>
              <a:ext uri="{FF2B5EF4-FFF2-40B4-BE49-F238E27FC236}">
                <a16:creationId xmlns:a16="http://schemas.microsoft.com/office/drawing/2014/main" id="{24D72161-FF4F-BE8E-F24A-8F7113769284}"/>
              </a:ext>
            </a:extLst>
          </p:cNvPr>
          <p:cNvSpPr txBox="1"/>
          <p:nvPr/>
        </p:nvSpPr>
        <p:spPr>
          <a:xfrm>
            <a:off x="594597" y="2014568"/>
            <a:ext cx="10721104" cy="3970318"/>
          </a:xfrm>
          <a:prstGeom prst="rect">
            <a:avLst/>
          </a:prstGeom>
          <a:noFill/>
        </p:spPr>
        <p:txBody>
          <a:bodyPr wrap="square">
            <a:spAutoFit/>
          </a:bodyPr>
          <a:lstStyle/>
          <a:p>
            <a:pPr>
              <a:buNone/>
            </a:pPr>
            <a:r>
              <a:rPr lang="en-IN" b="1" dirty="0"/>
              <a:t>Scenario Analysis :</a:t>
            </a:r>
            <a:r>
              <a:rPr lang="en-IN" dirty="0"/>
              <a:t> is a strategic planning technique used to evaluate how different possible future events or situations could affect a business, project, or investment. It helps organizations prepare for uncertainty by </a:t>
            </a:r>
            <a:r>
              <a:rPr lang="en-IN" dirty="0" err="1"/>
              <a:t>analyzing</a:t>
            </a:r>
            <a:r>
              <a:rPr lang="en-IN" dirty="0"/>
              <a:t> multiple "what-if" scenarios instead of relying on a single prediction.</a:t>
            </a:r>
          </a:p>
          <a:p>
            <a:pPr>
              <a:buNone/>
            </a:pPr>
            <a:endParaRPr lang="en-IN" dirty="0"/>
          </a:p>
          <a:p>
            <a:pPr>
              <a:buNone/>
            </a:pPr>
            <a:endParaRPr lang="en-IN" dirty="0"/>
          </a:p>
          <a:p>
            <a:pPr>
              <a:buNone/>
            </a:pPr>
            <a:r>
              <a:rPr lang="en-IN" b="1" dirty="0"/>
              <a:t>Purpose of Scenario Analysis</a:t>
            </a:r>
          </a:p>
          <a:p>
            <a:pPr>
              <a:buFont typeface="Arial" panose="020B0604020202020204" pitchFamily="34" charset="0"/>
              <a:buChar char="•"/>
            </a:pPr>
            <a:r>
              <a:rPr lang="en-IN" dirty="0"/>
              <a:t>Helps organizations prepare for uncertain future events. </a:t>
            </a:r>
          </a:p>
          <a:p>
            <a:pPr>
              <a:buFont typeface="Arial" panose="020B0604020202020204" pitchFamily="34" charset="0"/>
              <a:buChar char="•"/>
            </a:pPr>
            <a:r>
              <a:rPr lang="en-IN" dirty="0"/>
              <a:t>Supports better strategic decision-making. </a:t>
            </a:r>
          </a:p>
          <a:p>
            <a:pPr>
              <a:buFont typeface="Arial" panose="020B0604020202020204" pitchFamily="34" charset="0"/>
              <a:buChar char="•"/>
            </a:pPr>
            <a:r>
              <a:rPr lang="en-IN" dirty="0"/>
              <a:t>Identifies potential risks and opportunities. </a:t>
            </a:r>
          </a:p>
          <a:p>
            <a:pPr>
              <a:buFont typeface="Arial" panose="020B0604020202020204" pitchFamily="34" charset="0"/>
              <a:buChar char="•"/>
            </a:pPr>
            <a:r>
              <a:rPr lang="en-IN" dirty="0"/>
              <a:t>Evaluates the impact of different business conditions. </a:t>
            </a:r>
          </a:p>
          <a:p>
            <a:pPr>
              <a:buFont typeface="Arial" panose="020B0604020202020204" pitchFamily="34" charset="0"/>
              <a:buChar char="•"/>
            </a:pPr>
            <a:r>
              <a:rPr lang="en-IN" dirty="0"/>
              <a:t>Improves contingency and emergency planning. </a:t>
            </a:r>
          </a:p>
          <a:p>
            <a:pPr>
              <a:buFont typeface="Arial" panose="020B0604020202020204" pitchFamily="34" charset="0"/>
              <a:buChar char="•"/>
            </a:pPr>
            <a:r>
              <a:rPr lang="en-IN" dirty="0"/>
              <a:t>Assists in resource allocation and budgeting. </a:t>
            </a:r>
          </a:p>
          <a:p>
            <a:pPr>
              <a:buFont typeface="Arial" panose="020B0604020202020204" pitchFamily="34" charset="0"/>
              <a:buChar char="•"/>
            </a:pPr>
            <a:r>
              <a:rPr lang="en-IN" dirty="0"/>
              <a:t>Enhances business resilience and adaptability. </a:t>
            </a:r>
          </a:p>
          <a:p>
            <a:pPr>
              <a:buFont typeface="Arial" panose="020B0604020202020204" pitchFamily="34" charset="0"/>
              <a:buChar char="•"/>
            </a:pPr>
            <a:r>
              <a:rPr lang="en-IN" dirty="0"/>
              <a:t>Reduces uncertainty in long-term planning.</a:t>
            </a:r>
          </a:p>
        </p:txBody>
      </p:sp>
    </p:spTree>
    <p:extLst>
      <p:ext uri="{BB962C8B-B14F-4D97-AF65-F5344CB8AC3E}">
        <p14:creationId xmlns:p14="http://schemas.microsoft.com/office/powerpoint/2010/main" val="14733120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A7CD0-CC71-9BAD-071F-385CA565EBD9}"/>
              </a:ext>
            </a:extLst>
          </p:cNvPr>
          <p:cNvSpPr>
            <a:spLocks noGrp="1"/>
          </p:cNvSpPr>
          <p:nvPr>
            <p:ph type="title"/>
          </p:nvPr>
        </p:nvSpPr>
        <p:spPr/>
        <p:txBody>
          <a:bodyPr/>
          <a:lstStyle/>
          <a:p>
            <a:r>
              <a:rPr lang="en-US" dirty="0"/>
              <a:t>Example of Scenario Analysis</a:t>
            </a:r>
            <a:endParaRPr lang="en-IN" dirty="0"/>
          </a:p>
        </p:txBody>
      </p:sp>
      <p:sp>
        <p:nvSpPr>
          <p:cNvPr id="4" name="TextBox 3">
            <a:extLst>
              <a:ext uri="{FF2B5EF4-FFF2-40B4-BE49-F238E27FC236}">
                <a16:creationId xmlns:a16="http://schemas.microsoft.com/office/drawing/2014/main" id="{DEEE571F-3177-E7BF-B7A2-4EBAC93DB549}"/>
              </a:ext>
            </a:extLst>
          </p:cNvPr>
          <p:cNvSpPr txBox="1"/>
          <p:nvPr/>
        </p:nvSpPr>
        <p:spPr>
          <a:xfrm>
            <a:off x="652462" y="2104400"/>
            <a:ext cx="10887075" cy="3785652"/>
          </a:xfrm>
          <a:prstGeom prst="rect">
            <a:avLst/>
          </a:prstGeom>
          <a:noFill/>
        </p:spPr>
        <p:txBody>
          <a:bodyPr wrap="square">
            <a:spAutoFit/>
          </a:bodyPr>
          <a:lstStyle/>
          <a:p>
            <a:r>
              <a:rPr lang="en-IN" sz="1600" b="1" dirty="0"/>
              <a:t>1. Market Demand Scenario</a:t>
            </a:r>
          </a:p>
          <a:p>
            <a:r>
              <a:rPr lang="en-IN" sz="1600" dirty="0"/>
              <a:t>A company </a:t>
            </a:r>
            <a:r>
              <a:rPr lang="en-IN" sz="1600" dirty="0" err="1"/>
              <a:t>analyzes</a:t>
            </a:r>
            <a:r>
              <a:rPr lang="en-IN" sz="1600" dirty="0"/>
              <a:t> high, medium, and low customer demand to plan production, pricing, inventory, and marketing while reducing business risks and uncertainty.</a:t>
            </a:r>
          </a:p>
          <a:p>
            <a:endParaRPr lang="en-IN" sz="1600" dirty="0"/>
          </a:p>
          <a:p>
            <a:r>
              <a:rPr lang="en-IN" sz="1600" b="1" dirty="0"/>
              <a:t>2. Economic Recession Scenario</a:t>
            </a:r>
          </a:p>
          <a:p>
            <a:r>
              <a:rPr lang="en-IN" sz="1600" dirty="0"/>
              <a:t>A manufacturing company evaluates reduced sales, increased costs, and lower profits to prepare budgets, cost-saving measures, and business continuity strategies.</a:t>
            </a:r>
          </a:p>
          <a:p>
            <a:endParaRPr lang="en-IN" sz="1600" dirty="0"/>
          </a:p>
          <a:p>
            <a:r>
              <a:rPr lang="en-IN" sz="1600" b="1" dirty="0"/>
              <a:t>3. Supply Chain Disruption Scenario</a:t>
            </a:r>
          </a:p>
          <a:p>
            <a:r>
              <a:rPr lang="en-IN" sz="1600" dirty="0"/>
              <a:t>A retail company assesses supplier delays and shortages to identify backup suppliers, improve inventory management, and maintain uninterrupted business operations.</a:t>
            </a:r>
          </a:p>
          <a:p>
            <a:endParaRPr lang="en-IN" sz="1600" dirty="0"/>
          </a:p>
          <a:p>
            <a:r>
              <a:rPr lang="en-IN" sz="1600" b="1" dirty="0"/>
              <a:t>4. Technology Adoption Scenario</a:t>
            </a:r>
          </a:p>
          <a:p>
            <a:r>
              <a:rPr lang="en-IN" sz="1600" dirty="0"/>
              <a:t>An organization evaluates AI implementation outcomes to estimate costs, productivity improvements, employee training needs, and potential risks before investment decisions.</a:t>
            </a:r>
          </a:p>
        </p:txBody>
      </p:sp>
    </p:spTree>
    <p:extLst>
      <p:ext uri="{BB962C8B-B14F-4D97-AF65-F5344CB8AC3E}">
        <p14:creationId xmlns:p14="http://schemas.microsoft.com/office/powerpoint/2010/main" val="2810145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DD5B1-D42B-54EE-AAA9-61B33AD8E643}"/>
              </a:ext>
            </a:extLst>
          </p:cNvPr>
          <p:cNvSpPr>
            <a:spLocks noGrp="1"/>
          </p:cNvSpPr>
          <p:nvPr>
            <p:ph type="title"/>
          </p:nvPr>
        </p:nvSpPr>
        <p:spPr/>
        <p:txBody>
          <a:bodyPr/>
          <a:lstStyle/>
          <a:p>
            <a:r>
              <a:rPr lang="en-IN" b="1" dirty="0"/>
              <a:t>Key Aspects of Scenario Analysis</a:t>
            </a:r>
            <a:br>
              <a:rPr lang="en-IN" b="1" dirty="0"/>
            </a:br>
            <a:endParaRPr lang="en-IN" dirty="0"/>
          </a:p>
        </p:txBody>
      </p:sp>
      <p:sp>
        <p:nvSpPr>
          <p:cNvPr id="4" name="TextBox 3">
            <a:extLst>
              <a:ext uri="{FF2B5EF4-FFF2-40B4-BE49-F238E27FC236}">
                <a16:creationId xmlns:a16="http://schemas.microsoft.com/office/drawing/2014/main" id="{9B17572C-662D-1929-0BA5-E4818351DE76}"/>
              </a:ext>
            </a:extLst>
          </p:cNvPr>
          <p:cNvSpPr txBox="1"/>
          <p:nvPr/>
        </p:nvSpPr>
        <p:spPr>
          <a:xfrm>
            <a:off x="680321" y="2191241"/>
            <a:ext cx="11264029" cy="4379660"/>
          </a:xfrm>
          <a:prstGeom prst="rect">
            <a:avLst/>
          </a:prstGeom>
          <a:noFill/>
        </p:spPr>
        <p:txBody>
          <a:bodyPr wrap="square">
            <a:spAutoFit/>
          </a:bodyPr>
          <a:lstStyle/>
          <a:p>
            <a:pPr>
              <a:buNone/>
            </a:pPr>
            <a:r>
              <a:rPr lang="en-IN" sz="1990" b="1" dirty="0"/>
              <a:t>1. Identification of Scenarios</a:t>
            </a:r>
          </a:p>
          <a:p>
            <a:pPr>
              <a:buNone/>
            </a:pPr>
            <a:r>
              <a:rPr lang="en-IN" sz="1990" dirty="0"/>
              <a:t>Identify possible future situations such as best-case, worst-case, and most-likely outcomes.</a:t>
            </a:r>
          </a:p>
          <a:p>
            <a:pPr>
              <a:buNone/>
            </a:pPr>
            <a:endParaRPr lang="en-IN" sz="1990" dirty="0"/>
          </a:p>
          <a:p>
            <a:pPr>
              <a:buNone/>
            </a:pPr>
            <a:r>
              <a:rPr lang="en-IN" sz="1990" b="1" dirty="0"/>
              <a:t>2. Risk Assessment</a:t>
            </a:r>
          </a:p>
          <a:p>
            <a:pPr>
              <a:buNone/>
            </a:pPr>
            <a:r>
              <a:rPr lang="en-IN" sz="1990" dirty="0"/>
              <a:t>Evaluate potential risks and uncertainties that may affect business performance.</a:t>
            </a:r>
          </a:p>
          <a:p>
            <a:pPr>
              <a:buNone/>
            </a:pPr>
            <a:endParaRPr lang="en-IN" sz="1990" dirty="0"/>
          </a:p>
          <a:p>
            <a:pPr>
              <a:buNone/>
            </a:pPr>
            <a:r>
              <a:rPr lang="en-IN" sz="1990" b="1" dirty="0"/>
              <a:t>3. Assumption Development</a:t>
            </a:r>
          </a:p>
          <a:p>
            <a:pPr>
              <a:buNone/>
            </a:pPr>
            <a:r>
              <a:rPr lang="en-IN" sz="1990" dirty="0"/>
              <a:t>Create realistic assumptions based on market trends and available data.</a:t>
            </a:r>
          </a:p>
          <a:p>
            <a:pPr>
              <a:buNone/>
            </a:pPr>
            <a:endParaRPr lang="en-IN" sz="1990" dirty="0"/>
          </a:p>
          <a:p>
            <a:pPr>
              <a:buNone/>
            </a:pPr>
            <a:r>
              <a:rPr lang="en-IN" sz="1990" b="1" dirty="0"/>
              <a:t>4. Impact Analysis</a:t>
            </a:r>
          </a:p>
          <a:p>
            <a:pPr>
              <a:buNone/>
            </a:pPr>
            <a:r>
              <a:rPr lang="en-IN" sz="1990" dirty="0"/>
              <a:t>Measure how each scenario affects costs, revenue, operations, and business goals.</a:t>
            </a:r>
          </a:p>
          <a:p>
            <a:pPr>
              <a:buNone/>
            </a:pPr>
            <a:endParaRPr lang="en-IN" sz="1990" dirty="0"/>
          </a:p>
          <a:p>
            <a:pPr>
              <a:buNone/>
            </a:pPr>
            <a:r>
              <a:rPr lang="en-IN" sz="1990" b="1" dirty="0"/>
              <a:t>5. Strategic Planning</a:t>
            </a:r>
          </a:p>
          <a:p>
            <a:pPr>
              <a:buNone/>
            </a:pPr>
            <a:r>
              <a:rPr lang="en-IN" sz="1990" dirty="0"/>
              <a:t>Develop action plans and contingency strategies to prepare for different future outcomes.</a:t>
            </a:r>
          </a:p>
        </p:txBody>
      </p:sp>
    </p:spTree>
    <p:extLst>
      <p:ext uri="{BB962C8B-B14F-4D97-AF65-F5344CB8AC3E}">
        <p14:creationId xmlns:p14="http://schemas.microsoft.com/office/powerpoint/2010/main" val="23201205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B4262-73CB-12E4-9736-AFCE787CA7FD}"/>
              </a:ext>
            </a:extLst>
          </p:cNvPr>
          <p:cNvSpPr>
            <a:spLocks noGrp="1"/>
          </p:cNvSpPr>
          <p:nvPr>
            <p:ph type="title"/>
          </p:nvPr>
        </p:nvSpPr>
        <p:spPr/>
        <p:txBody>
          <a:bodyPr/>
          <a:lstStyle/>
          <a:p>
            <a:r>
              <a:rPr lang="en-IN" b="1" dirty="0"/>
              <a:t>Uses of Scenario Analysis</a:t>
            </a:r>
            <a:br>
              <a:rPr lang="en-IN" b="1" dirty="0"/>
            </a:br>
            <a:endParaRPr lang="en-IN" dirty="0"/>
          </a:p>
        </p:txBody>
      </p:sp>
      <p:sp>
        <p:nvSpPr>
          <p:cNvPr id="4" name="TextBox 3">
            <a:extLst>
              <a:ext uri="{FF2B5EF4-FFF2-40B4-BE49-F238E27FC236}">
                <a16:creationId xmlns:a16="http://schemas.microsoft.com/office/drawing/2014/main" id="{4BE97C93-FCAE-B502-083A-37179287E831}"/>
              </a:ext>
            </a:extLst>
          </p:cNvPr>
          <p:cNvSpPr txBox="1"/>
          <p:nvPr/>
        </p:nvSpPr>
        <p:spPr>
          <a:xfrm>
            <a:off x="680321" y="2161513"/>
            <a:ext cx="10816354" cy="3970318"/>
          </a:xfrm>
          <a:prstGeom prst="rect">
            <a:avLst/>
          </a:prstGeom>
          <a:noFill/>
        </p:spPr>
        <p:txBody>
          <a:bodyPr wrap="square">
            <a:spAutoFit/>
          </a:bodyPr>
          <a:lstStyle/>
          <a:p>
            <a:pPr>
              <a:buNone/>
            </a:pPr>
            <a:r>
              <a:rPr lang="en-IN" b="1" dirty="0"/>
              <a:t>1. Strategic Planning</a:t>
            </a:r>
          </a:p>
          <a:p>
            <a:pPr>
              <a:buNone/>
            </a:pPr>
            <a:r>
              <a:rPr lang="en-IN" dirty="0"/>
              <a:t>Helps organizations prepare long-term business strategies for different future conditions.</a:t>
            </a:r>
          </a:p>
          <a:p>
            <a:pPr>
              <a:buNone/>
            </a:pPr>
            <a:endParaRPr lang="en-IN" dirty="0"/>
          </a:p>
          <a:p>
            <a:pPr>
              <a:buNone/>
            </a:pPr>
            <a:r>
              <a:rPr lang="en-IN" b="1" dirty="0"/>
              <a:t>2. Risk Management</a:t>
            </a:r>
          </a:p>
          <a:p>
            <a:pPr>
              <a:buNone/>
            </a:pPr>
            <a:r>
              <a:rPr lang="en-IN" dirty="0"/>
              <a:t>Identifies potential risks and develops plans to reduce their impact.</a:t>
            </a:r>
          </a:p>
          <a:p>
            <a:pPr>
              <a:buNone/>
            </a:pPr>
            <a:endParaRPr lang="en-IN" dirty="0"/>
          </a:p>
          <a:p>
            <a:pPr>
              <a:buNone/>
            </a:pPr>
            <a:r>
              <a:rPr lang="en-IN" b="1" dirty="0"/>
              <a:t>3. Financial Planning</a:t>
            </a:r>
          </a:p>
          <a:p>
            <a:pPr>
              <a:buNone/>
            </a:pPr>
            <a:r>
              <a:rPr lang="en-IN" dirty="0"/>
              <a:t>Supports budgeting, forecasting, and investment decisions under different scenarios.</a:t>
            </a:r>
          </a:p>
          <a:p>
            <a:pPr>
              <a:buNone/>
            </a:pPr>
            <a:endParaRPr lang="en-IN" dirty="0"/>
          </a:p>
          <a:p>
            <a:pPr>
              <a:buNone/>
            </a:pPr>
            <a:r>
              <a:rPr lang="en-IN" b="1" dirty="0"/>
              <a:t>4. Decision Making</a:t>
            </a:r>
          </a:p>
          <a:p>
            <a:pPr>
              <a:buNone/>
            </a:pPr>
            <a:r>
              <a:rPr lang="en-IN" dirty="0"/>
              <a:t>Compares possible outcomes to make informed and effective business decisions.</a:t>
            </a:r>
          </a:p>
          <a:p>
            <a:pPr>
              <a:buNone/>
            </a:pPr>
            <a:endParaRPr lang="en-IN" dirty="0"/>
          </a:p>
          <a:p>
            <a:pPr>
              <a:buNone/>
            </a:pPr>
            <a:r>
              <a:rPr lang="en-IN" b="1" dirty="0"/>
              <a:t>5. Business Continuity</a:t>
            </a:r>
          </a:p>
          <a:p>
            <a:pPr>
              <a:buNone/>
            </a:pPr>
            <a:r>
              <a:rPr lang="en-IN" dirty="0"/>
              <a:t>Improves preparedness for unexpected events and ensures smooth business operations.</a:t>
            </a:r>
          </a:p>
        </p:txBody>
      </p:sp>
    </p:spTree>
    <p:extLst>
      <p:ext uri="{BB962C8B-B14F-4D97-AF65-F5344CB8AC3E}">
        <p14:creationId xmlns:p14="http://schemas.microsoft.com/office/powerpoint/2010/main" val="23977104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405A3-8484-50CE-0B42-F4378FC69588}"/>
              </a:ext>
            </a:extLst>
          </p:cNvPr>
          <p:cNvSpPr>
            <a:spLocks noGrp="1"/>
          </p:cNvSpPr>
          <p:nvPr>
            <p:ph type="title"/>
          </p:nvPr>
        </p:nvSpPr>
        <p:spPr/>
        <p:txBody>
          <a:bodyPr/>
          <a:lstStyle/>
          <a:p>
            <a:r>
              <a:rPr lang="en-IN" dirty="0"/>
              <a:t>Data Governance and Its Key Elements</a:t>
            </a:r>
          </a:p>
        </p:txBody>
      </p:sp>
      <p:sp>
        <p:nvSpPr>
          <p:cNvPr id="4" name="TextBox 3">
            <a:extLst>
              <a:ext uri="{FF2B5EF4-FFF2-40B4-BE49-F238E27FC236}">
                <a16:creationId xmlns:a16="http://schemas.microsoft.com/office/drawing/2014/main" id="{3A7ADFB1-DC97-3331-1D54-0E72BAC1992E}"/>
              </a:ext>
            </a:extLst>
          </p:cNvPr>
          <p:cNvSpPr txBox="1"/>
          <p:nvPr/>
        </p:nvSpPr>
        <p:spPr>
          <a:xfrm>
            <a:off x="680321" y="2154615"/>
            <a:ext cx="9797179" cy="3785652"/>
          </a:xfrm>
          <a:prstGeom prst="rect">
            <a:avLst/>
          </a:prstGeom>
          <a:noFill/>
        </p:spPr>
        <p:txBody>
          <a:bodyPr wrap="square">
            <a:spAutoFit/>
          </a:bodyPr>
          <a:lstStyle/>
          <a:p>
            <a:pPr>
              <a:buNone/>
            </a:pPr>
            <a:r>
              <a:rPr lang="en-IN" sz="2400" dirty="0"/>
              <a:t>Data Governance is the framework of policies, processes, and standards that ensures data is accurate, secure, consistent, and properly managed throughout its lifecycle.</a:t>
            </a:r>
          </a:p>
          <a:p>
            <a:pPr>
              <a:buNone/>
            </a:pPr>
            <a:endParaRPr lang="en-IN" sz="2400" dirty="0"/>
          </a:p>
          <a:p>
            <a:pPr>
              <a:buNone/>
            </a:pPr>
            <a:r>
              <a:rPr lang="en-IN" sz="2400" b="1" dirty="0"/>
              <a:t>Key Elements</a:t>
            </a:r>
          </a:p>
          <a:p>
            <a:pPr>
              <a:buFont typeface="Arial" panose="020B0604020202020204" pitchFamily="34" charset="0"/>
              <a:buChar char="•"/>
            </a:pPr>
            <a:r>
              <a:rPr lang="en-IN" sz="2400" b="1" dirty="0"/>
              <a:t>Data Quality</a:t>
            </a:r>
            <a:r>
              <a:rPr lang="en-IN" sz="2400" dirty="0"/>
              <a:t> – Ensures data is accurate, complete, and reliable. </a:t>
            </a:r>
          </a:p>
          <a:p>
            <a:pPr>
              <a:buFont typeface="Arial" panose="020B0604020202020204" pitchFamily="34" charset="0"/>
              <a:buChar char="•"/>
            </a:pPr>
            <a:r>
              <a:rPr lang="en-IN" sz="2400" b="1" dirty="0"/>
              <a:t>Data Security</a:t>
            </a:r>
            <a:r>
              <a:rPr lang="en-IN" sz="2400" dirty="0"/>
              <a:t> – Protects data from unauthorized access and cyber threats. </a:t>
            </a:r>
          </a:p>
          <a:p>
            <a:pPr>
              <a:buFont typeface="Arial" panose="020B0604020202020204" pitchFamily="34" charset="0"/>
              <a:buChar char="•"/>
            </a:pPr>
            <a:r>
              <a:rPr lang="en-IN" sz="2400" b="1" dirty="0"/>
              <a:t>Data Compliance</a:t>
            </a:r>
            <a:r>
              <a:rPr lang="en-IN" sz="2400" dirty="0"/>
              <a:t> – Ensures adherence to legal and regulatory requirements.</a:t>
            </a:r>
          </a:p>
        </p:txBody>
      </p:sp>
    </p:spTree>
    <p:extLst>
      <p:ext uri="{BB962C8B-B14F-4D97-AF65-F5344CB8AC3E}">
        <p14:creationId xmlns:p14="http://schemas.microsoft.com/office/powerpoint/2010/main" val="38319209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E8A9-8DB3-ADB3-4BF0-65AF0383AA09}"/>
              </a:ext>
            </a:extLst>
          </p:cNvPr>
          <p:cNvSpPr>
            <a:spLocks noGrp="1"/>
          </p:cNvSpPr>
          <p:nvPr>
            <p:ph type="title"/>
          </p:nvPr>
        </p:nvSpPr>
        <p:spPr/>
        <p:txBody>
          <a:bodyPr/>
          <a:lstStyle/>
          <a:p>
            <a:r>
              <a:rPr lang="en-US" dirty="0"/>
              <a:t>Benefits of Data Governance</a:t>
            </a:r>
            <a:endParaRPr lang="en-IN" dirty="0"/>
          </a:p>
        </p:txBody>
      </p:sp>
      <p:sp>
        <p:nvSpPr>
          <p:cNvPr id="4" name="TextBox 3">
            <a:extLst>
              <a:ext uri="{FF2B5EF4-FFF2-40B4-BE49-F238E27FC236}">
                <a16:creationId xmlns:a16="http://schemas.microsoft.com/office/drawing/2014/main" id="{601ED4C4-A6AB-2E70-2A17-B58AA76DE4E4}"/>
              </a:ext>
            </a:extLst>
          </p:cNvPr>
          <p:cNvSpPr txBox="1"/>
          <p:nvPr/>
        </p:nvSpPr>
        <p:spPr>
          <a:xfrm>
            <a:off x="680321" y="2181337"/>
            <a:ext cx="10144125" cy="4154984"/>
          </a:xfrm>
          <a:prstGeom prst="rect">
            <a:avLst/>
          </a:prstGeom>
          <a:noFill/>
        </p:spPr>
        <p:txBody>
          <a:bodyPr wrap="square">
            <a:spAutoFit/>
          </a:bodyPr>
          <a:lstStyle/>
          <a:p>
            <a:pPr>
              <a:buNone/>
            </a:pPr>
            <a:r>
              <a:rPr lang="en-IN" sz="2400" b="1" dirty="0"/>
              <a:t>1. Improved Data Quality</a:t>
            </a:r>
          </a:p>
          <a:p>
            <a:pPr>
              <a:buNone/>
            </a:pPr>
            <a:r>
              <a:rPr lang="en-IN" sz="2400" dirty="0"/>
              <a:t>Ensures data is accurate, complete, and consistent, leading to better analysis and informed business decisions.</a:t>
            </a:r>
          </a:p>
          <a:p>
            <a:pPr>
              <a:buNone/>
            </a:pPr>
            <a:endParaRPr lang="en-IN" sz="2400" dirty="0"/>
          </a:p>
          <a:p>
            <a:pPr>
              <a:buNone/>
            </a:pPr>
            <a:r>
              <a:rPr lang="en-IN" sz="2400" b="1" dirty="0"/>
              <a:t>2. Enhanced Data Security</a:t>
            </a:r>
          </a:p>
          <a:p>
            <a:pPr>
              <a:buNone/>
            </a:pPr>
            <a:r>
              <a:rPr lang="en-IN" sz="2400" dirty="0"/>
              <a:t>Protects sensitive information from unauthorized access, cyber threats, and data breaches through strong security policies.</a:t>
            </a:r>
          </a:p>
          <a:p>
            <a:pPr>
              <a:buNone/>
            </a:pPr>
            <a:endParaRPr lang="en-IN" sz="2400" dirty="0"/>
          </a:p>
          <a:p>
            <a:pPr>
              <a:buNone/>
            </a:pPr>
            <a:r>
              <a:rPr lang="en-IN" sz="2400" b="1" dirty="0"/>
              <a:t>3. Regulatory Compliance</a:t>
            </a:r>
          </a:p>
          <a:p>
            <a:pPr>
              <a:buNone/>
            </a:pPr>
            <a:r>
              <a:rPr lang="en-IN" sz="2400" dirty="0"/>
              <a:t>Helps organizations comply with laws and regulations such as GDPR and CCPA, reducing legal and financial risks.</a:t>
            </a:r>
          </a:p>
        </p:txBody>
      </p:sp>
    </p:spTree>
    <p:extLst>
      <p:ext uri="{BB962C8B-B14F-4D97-AF65-F5344CB8AC3E}">
        <p14:creationId xmlns:p14="http://schemas.microsoft.com/office/powerpoint/2010/main" val="27527893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8A1B8-F463-69EB-7FDA-DD932EBDCAA7}"/>
              </a:ext>
            </a:extLst>
          </p:cNvPr>
          <p:cNvSpPr>
            <a:spLocks noGrp="1"/>
          </p:cNvSpPr>
          <p:nvPr>
            <p:ph type="title"/>
          </p:nvPr>
        </p:nvSpPr>
        <p:spPr/>
        <p:txBody>
          <a:bodyPr/>
          <a:lstStyle/>
          <a:p>
            <a:r>
              <a:rPr lang="en-US" dirty="0"/>
              <a:t>Benefits of Data Governance</a:t>
            </a:r>
            <a:endParaRPr lang="en-IN" dirty="0"/>
          </a:p>
        </p:txBody>
      </p:sp>
      <p:sp>
        <p:nvSpPr>
          <p:cNvPr id="4" name="TextBox 3">
            <a:extLst>
              <a:ext uri="{FF2B5EF4-FFF2-40B4-BE49-F238E27FC236}">
                <a16:creationId xmlns:a16="http://schemas.microsoft.com/office/drawing/2014/main" id="{8B534CB4-0168-825D-F18F-BC54A72EA0D0}"/>
              </a:ext>
            </a:extLst>
          </p:cNvPr>
          <p:cNvSpPr txBox="1"/>
          <p:nvPr/>
        </p:nvSpPr>
        <p:spPr>
          <a:xfrm>
            <a:off x="680321" y="2154615"/>
            <a:ext cx="9229725" cy="4154984"/>
          </a:xfrm>
          <a:prstGeom prst="rect">
            <a:avLst/>
          </a:prstGeom>
          <a:noFill/>
        </p:spPr>
        <p:txBody>
          <a:bodyPr wrap="square">
            <a:spAutoFit/>
          </a:bodyPr>
          <a:lstStyle/>
          <a:p>
            <a:pPr>
              <a:buNone/>
            </a:pPr>
            <a:r>
              <a:rPr lang="en-IN" sz="2400" b="1" dirty="0"/>
              <a:t>4. Better Decision-Making</a:t>
            </a:r>
          </a:p>
          <a:p>
            <a:pPr>
              <a:buNone/>
            </a:pPr>
            <a:r>
              <a:rPr lang="en-IN" sz="2400" dirty="0"/>
              <a:t>Provides reliable and trustworthy data, enabling faster and more accurate business decisions.</a:t>
            </a:r>
          </a:p>
          <a:p>
            <a:pPr>
              <a:buNone/>
            </a:pPr>
            <a:endParaRPr lang="en-IN" sz="2400" dirty="0"/>
          </a:p>
          <a:p>
            <a:pPr>
              <a:buNone/>
            </a:pPr>
            <a:r>
              <a:rPr lang="en-IN" sz="2400" b="1" dirty="0"/>
              <a:t>5. Increased Operational Efficiency</a:t>
            </a:r>
          </a:p>
          <a:p>
            <a:pPr>
              <a:buNone/>
            </a:pPr>
            <a:r>
              <a:rPr lang="en-IN" sz="2400" dirty="0"/>
              <a:t>Reduces duplicate data, minimizes errors, and improves collaboration across departments, saving time and resources.</a:t>
            </a:r>
          </a:p>
          <a:p>
            <a:pPr>
              <a:buNone/>
            </a:pPr>
            <a:endParaRPr lang="en-IN" sz="2400" dirty="0"/>
          </a:p>
          <a:p>
            <a:pPr>
              <a:buNone/>
            </a:pPr>
            <a:r>
              <a:rPr lang="en-IN" sz="2400" b="1" dirty="0"/>
              <a:t>6. Greater Customer Trust</a:t>
            </a:r>
          </a:p>
          <a:p>
            <a:pPr>
              <a:buNone/>
            </a:pPr>
            <a:r>
              <a:rPr lang="en-IN" sz="2400" dirty="0"/>
              <a:t>Maintains data privacy and accuracy, strengthening customer confidence and enhancing the organization's reputation.</a:t>
            </a:r>
          </a:p>
        </p:txBody>
      </p:sp>
    </p:spTree>
    <p:extLst>
      <p:ext uri="{BB962C8B-B14F-4D97-AF65-F5344CB8AC3E}">
        <p14:creationId xmlns:p14="http://schemas.microsoft.com/office/powerpoint/2010/main" val="23683374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7FE9B-FFEC-4A55-B489-2CD1FA9AAC68}"/>
              </a:ext>
            </a:extLst>
          </p:cNvPr>
          <p:cNvSpPr>
            <a:spLocks noGrp="1"/>
          </p:cNvSpPr>
          <p:nvPr>
            <p:ph type="title"/>
          </p:nvPr>
        </p:nvSpPr>
        <p:spPr/>
        <p:txBody>
          <a:bodyPr/>
          <a:lstStyle/>
          <a:p>
            <a:r>
              <a:rPr lang="en-IN" dirty="0"/>
              <a:t>What is Ethical Use of Data?</a:t>
            </a:r>
          </a:p>
        </p:txBody>
      </p:sp>
      <p:sp>
        <p:nvSpPr>
          <p:cNvPr id="4" name="TextBox 3">
            <a:extLst>
              <a:ext uri="{FF2B5EF4-FFF2-40B4-BE49-F238E27FC236}">
                <a16:creationId xmlns:a16="http://schemas.microsoft.com/office/drawing/2014/main" id="{681F632E-244D-5FA0-F9DA-903A60655A9C}"/>
              </a:ext>
            </a:extLst>
          </p:cNvPr>
          <p:cNvSpPr txBox="1"/>
          <p:nvPr/>
        </p:nvSpPr>
        <p:spPr>
          <a:xfrm>
            <a:off x="680321" y="2346179"/>
            <a:ext cx="9701929" cy="2677656"/>
          </a:xfrm>
          <a:prstGeom prst="rect">
            <a:avLst/>
          </a:prstGeom>
          <a:noFill/>
        </p:spPr>
        <p:txBody>
          <a:bodyPr wrap="square">
            <a:spAutoFit/>
          </a:bodyPr>
          <a:lstStyle/>
          <a:p>
            <a:r>
              <a:rPr lang="en-IN" sz="2400" b="1" dirty="0"/>
              <a:t>Ethical Use of Data</a:t>
            </a:r>
            <a:r>
              <a:rPr lang="en-IN" sz="2400" dirty="0"/>
              <a:t> refers to the responsible, fair, and transparent collection, storage, processing, and sharing of data while respecting individuals' privacy, rights, and consent. It ensures that data is used only for legitimate purposes, without causing harm, discrimination, or misuse. Organizations following ethical data practices build trust, protect sensitive information, comply with legal regulations, and promote accountability in every stage of the data lifecycle.</a:t>
            </a:r>
          </a:p>
        </p:txBody>
      </p:sp>
    </p:spTree>
    <p:extLst>
      <p:ext uri="{BB962C8B-B14F-4D97-AF65-F5344CB8AC3E}">
        <p14:creationId xmlns:p14="http://schemas.microsoft.com/office/powerpoint/2010/main" val="33119453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7FB51-7191-5C09-1EE7-8F15FF897567}"/>
              </a:ext>
            </a:extLst>
          </p:cNvPr>
          <p:cNvSpPr>
            <a:spLocks noGrp="1"/>
          </p:cNvSpPr>
          <p:nvPr>
            <p:ph type="title"/>
          </p:nvPr>
        </p:nvSpPr>
        <p:spPr/>
        <p:txBody>
          <a:bodyPr/>
          <a:lstStyle/>
          <a:p>
            <a:r>
              <a:rPr lang="en-IN" b="1" dirty="0"/>
              <a:t>Key Principles of Ethical Data</a:t>
            </a:r>
            <a:br>
              <a:rPr lang="en-IN" b="1" dirty="0"/>
            </a:br>
            <a:endParaRPr lang="en-IN" dirty="0"/>
          </a:p>
        </p:txBody>
      </p:sp>
      <p:sp>
        <p:nvSpPr>
          <p:cNvPr id="4" name="TextBox 3">
            <a:extLst>
              <a:ext uri="{FF2B5EF4-FFF2-40B4-BE49-F238E27FC236}">
                <a16:creationId xmlns:a16="http://schemas.microsoft.com/office/drawing/2014/main" id="{5ADAFE64-FDC2-73C6-9979-DF57FF8F6A5A}"/>
              </a:ext>
            </a:extLst>
          </p:cNvPr>
          <p:cNvSpPr txBox="1"/>
          <p:nvPr/>
        </p:nvSpPr>
        <p:spPr>
          <a:xfrm>
            <a:off x="680321" y="2026414"/>
            <a:ext cx="8696325" cy="4493538"/>
          </a:xfrm>
          <a:prstGeom prst="rect">
            <a:avLst/>
          </a:prstGeom>
          <a:noFill/>
        </p:spPr>
        <p:txBody>
          <a:bodyPr wrap="square">
            <a:spAutoFit/>
          </a:bodyPr>
          <a:lstStyle/>
          <a:p>
            <a:pPr>
              <a:buNone/>
            </a:pPr>
            <a:r>
              <a:rPr lang="en-IN" sz="2600" b="1" dirty="0"/>
              <a:t>1. Privacy &amp; Consent</a:t>
            </a:r>
          </a:p>
          <a:p>
            <a:pPr>
              <a:buNone/>
            </a:pPr>
            <a:r>
              <a:rPr lang="en-IN" sz="2600" dirty="0"/>
              <a:t>Collect and use personal data only with the individual's knowledge and permission.</a:t>
            </a:r>
          </a:p>
          <a:p>
            <a:pPr>
              <a:buNone/>
            </a:pPr>
            <a:endParaRPr lang="en-IN" sz="2600" dirty="0"/>
          </a:p>
          <a:p>
            <a:pPr>
              <a:buNone/>
            </a:pPr>
            <a:r>
              <a:rPr lang="en-IN" sz="2600" b="1" dirty="0"/>
              <a:t>2. Transparency &amp; Fairness</a:t>
            </a:r>
          </a:p>
          <a:p>
            <a:pPr>
              <a:buNone/>
            </a:pPr>
            <a:r>
              <a:rPr lang="en-IN" sz="2600" dirty="0"/>
              <a:t>Clearly explain how data is used and avoid biased or discriminatory practices.</a:t>
            </a:r>
          </a:p>
          <a:p>
            <a:pPr>
              <a:buNone/>
            </a:pPr>
            <a:endParaRPr lang="en-IN" sz="2600" dirty="0"/>
          </a:p>
          <a:p>
            <a:pPr>
              <a:buNone/>
            </a:pPr>
            <a:r>
              <a:rPr lang="en-IN" sz="2600" b="1" dirty="0"/>
              <a:t>3. Security &amp; Accountability</a:t>
            </a:r>
          </a:p>
          <a:p>
            <a:pPr>
              <a:buNone/>
            </a:pPr>
            <a:r>
              <a:rPr lang="en-IN" sz="2600" dirty="0"/>
              <a:t>Protect data from unauthorized access and ensure organizations are responsible for its ethical use.</a:t>
            </a:r>
          </a:p>
        </p:txBody>
      </p:sp>
    </p:spTree>
    <p:extLst>
      <p:ext uri="{BB962C8B-B14F-4D97-AF65-F5344CB8AC3E}">
        <p14:creationId xmlns:p14="http://schemas.microsoft.com/office/powerpoint/2010/main" val="11804651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BD769-978F-A26E-D350-8067A287D289}"/>
              </a:ext>
            </a:extLst>
          </p:cNvPr>
          <p:cNvSpPr>
            <a:spLocks noGrp="1"/>
          </p:cNvSpPr>
          <p:nvPr>
            <p:ph type="title"/>
          </p:nvPr>
        </p:nvSpPr>
        <p:spPr/>
        <p:txBody>
          <a:bodyPr/>
          <a:lstStyle/>
          <a:p>
            <a:r>
              <a:rPr lang="en-IN" b="1" dirty="0"/>
              <a:t>Regulations and Acts</a:t>
            </a:r>
            <a:endParaRPr lang="en-IN" dirty="0"/>
          </a:p>
        </p:txBody>
      </p:sp>
      <p:sp>
        <p:nvSpPr>
          <p:cNvPr id="4" name="TextBox 3">
            <a:extLst>
              <a:ext uri="{FF2B5EF4-FFF2-40B4-BE49-F238E27FC236}">
                <a16:creationId xmlns:a16="http://schemas.microsoft.com/office/drawing/2014/main" id="{DA068A50-9AD7-0F0A-1956-5C2837C7B7CC}"/>
              </a:ext>
            </a:extLst>
          </p:cNvPr>
          <p:cNvSpPr txBox="1"/>
          <p:nvPr/>
        </p:nvSpPr>
        <p:spPr>
          <a:xfrm>
            <a:off x="680321" y="2284363"/>
            <a:ext cx="8601075" cy="3785652"/>
          </a:xfrm>
          <a:prstGeom prst="rect">
            <a:avLst/>
          </a:prstGeom>
          <a:noFill/>
        </p:spPr>
        <p:txBody>
          <a:bodyPr wrap="square">
            <a:spAutoFit/>
          </a:bodyPr>
          <a:lstStyle/>
          <a:p>
            <a:pPr>
              <a:buNone/>
            </a:pPr>
            <a:r>
              <a:rPr lang="en-IN" sz="2400" b="1" dirty="0"/>
              <a:t>Regulations and Acts</a:t>
            </a:r>
            <a:r>
              <a:rPr lang="en-IN" sz="2400" dirty="0"/>
              <a:t> are legal rules created by governments to ensure that individuals and organizations operate fairly, safely, and responsibly.</a:t>
            </a:r>
          </a:p>
          <a:p>
            <a:pPr>
              <a:buNone/>
            </a:pPr>
            <a:endParaRPr lang="en-IN" sz="2400" dirty="0"/>
          </a:p>
          <a:p>
            <a:pPr>
              <a:buFont typeface="Arial" panose="020B0604020202020204" pitchFamily="34" charset="0"/>
              <a:buChar char="•"/>
            </a:pPr>
            <a:r>
              <a:rPr lang="en-IN" sz="2400" dirty="0"/>
              <a:t>An </a:t>
            </a:r>
            <a:r>
              <a:rPr lang="en-IN" sz="2400" b="1" dirty="0"/>
              <a:t>Act</a:t>
            </a:r>
            <a:r>
              <a:rPr lang="en-IN" sz="2400" dirty="0"/>
              <a:t> is a law passed by the legislature or parliament that establishes legal rights, duties, and responsibilities. </a:t>
            </a:r>
          </a:p>
          <a:p>
            <a:endParaRPr lang="en-IN" sz="2400" dirty="0"/>
          </a:p>
          <a:p>
            <a:pPr>
              <a:buFont typeface="Arial" panose="020B0604020202020204" pitchFamily="34" charset="0"/>
              <a:buChar char="•"/>
            </a:pPr>
            <a:r>
              <a:rPr lang="en-IN" sz="2400" dirty="0"/>
              <a:t>A </a:t>
            </a:r>
            <a:r>
              <a:rPr lang="en-IN" sz="2400" b="1" dirty="0"/>
              <a:t>Regulation</a:t>
            </a:r>
            <a:r>
              <a:rPr lang="en-IN" sz="2400" dirty="0"/>
              <a:t> is a detailed rule made by a government authority to explain how an Act should be implemented and enforced.</a:t>
            </a:r>
          </a:p>
        </p:txBody>
      </p:sp>
    </p:spTree>
    <p:extLst>
      <p:ext uri="{BB962C8B-B14F-4D97-AF65-F5344CB8AC3E}">
        <p14:creationId xmlns:p14="http://schemas.microsoft.com/office/powerpoint/2010/main" val="7110455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A5BCB-F60F-4AD9-A7E4-AB3D5DA616F2}"/>
              </a:ext>
            </a:extLst>
          </p:cNvPr>
          <p:cNvSpPr>
            <a:spLocks noGrp="1"/>
          </p:cNvSpPr>
          <p:nvPr>
            <p:ph type="title"/>
          </p:nvPr>
        </p:nvSpPr>
        <p:spPr/>
        <p:txBody>
          <a:bodyPr/>
          <a:lstStyle/>
          <a:p>
            <a:r>
              <a:rPr lang="en-IN" dirty="0"/>
              <a:t>California Consumer Privacy Act (CCPA)</a:t>
            </a:r>
          </a:p>
        </p:txBody>
      </p:sp>
      <p:sp>
        <p:nvSpPr>
          <p:cNvPr id="4" name="TextBox 3">
            <a:extLst>
              <a:ext uri="{FF2B5EF4-FFF2-40B4-BE49-F238E27FC236}">
                <a16:creationId xmlns:a16="http://schemas.microsoft.com/office/drawing/2014/main" id="{BD543CB8-B8F5-CF76-237D-EAE45C9C3D36}"/>
              </a:ext>
            </a:extLst>
          </p:cNvPr>
          <p:cNvSpPr txBox="1"/>
          <p:nvPr/>
        </p:nvSpPr>
        <p:spPr>
          <a:xfrm>
            <a:off x="680321" y="2136338"/>
            <a:ext cx="10463929" cy="3785652"/>
          </a:xfrm>
          <a:prstGeom prst="rect">
            <a:avLst/>
          </a:prstGeom>
          <a:noFill/>
        </p:spPr>
        <p:txBody>
          <a:bodyPr wrap="square">
            <a:spAutoFit/>
          </a:bodyPr>
          <a:lstStyle/>
          <a:p>
            <a:pPr>
              <a:buNone/>
            </a:pPr>
            <a:r>
              <a:rPr lang="en-IN" sz="2400" dirty="0"/>
              <a:t>The </a:t>
            </a:r>
            <a:r>
              <a:rPr lang="en-IN" sz="2400" b="1" dirty="0"/>
              <a:t>California Consumer Privacy Act (CCPA)</a:t>
            </a:r>
            <a:r>
              <a:rPr lang="en-IN" sz="2400" dirty="0"/>
              <a:t> is a data privacy law that protects the personal information of California residents. It gives consumers greater control over how businesses collect, use, share, and sell their personal data.</a:t>
            </a:r>
          </a:p>
          <a:p>
            <a:pPr>
              <a:buNone/>
            </a:pPr>
            <a:endParaRPr lang="en-IN" sz="2400" dirty="0"/>
          </a:p>
          <a:p>
            <a:pPr>
              <a:buNone/>
            </a:pPr>
            <a:r>
              <a:rPr lang="en-IN" sz="2400" b="1" dirty="0"/>
              <a:t>Key Features</a:t>
            </a:r>
          </a:p>
          <a:p>
            <a:pPr>
              <a:buFont typeface="Arial" panose="020B0604020202020204" pitchFamily="34" charset="0"/>
              <a:buChar char="•"/>
            </a:pPr>
            <a:r>
              <a:rPr lang="en-IN" sz="2400" dirty="0"/>
              <a:t>Right to know what data is collected. </a:t>
            </a:r>
          </a:p>
          <a:p>
            <a:pPr>
              <a:buFont typeface="Arial" panose="020B0604020202020204" pitchFamily="34" charset="0"/>
              <a:buChar char="•"/>
            </a:pPr>
            <a:r>
              <a:rPr lang="en-IN" sz="2400" dirty="0"/>
              <a:t>Right to delete personal data. </a:t>
            </a:r>
          </a:p>
          <a:p>
            <a:pPr>
              <a:buFont typeface="Arial" panose="020B0604020202020204" pitchFamily="34" charset="0"/>
              <a:buChar char="•"/>
            </a:pPr>
            <a:r>
              <a:rPr lang="en-IN" sz="2400" dirty="0"/>
              <a:t>Right to opt out of data sales. </a:t>
            </a:r>
          </a:p>
          <a:p>
            <a:pPr>
              <a:buFont typeface="Arial" panose="020B0604020202020204" pitchFamily="34" charset="0"/>
              <a:buChar char="•"/>
            </a:pPr>
            <a:r>
              <a:rPr lang="en-IN" sz="2400" dirty="0"/>
              <a:t>Right to non-discrimination for exercising privacy rights. </a:t>
            </a:r>
          </a:p>
        </p:txBody>
      </p:sp>
    </p:spTree>
    <p:extLst>
      <p:ext uri="{BB962C8B-B14F-4D97-AF65-F5344CB8AC3E}">
        <p14:creationId xmlns:p14="http://schemas.microsoft.com/office/powerpoint/2010/main" val="29050667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DA2B7-0B52-0B07-9429-525A3A9E45B4}"/>
              </a:ext>
            </a:extLst>
          </p:cNvPr>
          <p:cNvSpPr>
            <a:spLocks noGrp="1"/>
          </p:cNvSpPr>
          <p:nvPr>
            <p:ph type="title"/>
          </p:nvPr>
        </p:nvSpPr>
        <p:spPr/>
        <p:txBody>
          <a:bodyPr/>
          <a:lstStyle/>
          <a:p>
            <a:r>
              <a:rPr lang="en-IN" dirty="0"/>
              <a:t>What is GDPR?</a:t>
            </a:r>
          </a:p>
        </p:txBody>
      </p:sp>
      <p:sp>
        <p:nvSpPr>
          <p:cNvPr id="4" name="TextBox 3">
            <a:extLst>
              <a:ext uri="{FF2B5EF4-FFF2-40B4-BE49-F238E27FC236}">
                <a16:creationId xmlns:a16="http://schemas.microsoft.com/office/drawing/2014/main" id="{4243BD55-76B8-E6CD-689C-A9AADF72CA5F}"/>
              </a:ext>
            </a:extLst>
          </p:cNvPr>
          <p:cNvSpPr txBox="1"/>
          <p:nvPr/>
        </p:nvSpPr>
        <p:spPr>
          <a:xfrm>
            <a:off x="680321" y="2212539"/>
            <a:ext cx="9877425" cy="3139321"/>
          </a:xfrm>
          <a:prstGeom prst="rect">
            <a:avLst/>
          </a:prstGeom>
          <a:noFill/>
        </p:spPr>
        <p:txBody>
          <a:bodyPr wrap="square">
            <a:spAutoFit/>
          </a:bodyPr>
          <a:lstStyle/>
          <a:p>
            <a:pPr>
              <a:buNone/>
            </a:pPr>
            <a:r>
              <a:rPr lang="en-IN" sz="2200" dirty="0"/>
              <a:t>The </a:t>
            </a:r>
            <a:r>
              <a:rPr lang="en-IN" sz="2200" b="1" dirty="0"/>
              <a:t>General Data Protection Regulation (GDPR)</a:t>
            </a:r>
            <a:r>
              <a:rPr lang="en-IN" sz="2200" dirty="0"/>
              <a:t> is a European Union (EU) data protection law that regulates how organizations collect, process, store, and protect the personal data of individuals within the EU.</a:t>
            </a:r>
          </a:p>
          <a:p>
            <a:pPr>
              <a:buNone/>
            </a:pPr>
            <a:endParaRPr lang="en-IN" sz="2200" dirty="0"/>
          </a:p>
          <a:p>
            <a:pPr>
              <a:buNone/>
            </a:pPr>
            <a:r>
              <a:rPr lang="en-IN" sz="2200" b="1" dirty="0"/>
              <a:t>Key Features</a:t>
            </a:r>
          </a:p>
          <a:p>
            <a:pPr>
              <a:buFont typeface="Arial" panose="020B0604020202020204" pitchFamily="34" charset="0"/>
              <a:buChar char="•"/>
            </a:pPr>
            <a:r>
              <a:rPr lang="en-IN" sz="2200" dirty="0"/>
              <a:t>Requires lawful and transparent data processing. </a:t>
            </a:r>
          </a:p>
          <a:p>
            <a:pPr>
              <a:buFont typeface="Arial" panose="020B0604020202020204" pitchFamily="34" charset="0"/>
              <a:buChar char="•"/>
            </a:pPr>
            <a:r>
              <a:rPr lang="en-IN" sz="2200" dirty="0"/>
              <a:t>Gives individuals access to their personal data. </a:t>
            </a:r>
          </a:p>
          <a:p>
            <a:pPr>
              <a:buFont typeface="Arial" panose="020B0604020202020204" pitchFamily="34" charset="0"/>
              <a:buChar char="•"/>
            </a:pPr>
            <a:r>
              <a:rPr lang="en-IN" sz="2200" dirty="0"/>
              <a:t>Right to correct or erase personal data. </a:t>
            </a:r>
          </a:p>
          <a:p>
            <a:pPr>
              <a:buFont typeface="Arial" panose="020B0604020202020204" pitchFamily="34" charset="0"/>
              <a:buChar char="•"/>
            </a:pPr>
            <a:r>
              <a:rPr lang="en-IN" sz="2200" dirty="0"/>
              <a:t>Requires strong data security and accountability.</a:t>
            </a:r>
          </a:p>
        </p:txBody>
      </p:sp>
    </p:spTree>
    <p:extLst>
      <p:ext uri="{BB962C8B-B14F-4D97-AF65-F5344CB8AC3E}">
        <p14:creationId xmlns:p14="http://schemas.microsoft.com/office/powerpoint/2010/main" val="13638597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DC11D-3F8B-C39A-0301-F6B469E6E9A9}"/>
              </a:ext>
            </a:extLst>
          </p:cNvPr>
          <p:cNvSpPr>
            <a:spLocks noGrp="1"/>
          </p:cNvSpPr>
          <p:nvPr>
            <p:ph type="title"/>
          </p:nvPr>
        </p:nvSpPr>
        <p:spPr/>
        <p:txBody>
          <a:bodyPr/>
          <a:lstStyle/>
          <a:p>
            <a:r>
              <a:rPr lang="en-IN" dirty="0"/>
              <a:t>Similarities Between CCPA and GDPR</a:t>
            </a:r>
          </a:p>
        </p:txBody>
      </p:sp>
      <p:sp>
        <p:nvSpPr>
          <p:cNvPr id="4" name="TextBox 3">
            <a:extLst>
              <a:ext uri="{FF2B5EF4-FFF2-40B4-BE49-F238E27FC236}">
                <a16:creationId xmlns:a16="http://schemas.microsoft.com/office/drawing/2014/main" id="{494EC2EA-B5C7-C07A-1A0D-1F27B63EC314}"/>
              </a:ext>
            </a:extLst>
          </p:cNvPr>
          <p:cNvSpPr txBox="1"/>
          <p:nvPr/>
        </p:nvSpPr>
        <p:spPr>
          <a:xfrm>
            <a:off x="680321" y="2346179"/>
            <a:ext cx="8496300" cy="2677656"/>
          </a:xfrm>
          <a:prstGeom prst="rect">
            <a:avLst/>
          </a:prstGeom>
          <a:noFill/>
        </p:spPr>
        <p:txBody>
          <a:bodyPr wrap="square">
            <a:spAutoFit/>
          </a:bodyPr>
          <a:lstStyle/>
          <a:p>
            <a:pPr>
              <a:buNone/>
            </a:pPr>
            <a:r>
              <a:rPr lang="en-IN" sz="2400" b="1" dirty="0"/>
              <a:t>Common Features</a:t>
            </a:r>
          </a:p>
          <a:p>
            <a:pPr>
              <a:buFont typeface="Arial" panose="020B0604020202020204" pitchFamily="34" charset="0"/>
              <a:buChar char="•"/>
            </a:pPr>
            <a:r>
              <a:rPr lang="en-IN" sz="2400" dirty="0"/>
              <a:t>Protect personal data and privacy. </a:t>
            </a:r>
          </a:p>
          <a:p>
            <a:pPr>
              <a:buFont typeface="Arial" panose="020B0604020202020204" pitchFamily="34" charset="0"/>
              <a:buChar char="•"/>
            </a:pPr>
            <a:r>
              <a:rPr lang="en-IN" sz="2400" dirty="0"/>
              <a:t>Give individuals rights over their personal information. </a:t>
            </a:r>
          </a:p>
          <a:p>
            <a:pPr>
              <a:buFont typeface="Arial" panose="020B0604020202020204" pitchFamily="34" charset="0"/>
              <a:buChar char="•"/>
            </a:pPr>
            <a:r>
              <a:rPr lang="en-IN" sz="2400" dirty="0"/>
              <a:t>Require organizations to secure personal data. </a:t>
            </a:r>
          </a:p>
          <a:p>
            <a:pPr>
              <a:buFont typeface="Arial" panose="020B0604020202020204" pitchFamily="34" charset="0"/>
              <a:buChar char="•"/>
            </a:pPr>
            <a:r>
              <a:rPr lang="en-IN" sz="2400" dirty="0"/>
              <a:t>Promote transparency in data collection and use. </a:t>
            </a:r>
          </a:p>
          <a:p>
            <a:pPr>
              <a:buFont typeface="Arial" panose="020B0604020202020204" pitchFamily="34" charset="0"/>
              <a:buChar char="•"/>
            </a:pPr>
            <a:r>
              <a:rPr lang="en-IN" sz="2400" dirty="0"/>
              <a:t>Hold businesses accountable for data protection. </a:t>
            </a:r>
          </a:p>
          <a:p>
            <a:pPr>
              <a:buFont typeface="Arial" panose="020B0604020202020204" pitchFamily="34" charset="0"/>
              <a:buChar char="•"/>
            </a:pPr>
            <a:r>
              <a:rPr lang="en-IN" sz="2400" dirty="0"/>
              <a:t>Impose penalties for non-compliance. </a:t>
            </a:r>
          </a:p>
        </p:txBody>
      </p:sp>
    </p:spTree>
    <p:extLst>
      <p:ext uri="{BB962C8B-B14F-4D97-AF65-F5344CB8AC3E}">
        <p14:creationId xmlns:p14="http://schemas.microsoft.com/office/powerpoint/2010/main" val="10941190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59BE2-C48B-F098-9612-DD53942FDDB9}"/>
              </a:ext>
            </a:extLst>
          </p:cNvPr>
          <p:cNvSpPr>
            <a:spLocks noGrp="1"/>
          </p:cNvSpPr>
          <p:nvPr>
            <p:ph type="title"/>
          </p:nvPr>
        </p:nvSpPr>
        <p:spPr/>
        <p:txBody>
          <a:bodyPr/>
          <a:lstStyle/>
          <a:p>
            <a:r>
              <a:rPr lang="en-IN" dirty="0"/>
              <a:t>Differences Between CCPA and GDPR</a:t>
            </a:r>
          </a:p>
        </p:txBody>
      </p:sp>
      <p:graphicFrame>
        <p:nvGraphicFramePr>
          <p:cNvPr id="3" name="Table 2">
            <a:extLst>
              <a:ext uri="{FF2B5EF4-FFF2-40B4-BE49-F238E27FC236}">
                <a16:creationId xmlns:a16="http://schemas.microsoft.com/office/drawing/2014/main" id="{8E0CE3E4-5B48-9F61-A196-01EC9848B9DC}"/>
              </a:ext>
            </a:extLst>
          </p:cNvPr>
          <p:cNvGraphicFramePr>
            <a:graphicFrameLocks noGrp="1"/>
          </p:cNvGraphicFramePr>
          <p:nvPr>
            <p:extLst>
              <p:ext uri="{D42A27DB-BD31-4B8C-83A1-F6EECF244321}">
                <p14:modId xmlns:p14="http://schemas.microsoft.com/office/powerpoint/2010/main" val="2125286761"/>
              </p:ext>
            </p:extLst>
          </p:nvPr>
        </p:nvGraphicFramePr>
        <p:xfrm>
          <a:off x="681038" y="2490311"/>
          <a:ext cx="9613900" cy="3291840"/>
        </p:xfrm>
        <a:graphic>
          <a:graphicData uri="http://schemas.openxmlformats.org/drawingml/2006/table">
            <a:tbl>
              <a:tblPr/>
              <a:tblGrid>
                <a:gridCol w="4806950">
                  <a:extLst>
                    <a:ext uri="{9D8B030D-6E8A-4147-A177-3AD203B41FA5}">
                      <a16:colId xmlns:a16="http://schemas.microsoft.com/office/drawing/2014/main" val="34408223"/>
                    </a:ext>
                  </a:extLst>
                </a:gridCol>
                <a:gridCol w="4806950">
                  <a:extLst>
                    <a:ext uri="{9D8B030D-6E8A-4147-A177-3AD203B41FA5}">
                      <a16:colId xmlns:a16="http://schemas.microsoft.com/office/drawing/2014/main" val="3613248184"/>
                    </a:ext>
                  </a:extLst>
                </a:gridCol>
              </a:tblGrid>
              <a:tr h="0">
                <a:tc>
                  <a:txBody>
                    <a:bodyPr/>
                    <a:lstStyle/>
                    <a:p>
                      <a:pPr>
                        <a:buNone/>
                      </a:pPr>
                      <a:r>
                        <a:rPr lang="en-IN" b="1"/>
                        <a:t>CCPA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b="1"/>
                        <a:t>GDPR</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6189688"/>
                  </a:ext>
                </a:extLst>
              </a:tr>
              <a:tr h="0">
                <a:tc>
                  <a:txBody>
                    <a:bodyPr/>
                    <a:lstStyle/>
                    <a:p>
                      <a:pPr>
                        <a:buNone/>
                      </a:pPr>
                      <a:r>
                        <a:rPr lang="en-IN"/>
                        <a:t>Applies mainly to California residents.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a:t>Applies to individuals in the European Union.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798579"/>
                  </a:ext>
                </a:extLst>
              </a:tr>
              <a:tr h="0">
                <a:tc>
                  <a:txBody>
                    <a:bodyPr/>
                    <a:lstStyle/>
                    <a:p>
                      <a:pPr>
                        <a:buNone/>
                      </a:pPr>
                      <a:r>
                        <a:rPr lang="en-IN"/>
                        <a:t>Focuses on consumer privacy rights.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a:t>Focuses on comprehensive data protection and privacy.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6475514"/>
                  </a:ext>
                </a:extLst>
              </a:tr>
              <a:tr h="0">
                <a:tc>
                  <a:txBody>
                    <a:bodyPr/>
                    <a:lstStyle/>
                    <a:p>
                      <a:pPr>
                        <a:buNone/>
                      </a:pPr>
                      <a:r>
                        <a:rPr lang="en-IN"/>
                        <a:t>Allows consumers to opt out of data sales.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a:t>Requires consent before processing personal data in many cases.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032772"/>
                  </a:ext>
                </a:extLst>
              </a:tr>
              <a:tr h="0">
                <a:tc>
                  <a:txBody>
                    <a:bodyPr/>
                    <a:lstStyle/>
                    <a:p>
                      <a:pPr>
                        <a:buNone/>
                      </a:pPr>
                      <a:r>
                        <a:rPr lang="en-IN"/>
                        <a:t>Covers businesses meeting specific revenue or data thresholds.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a:t>Applies to most organizations processing EU personal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4112893"/>
                  </a:ext>
                </a:extLst>
              </a:tr>
              <a:tr h="0">
                <a:tc>
                  <a:txBody>
                    <a:bodyPr/>
                    <a:lstStyle/>
                    <a:p>
                      <a:pPr>
                        <a:buNone/>
                      </a:pPr>
                      <a:r>
                        <a:rPr lang="en-IN"/>
                        <a:t>Enforced by California authorities.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dirty="0"/>
                        <a:t>Enforced by Data Protection Authorities (DPAs) in EU member states.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3439498"/>
                  </a:ext>
                </a:extLst>
              </a:tr>
            </a:tbl>
          </a:graphicData>
        </a:graphic>
      </p:graphicFrame>
    </p:spTree>
    <p:extLst>
      <p:ext uri="{BB962C8B-B14F-4D97-AF65-F5344CB8AC3E}">
        <p14:creationId xmlns:p14="http://schemas.microsoft.com/office/powerpoint/2010/main" val="25436273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8A3C0-DB12-AFC9-E56F-C87967D2A8DF}"/>
              </a:ext>
            </a:extLst>
          </p:cNvPr>
          <p:cNvSpPr>
            <a:spLocks noGrp="1"/>
          </p:cNvSpPr>
          <p:nvPr>
            <p:ph type="title"/>
          </p:nvPr>
        </p:nvSpPr>
        <p:spPr/>
        <p:txBody>
          <a:bodyPr>
            <a:normAutofit/>
          </a:bodyPr>
          <a:lstStyle/>
          <a:p>
            <a:pPr algn="ctr"/>
            <a:r>
              <a:rPr lang="en-US" sz="7500" dirty="0"/>
              <a:t>Thank You</a:t>
            </a:r>
            <a:endParaRPr lang="en-IN" sz="7500" dirty="0"/>
          </a:p>
        </p:txBody>
      </p:sp>
    </p:spTree>
    <p:extLst>
      <p:ext uri="{BB962C8B-B14F-4D97-AF65-F5344CB8AC3E}">
        <p14:creationId xmlns:p14="http://schemas.microsoft.com/office/powerpoint/2010/main" val="1023679696"/>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{D12FB89D-3D72-483C-976D-CD244924F30C}TF6e1c0bd6-43b7-4cba-aa12-42a644606054c9b78bf9-d218b69a002d</Template>
  <TotalTime>242</TotalTime>
  <Words>5459</Words>
  <Application>Microsoft Office PowerPoint</Application>
  <PresentationFormat>Widescreen</PresentationFormat>
  <Paragraphs>811</Paragraphs>
  <Slides>73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73</vt:i4>
      </vt:variant>
    </vt:vector>
  </HeadingPairs>
  <TitlesOfParts>
    <vt:vector size="78" baseType="lpstr">
      <vt:lpstr>Arial</vt:lpstr>
      <vt:lpstr>Calibri</vt:lpstr>
      <vt:lpstr>Trebuchet MS</vt:lpstr>
      <vt:lpstr>Wingdings</vt:lpstr>
      <vt:lpstr>Berlin</vt:lpstr>
      <vt:lpstr>INFORMATION TECHNOLOGY</vt:lpstr>
      <vt:lpstr>What is Information Technology?</vt:lpstr>
      <vt:lpstr>INFORMATION TECHNOLOGY VS COMPUTER SCEINCE</vt:lpstr>
      <vt:lpstr>Importance of Information Technology</vt:lpstr>
      <vt:lpstr>Applications of Information Technology</vt:lpstr>
      <vt:lpstr>PowerPoint Presentation</vt:lpstr>
      <vt:lpstr>Core Components of Information Technology</vt:lpstr>
      <vt:lpstr>Computer Hardware</vt:lpstr>
      <vt:lpstr>Computer Software</vt:lpstr>
      <vt:lpstr>Networking and Internet</vt:lpstr>
      <vt:lpstr>Database Management System (DBMS)</vt:lpstr>
      <vt:lpstr>Structured Query Language (SQL) </vt:lpstr>
      <vt:lpstr>Information Security and Cybersecurity</vt:lpstr>
      <vt:lpstr>Common Cyber Threats</vt:lpstr>
      <vt:lpstr>Cybersecurity Measures</vt:lpstr>
      <vt:lpstr>Cloud Computing</vt:lpstr>
      <vt:lpstr>Emerging Information Technologies</vt:lpstr>
      <vt:lpstr>Artificial Intelligence (AI)</vt:lpstr>
      <vt:lpstr>Enterprise Resource Planning (ERP)</vt:lpstr>
      <vt:lpstr>Key Features of ERP</vt:lpstr>
      <vt:lpstr>Benefits Of ERP</vt:lpstr>
      <vt:lpstr>Popular ERP Softwares</vt:lpstr>
      <vt:lpstr>How ERP Platforms Work</vt:lpstr>
      <vt:lpstr>Centralized Database</vt:lpstr>
      <vt:lpstr>Integration of Business Processes</vt:lpstr>
      <vt:lpstr>PowerPoint Presentation</vt:lpstr>
      <vt:lpstr>PowerPoint Presentation</vt:lpstr>
      <vt:lpstr>Modular Structure</vt:lpstr>
      <vt:lpstr>Cloud and On-Premise Deployment</vt:lpstr>
      <vt:lpstr>Security and Access Control</vt:lpstr>
      <vt:lpstr>Types of ERP </vt:lpstr>
      <vt:lpstr>Types of ERP</vt:lpstr>
      <vt:lpstr>CRM vs ERP</vt:lpstr>
      <vt:lpstr>The Relationship between Business Strategy, IT Strategy and Alignment Capability</vt:lpstr>
      <vt:lpstr>IT Strategy, </vt:lpstr>
      <vt:lpstr>Alignment Capability </vt:lpstr>
      <vt:lpstr>How IT Strategy and Alignment Capability Work Together </vt:lpstr>
      <vt:lpstr>The Alignment Cycle</vt:lpstr>
      <vt:lpstr>Data</vt:lpstr>
      <vt:lpstr>Data vs Information</vt:lpstr>
      <vt:lpstr>Structured, Unstructured data</vt:lpstr>
      <vt:lpstr>Semi-structured </vt:lpstr>
      <vt:lpstr>Difference between Structured, Semi-structured and Unstructured data</vt:lpstr>
      <vt:lpstr>Common Data Sources </vt:lpstr>
      <vt:lpstr>Common Data Sources </vt:lpstr>
      <vt:lpstr>Comparison of Data Sources</vt:lpstr>
      <vt:lpstr>Data Collection</vt:lpstr>
      <vt:lpstr>Types of Data Collection</vt:lpstr>
      <vt:lpstr>Data Life Cycle Management (DLM)</vt:lpstr>
      <vt:lpstr>Business Analyst </vt:lpstr>
      <vt:lpstr>Skills Of Business Analyst , Tools Used by Business Analyst</vt:lpstr>
      <vt:lpstr>Collaboration and Relationship-Building in Business Analysis</vt:lpstr>
      <vt:lpstr>Business Analysis Methodologies</vt:lpstr>
      <vt:lpstr>Business Analysis Methodologies</vt:lpstr>
      <vt:lpstr>Key Differences Between Waterfall and Agile</vt:lpstr>
      <vt:lpstr>When to use Waterfall , Agile</vt:lpstr>
      <vt:lpstr>Stakeholder Management</vt:lpstr>
      <vt:lpstr>Key Aspects Of Stakeholder Management </vt:lpstr>
      <vt:lpstr>SCENARIO ANALYSIS AND PURPOSE OF SCENARIO ANALYSIS</vt:lpstr>
      <vt:lpstr>Example of Scenario Analysis</vt:lpstr>
      <vt:lpstr>Key Aspects of Scenario Analysis </vt:lpstr>
      <vt:lpstr>Uses of Scenario Analysis </vt:lpstr>
      <vt:lpstr>Data Governance and Its Key Elements</vt:lpstr>
      <vt:lpstr>Benefits of Data Governance</vt:lpstr>
      <vt:lpstr>Benefits of Data Governance</vt:lpstr>
      <vt:lpstr>What is Ethical Use of Data?</vt:lpstr>
      <vt:lpstr>Key Principles of Ethical Data </vt:lpstr>
      <vt:lpstr>Regulations and Acts</vt:lpstr>
      <vt:lpstr>California Consumer Privacy Act (CCPA)</vt:lpstr>
      <vt:lpstr>What is GDPR?</vt:lpstr>
      <vt:lpstr>Similarities Between CCPA and GDPR</vt:lpstr>
      <vt:lpstr>Differences Between CCPA and GDPR</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Sima Dey</dc:creator>
  <cp:lastModifiedBy>Sima Dey</cp:lastModifiedBy>
  <cp:revision>1</cp:revision>
  <dcterms:created xsi:type="dcterms:W3CDTF">2026-07-25T04:22:57Z</dcterms:created>
  <dcterms:modified xsi:type="dcterms:W3CDTF">2026-07-27T06:47:07Z</dcterms:modified>
</cp:coreProperties>
</file>